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18"/>
  </p:notesMasterIdLst>
  <p:sldIdLst>
    <p:sldId id="940" r:id="rId5"/>
    <p:sldId id="942" r:id="rId6"/>
    <p:sldId id="968" r:id="rId7"/>
    <p:sldId id="948" r:id="rId8"/>
    <p:sldId id="950" r:id="rId9"/>
    <p:sldId id="952" r:id="rId10"/>
    <p:sldId id="956" r:id="rId11"/>
    <p:sldId id="958" r:id="rId12"/>
    <p:sldId id="960" r:id="rId13"/>
    <p:sldId id="962" r:id="rId14"/>
    <p:sldId id="964" r:id="rId15"/>
    <p:sldId id="971" r:id="rId16"/>
    <p:sldId id="966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 Tight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9FD"/>
    <a:srgbClr val="5D27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4"/>
    <p:restoredTop sz="74726"/>
  </p:normalViewPr>
  <p:slideViewPr>
    <p:cSldViewPr snapToGrid="0">
      <p:cViewPr varScale="1">
        <p:scale>
          <a:sx n="107" d="100"/>
          <a:sy n="107" d="100"/>
        </p:scale>
        <p:origin x="160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50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99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9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 txBox="1"/>
          <p:nvPr/>
        </p:nvSpPr>
        <p:spPr>
          <a:xfrm>
            <a:off x="508000" y="584200"/>
            <a:ext cx="5080000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 b="1" spc="200">
                <a:solidFill>
                  <a:srgbClr val="FFFFFF"/>
                </a:solidFill>
                <a:latin typeface="Inter Tight"/>
              </a:rPr>
              <a:t>WORKSHOP 8</a:t>
            </a:r>
          </a:p>
        </p:txBody>
      </p:sp>
      <p:sp>
        <p:nvSpPr>
          <p:cNvPr id="201" name="t"/>
          <p:cNvSpPr txBox="1"/>
          <p:nvPr/>
        </p:nvSpPr>
        <p:spPr>
          <a:xfrm>
            <a:off x="482600" y="914400"/>
            <a:ext cx="584200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Show &amp; Tell</a:t>
            </a:r>
          </a:p>
        </p:txBody>
      </p:sp>
      <p:sp>
        <p:nvSpPr>
          <p:cNvPr id="202" name="t"/>
          <p:cNvSpPr txBox="1"/>
          <p:nvPr/>
        </p:nvSpPr>
        <p:spPr>
          <a:xfrm>
            <a:off x="482600" y="1930400"/>
            <a:ext cx="58420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Inter Tight"/>
              </a:rPr>
              <a:t>The Final Showcase</a:t>
            </a:r>
          </a:p>
        </p:txBody>
      </p:sp>
      <p:sp>
        <p:nvSpPr>
          <p:cNvPr id="203" name="t"/>
          <p:cNvSpPr txBox="1"/>
          <p:nvPr/>
        </p:nvSpPr>
        <p:spPr>
          <a:xfrm>
            <a:off x="508000" y="3276600"/>
            <a:ext cx="5334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latin typeface="Inter Tight"/>
              </a:rPr>
              <a:t>Eight weeks. One language.</a:t>
            </a:r>
          </a:p>
        </p:txBody>
      </p:sp>
      <p:sp>
        <p:nvSpPr>
          <p:cNvPr id="204" name="pl"/>
          <p:cNvSpPr/>
          <p:nvPr/>
        </p:nvSpPr>
        <p:spPr>
          <a:xfrm>
            <a:off x="6604000" y="736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205" name="ar"/>
          <p:cNvSpPr txBox="1"/>
          <p:nvPr/>
        </p:nvSpPr>
        <p:spPr>
          <a:xfrm>
            <a:off x="6604000" y="10922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6" name="pl"/>
          <p:cNvSpPr/>
          <p:nvPr/>
        </p:nvSpPr>
        <p:spPr>
          <a:xfrm>
            <a:off x="6604000" y="14478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207" name="ar"/>
          <p:cNvSpPr txBox="1"/>
          <p:nvPr/>
        </p:nvSpPr>
        <p:spPr>
          <a:xfrm>
            <a:off x="6604000" y="18034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8" name="pl"/>
          <p:cNvSpPr/>
          <p:nvPr/>
        </p:nvSpPr>
        <p:spPr>
          <a:xfrm>
            <a:off x="6604000" y="21590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209" name="ar"/>
          <p:cNvSpPr txBox="1"/>
          <p:nvPr/>
        </p:nvSpPr>
        <p:spPr>
          <a:xfrm>
            <a:off x="6604000" y="25146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0" name="pl"/>
          <p:cNvSpPr/>
          <p:nvPr/>
        </p:nvSpPr>
        <p:spPr>
          <a:xfrm>
            <a:off x="6604000" y="28702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211" name="ar"/>
          <p:cNvSpPr txBox="1"/>
          <p:nvPr/>
        </p:nvSpPr>
        <p:spPr>
          <a:xfrm>
            <a:off x="6604000" y="32258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2" name="pl"/>
          <p:cNvSpPr/>
          <p:nvPr/>
        </p:nvSpPr>
        <p:spPr>
          <a:xfrm>
            <a:off x="6604000" y="35814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213" name="ar"/>
          <p:cNvSpPr txBox="1"/>
          <p:nvPr/>
        </p:nvSpPr>
        <p:spPr>
          <a:xfrm>
            <a:off x="6604000" y="39370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4" name="pl"/>
          <p:cNvSpPr/>
          <p:nvPr/>
        </p:nvSpPr>
        <p:spPr>
          <a:xfrm>
            <a:off x="6604000" y="4292600"/>
            <a:ext cx="2286000" cy="381000"/>
          </a:xfrm>
          <a:prstGeom prst="roundRect">
            <a:avLst/>
          </a:prstGeom>
          <a:solidFill>
            <a:srgbClr val="FFFFFF"/>
          </a:solidFill>
          <a:ln w="12700"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3B2C8F"/>
                </a:solidFill>
                <a:latin typeface="Consolas"/>
                <a:cs typeface="Consolas"/>
              </a:rPr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257875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Today's plan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final workshop — looking back, then your turn</a:t>
            </a:r>
          </a:p>
        </p:txBody>
      </p:sp>
      <p:sp>
        <p:nvSpPr>
          <p:cNvPr id="400" name="chip0"/>
          <p:cNvSpPr/>
          <p:nvPr/>
        </p:nvSpPr>
        <p:spPr>
          <a:xfrm>
            <a:off x="762000" y="14351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410" name="lbl0"/>
          <p:cNvSpPr/>
          <p:nvPr/>
        </p:nvSpPr>
        <p:spPr>
          <a:xfrm>
            <a:off x="1397000" y="14224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Look back at the journey from source code to running program</a:t>
            </a:r>
          </a:p>
        </p:txBody>
      </p:sp>
      <p:sp>
        <p:nvSpPr>
          <p:cNvPr id="401" name="chip1"/>
          <p:cNvSpPr/>
          <p:nvPr/>
        </p:nvSpPr>
        <p:spPr>
          <a:xfrm>
            <a:off x="762000" y="20447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411" name="lbl1"/>
          <p:cNvSpPr/>
          <p:nvPr/>
        </p:nvSpPr>
        <p:spPr>
          <a:xfrm>
            <a:off x="1397000" y="20320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Presentations — demo your language extension</a:t>
            </a:r>
          </a:p>
        </p:txBody>
      </p:sp>
      <p:sp>
        <p:nvSpPr>
          <p:cNvPr id="402" name="chip2"/>
          <p:cNvSpPr/>
          <p:nvPr/>
        </p:nvSpPr>
        <p:spPr>
          <a:xfrm>
            <a:off x="762000" y="26543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412" name="lbl2"/>
          <p:cNvSpPr/>
          <p:nvPr/>
        </p:nvSpPr>
        <p:spPr>
          <a:xfrm>
            <a:off x="1397000" y="26416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Questions and architecture discussion</a:t>
            </a:r>
          </a:p>
        </p:txBody>
      </p:sp>
      <p:sp>
        <p:nvSpPr>
          <p:cNvPr id="403" name="chip3"/>
          <p:cNvSpPr/>
          <p:nvPr/>
        </p:nvSpPr>
        <p:spPr>
          <a:xfrm>
            <a:off x="762000" y="32639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413" name="lbl3"/>
          <p:cNvSpPr/>
          <p:nvPr/>
        </p:nvSpPr>
        <p:spPr>
          <a:xfrm>
            <a:off x="1397000" y="32512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Submit final code, notebook and reflection</a:t>
            </a:r>
          </a:p>
        </p:txBody>
      </p:sp>
      <p:sp>
        <p:nvSpPr>
          <p:cNvPr id="404" name="chip4"/>
          <p:cNvSpPr/>
          <p:nvPr/>
        </p:nvSpPr>
        <p:spPr>
          <a:xfrm>
            <a:off x="762000" y="38735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5</a:t>
            </a:r>
          </a:p>
        </p:txBody>
      </p:sp>
      <p:sp>
        <p:nvSpPr>
          <p:cNvPr id="414" name="lbl4"/>
          <p:cNvSpPr/>
          <p:nvPr/>
        </p:nvSpPr>
        <p:spPr>
          <a:xfrm>
            <a:off x="1397000" y="38608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Closing thoughts</a:t>
            </a:r>
          </a:p>
        </p:txBody>
      </p:sp>
    </p:spTree>
    <p:extLst>
      <p:ext uri="{BB962C8B-B14F-4D97-AF65-F5344CB8AC3E}">
        <p14:creationId xmlns:p14="http://schemas.microsoft.com/office/powerpoint/2010/main" val="30553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journey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stage you learned — from raw characters to a running program</a:t>
            </a:r>
          </a:p>
        </p:txBody>
      </p:sp>
      <p:sp>
        <p:nvSpPr>
          <p:cNvPr id="510" name="line"/>
          <p:cNvSpPr/>
          <p:nvPr/>
        </p:nvSpPr>
        <p:spPr>
          <a:xfrm>
            <a:off x="635000" y="3133600"/>
            <a:ext cx="7493000" cy="38100"/>
          </a:xfrm>
          <a:prstGeom prst="rect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node0"/>
          <p:cNvSpPr/>
          <p:nvPr/>
        </p:nvSpPr>
        <p:spPr>
          <a:xfrm>
            <a:off x="546100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lb0"/>
          <p:cNvSpPr/>
          <p:nvPr/>
        </p:nvSpPr>
        <p:spPr>
          <a:xfrm>
            <a:off x="152400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512" name="node1"/>
          <p:cNvSpPr/>
          <p:nvPr/>
        </p:nvSpPr>
        <p:spPr>
          <a:xfrm>
            <a:off x="1378656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2" name="lb1"/>
          <p:cNvSpPr/>
          <p:nvPr/>
        </p:nvSpPr>
        <p:spPr>
          <a:xfrm>
            <a:off x="857956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Lexer</a:t>
            </a:r>
          </a:p>
        </p:txBody>
      </p:sp>
      <p:sp>
        <p:nvSpPr>
          <p:cNvPr id="513" name="node2"/>
          <p:cNvSpPr/>
          <p:nvPr/>
        </p:nvSpPr>
        <p:spPr>
          <a:xfrm>
            <a:off x="2211211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3" name="lb2"/>
          <p:cNvSpPr/>
          <p:nvPr/>
        </p:nvSpPr>
        <p:spPr>
          <a:xfrm>
            <a:off x="1690511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514" name="node3"/>
          <p:cNvSpPr/>
          <p:nvPr/>
        </p:nvSpPr>
        <p:spPr>
          <a:xfrm>
            <a:off x="3043767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4" name="lb3"/>
          <p:cNvSpPr/>
          <p:nvPr/>
        </p:nvSpPr>
        <p:spPr>
          <a:xfrm>
            <a:off x="2523067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515" name="node4"/>
          <p:cNvSpPr/>
          <p:nvPr/>
        </p:nvSpPr>
        <p:spPr>
          <a:xfrm>
            <a:off x="3876322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5" name="lb4"/>
          <p:cNvSpPr/>
          <p:nvPr/>
        </p:nvSpPr>
        <p:spPr>
          <a:xfrm>
            <a:off x="3355622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516" name="node5"/>
          <p:cNvSpPr/>
          <p:nvPr/>
        </p:nvSpPr>
        <p:spPr>
          <a:xfrm>
            <a:off x="4708878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6" name="lb5"/>
          <p:cNvSpPr/>
          <p:nvPr/>
        </p:nvSpPr>
        <p:spPr>
          <a:xfrm>
            <a:off x="4188178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Evaluator</a:t>
            </a:r>
          </a:p>
        </p:txBody>
      </p:sp>
      <p:sp>
        <p:nvSpPr>
          <p:cNvPr id="517" name="node6"/>
          <p:cNvSpPr/>
          <p:nvPr/>
        </p:nvSpPr>
        <p:spPr>
          <a:xfrm>
            <a:off x="5541433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7" name="lb6"/>
          <p:cNvSpPr/>
          <p:nvPr/>
        </p:nvSpPr>
        <p:spPr>
          <a:xfrm>
            <a:off x="5020733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Environments</a:t>
            </a:r>
          </a:p>
        </p:txBody>
      </p:sp>
      <p:sp>
        <p:nvSpPr>
          <p:cNvPr id="518" name="node7"/>
          <p:cNvSpPr/>
          <p:nvPr/>
        </p:nvSpPr>
        <p:spPr>
          <a:xfrm>
            <a:off x="6373989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8" name="lb7"/>
          <p:cNvSpPr/>
          <p:nvPr/>
        </p:nvSpPr>
        <p:spPr>
          <a:xfrm>
            <a:off x="5853289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Functions</a:t>
            </a:r>
          </a:p>
        </p:txBody>
      </p:sp>
      <p:sp>
        <p:nvSpPr>
          <p:cNvPr id="519" name="node8"/>
          <p:cNvSpPr/>
          <p:nvPr/>
        </p:nvSpPr>
        <p:spPr>
          <a:xfrm>
            <a:off x="7206544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9" name="lb8"/>
          <p:cNvSpPr/>
          <p:nvPr/>
        </p:nvSpPr>
        <p:spPr>
          <a:xfrm>
            <a:off x="6685844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Recursion</a:t>
            </a:r>
          </a:p>
        </p:txBody>
      </p:sp>
      <p:sp>
        <p:nvSpPr>
          <p:cNvPr id="520" name="node9"/>
          <p:cNvSpPr/>
          <p:nvPr/>
        </p:nvSpPr>
        <p:spPr>
          <a:xfrm>
            <a:off x="7988300" y="3035300"/>
            <a:ext cx="279400" cy="279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0" name="lb9"/>
          <p:cNvSpPr/>
          <p:nvPr/>
        </p:nvSpPr>
        <p:spPr>
          <a:xfrm>
            <a:off x="7302500" y="3302000"/>
            <a:ext cx="165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✨ Running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1BB23-E40A-4E44-AA58-5405C7DDBB97}"/>
              </a:ext>
            </a:extLst>
          </p:cNvPr>
          <p:cNvSpPr txBox="1"/>
          <p:nvPr/>
        </p:nvSpPr>
        <p:spPr>
          <a:xfrm>
            <a:off x="762000" y="1593334"/>
            <a:ext cx="7620000" cy="36933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800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Which stage surprised you the most?</a:t>
            </a:r>
          </a:p>
        </p:txBody>
      </p:sp>
    </p:spTree>
    <p:extLst>
      <p:ext uri="{BB962C8B-B14F-4D97-AF65-F5344CB8AC3E}">
        <p14:creationId xmlns:p14="http://schemas.microsoft.com/office/powerpoint/2010/main" val="385419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Workshop timeline · 1–4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Where we started — and how fast the foundation went in</a:t>
            </a:r>
          </a:p>
        </p:txBody>
      </p:sp>
      <p:sp>
        <p:nvSpPr>
          <p:cNvPr id="920" name="card0"/>
          <p:cNvSpPr/>
          <p:nvPr/>
        </p:nvSpPr>
        <p:spPr>
          <a:xfrm>
            <a:off x="457200" y="1397000"/>
            <a:ext cx="4013200" cy="13716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1" name="num0"/>
          <p:cNvSpPr/>
          <p:nvPr/>
        </p:nvSpPr>
        <p:spPr>
          <a:xfrm>
            <a:off x="660400" y="1625600"/>
            <a:ext cx="508000" cy="5080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922" name="tt0"/>
          <p:cNvSpPr/>
          <p:nvPr/>
        </p:nvSpPr>
        <p:spPr>
          <a:xfrm>
            <a:off x="13208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How programs execute</a:t>
            </a:r>
          </a:p>
        </p:txBody>
      </p:sp>
      <p:sp>
        <p:nvSpPr>
          <p:cNvPr id="923" name="dd0"/>
          <p:cNvSpPr/>
          <p:nvPr/>
        </p:nvSpPr>
        <p:spPr>
          <a:xfrm>
            <a:off x="13208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Interpreters, the REPL, evaluation</a:t>
            </a:r>
          </a:p>
        </p:txBody>
      </p:sp>
      <p:sp>
        <p:nvSpPr>
          <p:cNvPr id="930" name="card1"/>
          <p:cNvSpPr/>
          <p:nvPr/>
        </p:nvSpPr>
        <p:spPr>
          <a:xfrm>
            <a:off x="4673600" y="1397000"/>
            <a:ext cx="4013200" cy="1371600"/>
          </a:xfrm>
          <a:prstGeom prst="roundRect">
            <a:avLst/>
          </a:prstGeom>
          <a:solidFill>
            <a:srgbClr val="E6F7F9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1" name="num1"/>
          <p:cNvSpPr/>
          <p:nvPr/>
        </p:nvSpPr>
        <p:spPr>
          <a:xfrm>
            <a:off x="4876800" y="1625600"/>
            <a:ext cx="508000" cy="5080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932" name="tt1"/>
          <p:cNvSpPr/>
          <p:nvPr/>
        </p:nvSpPr>
        <p:spPr>
          <a:xfrm>
            <a:off x="55372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Programs are trees</a:t>
            </a:r>
          </a:p>
        </p:txBody>
      </p:sp>
      <p:sp>
        <p:nvSpPr>
          <p:cNvPr id="933" name="dd1"/>
          <p:cNvSpPr/>
          <p:nvPr/>
        </p:nvSpPr>
        <p:spPr>
          <a:xfrm>
            <a:off x="55372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ASTs, recursion, tree traversal</a:t>
            </a:r>
          </a:p>
        </p:txBody>
      </p:sp>
      <p:sp>
        <p:nvSpPr>
          <p:cNvPr id="940" name="card2"/>
          <p:cNvSpPr/>
          <p:nvPr/>
        </p:nvSpPr>
        <p:spPr>
          <a:xfrm>
            <a:off x="457200" y="2895600"/>
            <a:ext cx="4013200" cy="13716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num2"/>
          <p:cNvSpPr/>
          <p:nvPr/>
        </p:nvSpPr>
        <p:spPr>
          <a:xfrm>
            <a:off x="660400" y="3124200"/>
            <a:ext cx="508000" cy="5080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942" name="tt2"/>
          <p:cNvSpPr/>
          <p:nvPr/>
        </p:nvSpPr>
        <p:spPr>
          <a:xfrm>
            <a:off x="13208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Lexer + Parser</a:t>
            </a:r>
          </a:p>
        </p:txBody>
      </p:sp>
      <p:sp>
        <p:nvSpPr>
          <p:cNvPr id="943" name="dd2"/>
          <p:cNvSpPr/>
          <p:nvPr/>
        </p:nvSpPr>
        <p:spPr>
          <a:xfrm>
            <a:off x="13208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Tokens, grammar, parsing</a:t>
            </a:r>
          </a:p>
        </p:txBody>
      </p:sp>
      <p:sp>
        <p:nvSpPr>
          <p:cNvPr id="950" name="card3"/>
          <p:cNvSpPr/>
          <p:nvPr/>
        </p:nvSpPr>
        <p:spPr>
          <a:xfrm>
            <a:off x="4673600" y="2895600"/>
            <a:ext cx="4013200" cy="13716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num3"/>
          <p:cNvSpPr/>
          <p:nvPr/>
        </p:nvSpPr>
        <p:spPr>
          <a:xfrm>
            <a:off x="4876800" y="3124200"/>
            <a:ext cx="508000" cy="508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952" name="tt3"/>
          <p:cNvSpPr/>
          <p:nvPr/>
        </p:nvSpPr>
        <p:spPr>
          <a:xfrm>
            <a:off x="55372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Evaluator</a:t>
            </a:r>
          </a:p>
        </p:txBody>
      </p:sp>
      <p:sp>
        <p:nvSpPr>
          <p:cNvPr id="953" name="dd3"/>
          <p:cNvSpPr/>
          <p:nvPr/>
        </p:nvSpPr>
        <p:spPr>
          <a:xfrm>
            <a:off x="55372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Walking ASTs, evaluating expressions</a:t>
            </a:r>
          </a:p>
        </p:txBody>
      </p:sp>
      <p:sp>
        <p:nvSpPr>
          <p:cNvPr id="990" name="note"/>
          <p:cNvSpPr/>
          <p:nvPr/>
        </p:nvSpPr>
        <p:spPr>
          <a:xfrm>
            <a:off x="457200" y="43688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 i="1">
                <a:solidFill>
                  <a:srgbClr val="5B5BD6"/>
                </a:solidFill>
                <a:latin typeface="Inter Tight"/>
                <a:cs typeface="Inter Tight"/>
              </a:rPr>
              <a:t>Nothing was random — each workshop built directly on the last.</a:t>
            </a:r>
          </a:p>
        </p:txBody>
      </p:sp>
    </p:spTree>
    <p:extLst>
      <p:ext uri="{BB962C8B-B14F-4D97-AF65-F5344CB8AC3E}">
        <p14:creationId xmlns:p14="http://schemas.microsoft.com/office/powerpoint/2010/main" val="277488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Workshop timeline · 5–8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From a calculator to a language you designed yourself</a:t>
            </a:r>
          </a:p>
        </p:txBody>
      </p:sp>
      <p:sp>
        <p:nvSpPr>
          <p:cNvPr id="920" name="card0"/>
          <p:cNvSpPr/>
          <p:nvPr/>
        </p:nvSpPr>
        <p:spPr>
          <a:xfrm>
            <a:off x="457200" y="1397000"/>
            <a:ext cx="4013200" cy="13716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1" name="num0"/>
          <p:cNvSpPr/>
          <p:nvPr/>
        </p:nvSpPr>
        <p:spPr>
          <a:xfrm>
            <a:off x="660400" y="1625600"/>
            <a:ext cx="508000" cy="5080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5</a:t>
            </a:r>
          </a:p>
        </p:txBody>
      </p:sp>
      <p:sp>
        <p:nvSpPr>
          <p:cNvPr id="922" name="tt0"/>
          <p:cNvSpPr/>
          <p:nvPr/>
        </p:nvSpPr>
        <p:spPr>
          <a:xfrm>
            <a:off x="13208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Variables + Control Flow</a:t>
            </a:r>
          </a:p>
        </p:txBody>
      </p:sp>
      <p:sp>
        <p:nvSpPr>
          <p:cNvPr id="923" name="dd0"/>
          <p:cNvSpPr/>
          <p:nvPr/>
        </p:nvSpPr>
        <p:spPr>
          <a:xfrm>
            <a:off x="13208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Environments, if, while</a:t>
            </a:r>
          </a:p>
        </p:txBody>
      </p:sp>
      <p:sp>
        <p:nvSpPr>
          <p:cNvPr id="930" name="card1"/>
          <p:cNvSpPr/>
          <p:nvPr/>
        </p:nvSpPr>
        <p:spPr>
          <a:xfrm>
            <a:off x="4673600" y="1397000"/>
            <a:ext cx="4013200" cy="1371600"/>
          </a:xfrm>
          <a:prstGeom prst="roundRect">
            <a:avLst/>
          </a:prstGeom>
          <a:solidFill>
            <a:srgbClr val="E6F7F9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1" name="num1"/>
          <p:cNvSpPr/>
          <p:nvPr/>
        </p:nvSpPr>
        <p:spPr>
          <a:xfrm>
            <a:off x="4876800" y="1625600"/>
            <a:ext cx="508000" cy="5080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6</a:t>
            </a:r>
          </a:p>
        </p:txBody>
      </p:sp>
      <p:sp>
        <p:nvSpPr>
          <p:cNvPr id="932" name="tt1"/>
          <p:cNvSpPr/>
          <p:nvPr/>
        </p:nvSpPr>
        <p:spPr>
          <a:xfrm>
            <a:off x="55372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Functions</a:t>
            </a:r>
          </a:p>
        </p:txBody>
      </p:sp>
      <p:sp>
        <p:nvSpPr>
          <p:cNvPr id="933" name="dd1"/>
          <p:cNvSpPr/>
          <p:nvPr/>
        </p:nvSpPr>
        <p:spPr>
          <a:xfrm>
            <a:off x="55372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Scope, parameters, function calls</a:t>
            </a:r>
          </a:p>
        </p:txBody>
      </p:sp>
      <p:sp>
        <p:nvSpPr>
          <p:cNvPr id="940" name="card2"/>
          <p:cNvSpPr/>
          <p:nvPr/>
        </p:nvSpPr>
        <p:spPr>
          <a:xfrm>
            <a:off x="457200" y="2895600"/>
            <a:ext cx="4013200" cy="13716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num2"/>
          <p:cNvSpPr/>
          <p:nvPr/>
        </p:nvSpPr>
        <p:spPr>
          <a:xfrm>
            <a:off x="660400" y="3124200"/>
            <a:ext cx="508000" cy="5080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7</a:t>
            </a:r>
          </a:p>
        </p:txBody>
      </p:sp>
      <p:sp>
        <p:nvSpPr>
          <p:cNvPr id="942" name="tt2"/>
          <p:cNvSpPr/>
          <p:nvPr/>
        </p:nvSpPr>
        <p:spPr>
          <a:xfrm>
            <a:off x="13208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Language Design</a:t>
            </a:r>
          </a:p>
        </p:txBody>
      </p:sp>
      <p:sp>
        <p:nvSpPr>
          <p:cNvPr id="943" name="dd2"/>
          <p:cNvSpPr/>
          <p:nvPr/>
        </p:nvSpPr>
        <p:spPr>
          <a:xfrm>
            <a:off x="13208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Why recursion already worked, extending languages</a:t>
            </a:r>
          </a:p>
        </p:txBody>
      </p:sp>
      <p:sp>
        <p:nvSpPr>
          <p:cNvPr id="950" name="card3"/>
          <p:cNvSpPr/>
          <p:nvPr/>
        </p:nvSpPr>
        <p:spPr>
          <a:xfrm>
            <a:off x="4673600" y="2895600"/>
            <a:ext cx="4013200" cy="13716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num3"/>
          <p:cNvSpPr/>
          <p:nvPr/>
        </p:nvSpPr>
        <p:spPr>
          <a:xfrm>
            <a:off x="4876800" y="3124200"/>
            <a:ext cx="508000" cy="508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8</a:t>
            </a:r>
          </a:p>
        </p:txBody>
      </p:sp>
      <p:sp>
        <p:nvSpPr>
          <p:cNvPr id="952" name="tt3"/>
          <p:cNvSpPr/>
          <p:nvPr/>
        </p:nvSpPr>
        <p:spPr>
          <a:xfrm>
            <a:off x="55372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Today</a:t>
            </a:r>
          </a:p>
        </p:txBody>
      </p:sp>
      <p:sp>
        <p:nvSpPr>
          <p:cNvPr id="953" name="dd3"/>
          <p:cNvSpPr/>
          <p:nvPr/>
        </p:nvSpPr>
        <p:spPr>
          <a:xfrm>
            <a:off x="55372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Your extensions, live demos, closing</a:t>
            </a:r>
          </a:p>
        </p:txBody>
      </p:sp>
      <p:sp>
        <p:nvSpPr>
          <p:cNvPr id="990" name="note"/>
          <p:cNvSpPr/>
          <p:nvPr/>
        </p:nvSpPr>
        <p:spPr>
          <a:xfrm>
            <a:off x="457200" y="43688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 i="1">
                <a:solidFill>
                  <a:srgbClr val="5B5BD6"/>
                </a:solidFill>
                <a:latin typeface="Inter Tight"/>
                <a:cs typeface="Inter Tight"/>
              </a:rPr>
              <a:t>Every feature you added stood on the architecture from the week before.</a:t>
            </a:r>
          </a:p>
        </p:txBody>
      </p:sp>
    </p:spTree>
    <p:extLst>
      <p:ext uri="{BB962C8B-B14F-4D97-AF65-F5344CB8AC3E}">
        <p14:creationId xmlns:p14="http://schemas.microsoft.com/office/powerpoint/2010/main" val="283396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9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eyebrow"/>
          <p:cNvSpPr/>
          <p:nvPr/>
        </p:nvSpPr>
        <p:spPr>
          <a:xfrm>
            <a:off x="762000" y="10668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 spc="300" dirty="0">
                <a:solidFill>
                  <a:srgbClr val="FFFFFF"/>
                </a:solidFill>
                <a:latin typeface="Inter Tight"/>
                <a:cs typeface="Inter Tight"/>
              </a:rPr>
              <a:t>SO WHAT DID WE ACTUALLY BUILD?</a:t>
            </a:r>
          </a:p>
        </p:txBody>
      </p:sp>
      <p:sp>
        <p:nvSpPr>
          <p:cNvPr id="702" name="l1"/>
          <p:cNvSpPr/>
          <p:nvPr/>
        </p:nvSpPr>
        <p:spPr>
          <a:xfrm>
            <a:off x="254000" y="1574800"/>
            <a:ext cx="863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3400">
                <a:solidFill>
                  <a:srgbClr val="FFFFFF"/>
                </a:solidFill>
                <a:latin typeface="Inter Tight"/>
                <a:cs typeface="Inter Tight"/>
              </a:rPr>
              <a:t>Not a toy evaluator.</a:t>
            </a:r>
          </a:p>
        </p:txBody>
      </p:sp>
      <p:sp>
        <p:nvSpPr>
          <p:cNvPr id="703" name="l2"/>
          <p:cNvSpPr/>
          <p:nvPr/>
        </p:nvSpPr>
        <p:spPr>
          <a:xfrm>
            <a:off x="127000" y="2235200"/>
            <a:ext cx="8890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4600" b="1" dirty="0">
                <a:solidFill>
                  <a:srgbClr val="FFFFFF"/>
                </a:solidFill>
                <a:latin typeface="Inter Tight"/>
                <a:cs typeface="Inter Tight"/>
              </a:rPr>
              <a:t>You built a real interpreter.</a:t>
            </a:r>
          </a:p>
        </p:txBody>
      </p:sp>
      <p:sp>
        <p:nvSpPr>
          <p:cNvPr id="704" name="pill"/>
          <p:cNvSpPr/>
          <p:nvPr/>
        </p:nvSpPr>
        <p:spPr>
          <a:xfrm>
            <a:off x="2159000" y="3784600"/>
            <a:ext cx="4826000" cy="736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b="1" dirty="0">
                <a:solidFill>
                  <a:srgbClr val="242385"/>
                </a:solidFill>
                <a:latin typeface="Inter Tight"/>
                <a:cs typeface="Inter Tight"/>
              </a:rPr>
              <a:t>Not a parser exercise — an actual language</a:t>
            </a:r>
            <a:r>
              <a:rPr lang="en-US" sz="1800" b="1" dirty="0">
                <a:solidFill>
                  <a:srgbClr val="242385"/>
                </a:solidFill>
                <a:latin typeface="Inter Tight"/>
                <a:cs typeface="Inter T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472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Your presentations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floor is yours — here's the shape of each slot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73200"/>
            <a:ext cx="2552700" cy="28194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ico0"/>
          <p:cNvSpPr/>
          <p:nvPr/>
        </p:nvSpPr>
        <p:spPr>
          <a:xfrm>
            <a:off x="4572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0" name="nm0"/>
          <p:cNvSpPr/>
          <p:nvPr/>
        </p:nvSpPr>
        <p:spPr>
          <a:xfrm>
            <a:off x="5842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4285F4"/>
                </a:solidFill>
                <a:latin typeface="Inter Tight"/>
                <a:cs typeface="Inter Tight"/>
              </a:rPr>
              <a:t>5–7 minutes</a:t>
            </a:r>
          </a:p>
        </p:txBody>
      </p:sp>
      <p:sp>
        <p:nvSpPr>
          <p:cNvPr id="740" name="d0"/>
          <p:cNvSpPr/>
          <p:nvPr/>
        </p:nvSpPr>
        <p:spPr>
          <a:xfrm>
            <a:off x="6604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Walk us through your language extension.</a:t>
            </a:r>
          </a:p>
        </p:txBody>
      </p:sp>
      <p:sp>
        <p:nvSpPr>
          <p:cNvPr id="701" name="card1"/>
          <p:cNvSpPr/>
          <p:nvPr/>
        </p:nvSpPr>
        <p:spPr>
          <a:xfrm>
            <a:off x="3289300" y="1473200"/>
            <a:ext cx="2552700" cy="28194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ico1"/>
          <p:cNvSpPr/>
          <p:nvPr/>
        </p:nvSpPr>
        <p:spPr>
          <a:xfrm>
            <a:off x="32893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nm1"/>
          <p:cNvSpPr/>
          <p:nvPr/>
        </p:nvSpPr>
        <p:spPr>
          <a:xfrm>
            <a:off x="34163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5B5BD6"/>
                </a:solidFill>
                <a:latin typeface="Inter Tight"/>
                <a:cs typeface="Inter Tight"/>
              </a:rPr>
              <a:t>1–2 minutes Q&amp;A</a:t>
            </a:r>
          </a:p>
        </p:txBody>
      </p:sp>
      <p:sp>
        <p:nvSpPr>
          <p:cNvPr id="741" name="d1"/>
          <p:cNvSpPr/>
          <p:nvPr/>
        </p:nvSpPr>
        <p:spPr>
          <a:xfrm>
            <a:off x="34925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Questions from the group after each demo.</a:t>
            </a:r>
          </a:p>
        </p:txBody>
      </p:sp>
      <p:sp>
        <p:nvSpPr>
          <p:cNvPr id="702" name="card2"/>
          <p:cNvSpPr/>
          <p:nvPr/>
        </p:nvSpPr>
        <p:spPr>
          <a:xfrm>
            <a:off x="6121400" y="1473200"/>
            <a:ext cx="2552700" cy="28194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ico2"/>
          <p:cNvSpPr/>
          <p:nvPr/>
        </p:nvSpPr>
        <p:spPr>
          <a:xfrm>
            <a:off x="61214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2" name="nm2"/>
          <p:cNvSpPr/>
          <p:nvPr/>
        </p:nvSpPr>
        <p:spPr>
          <a:xfrm>
            <a:off x="62484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E8710A"/>
                </a:solidFill>
                <a:latin typeface="Inter Tight"/>
                <a:cs typeface="Inter Tight"/>
              </a:rPr>
              <a:t>Live demo</a:t>
            </a:r>
          </a:p>
        </p:txBody>
      </p:sp>
      <p:sp>
        <p:nvSpPr>
          <p:cNvPr id="742" name="d2"/>
          <p:cNvSpPr/>
          <p:nvPr/>
        </p:nvSpPr>
        <p:spPr>
          <a:xfrm>
            <a:off x="63246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Run your language in front of everyone.</a:t>
            </a:r>
          </a:p>
        </p:txBody>
      </p:sp>
      <p:pic>
        <p:nvPicPr>
          <p:cNvPr id="743" name="Graphic 743" descr="Live dem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800" y="1676400"/>
            <a:ext cx="558800" cy="558800"/>
          </a:xfrm>
          <a:prstGeom prst="rect">
            <a:avLst/>
          </a:prstGeom>
        </p:spPr>
      </p:pic>
      <p:pic>
        <p:nvPicPr>
          <p:cNvPr id="744" name="Graphic 744" descr="Architecture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9900" y="1676400"/>
            <a:ext cx="558800" cy="558800"/>
          </a:xfrm>
          <a:prstGeom prst="rect">
            <a:avLst/>
          </a:prstGeom>
        </p:spPr>
      </p:pic>
      <p:pic>
        <p:nvPicPr>
          <p:cNvPr id="745" name="Graphic 745" descr="Celebr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0" y="1676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5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Presentation flow · a reminder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Five beats — problem to reflection, in about six minutes</a:t>
            </a:r>
          </a:p>
        </p:txBody>
      </p:sp>
      <p:sp>
        <p:nvSpPr>
          <p:cNvPr id="700" name="st0"/>
          <p:cNvSpPr/>
          <p:nvPr/>
        </p:nvSpPr>
        <p:spPr>
          <a:xfrm>
            <a:off x="609600" y="2235200"/>
            <a:ext cx="1422400" cy="9652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4285F4"/>
                </a:solidFill>
                <a:latin typeface="Inter Tight"/>
                <a:cs typeface="Inter Tight"/>
              </a:rPr>
              <a:t>1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Problem</a:t>
            </a:r>
          </a:p>
        </p:txBody>
      </p:sp>
      <p:sp>
        <p:nvSpPr>
          <p:cNvPr id="720" name="ar720"/>
          <p:cNvSpPr/>
          <p:nvPr/>
        </p:nvSpPr>
        <p:spPr>
          <a:xfrm>
            <a:off x="20320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1" name="st1"/>
          <p:cNvSpPr/>
          <p:nvPr/>
        </p:nvSpPr>
        <p:spPr>
          <a:xfrm>
            <a:off x="22352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2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Design</a:t>
            </a:r>
          </a:p>
        </p:txBody>
      </p:sp>
      <p:sp>
        <p:nvSpPr>
          <p:cNvPr id="721" name="ar721"/>
          <p:cNvSpPr/>
          <p:nvPr/>
        </p:nvSpPr>
        <p:spPr>
          <a:xfrm>
            <a:off x="36576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2" name="st2"/>
          <p:cNvSpPr/>
          <p:nvPr/>
        </p:nvSpPr>
        <p:spPr>
          <a:xfrm>
            <a:off x="38608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3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Implementation</a:t>
            </a:r>
          </a:p>
        </p:txBody>
      </p:sp>
      <p:sp>
        <p:nvSpPr>
          <p:cNvPr id="722" name="ar722"/>
          <p:cNvSpPr/>
          <p:nvPr/>
        </p:nvSpPr>
        <p:spPr>
          <a:xfrm>
            <a:off x="52832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3" name="st3"/>
          <p:cNvSpPr/>
          <p:nvPr/>
        </p:nvSpPr>
        <p:spPr>
          <a:xfrm>
            <a:off x="54864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4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Demo</a:t>
            </a:r>
          </a:p>
        </p:txBody>
      </p:sp>
      <p:sp>
        <p:nvSpPr>
          <p:cNvPr id="723" name="ar723"/>
          <p:cNvSpPr/>
          <p:nvPr/>
        </p:nvSpPr>
        <p:spPr>
          <a:xfrm>
            <a:off x="69088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4" name="st4"/>
          <p:cNvSpPr/>
          <p:nvPr/>
        </p:nvSpPr>
        <p:spPr>
          <a:xfrm>
            <a:off x="7112000" y="2235200"/>
            <a:ext cx="1422400" cy="9652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EEFF41"/>
                </a:solidFill>
                <a:latin typeface="Inter Tight"/>
                <a:cs typeface="Inter Tight"/>
              </a:rPr>
              <a:t>5</a:t>
            </a: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Reflection</a:t>
            </a:r>
          </a:p>
        </p:txBody>
      </p:sp>
      <p:sp>
        <p:nvSpPr>
          <p:cNvPr id="740" name="banner"/>
          <p:cNvSpPr/>
          <p:nvPr/>
        </p:nvSpPr>
        <p:spPr>
          <a:xfrm>
            <a:off x="457200" y="3810000"/>
            <a:ext cx="8229600" cy="609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What, how, built, shown — and what you learned.</a:t>
            </a:r>
          </a:p>
        </p:txBody>
      </p:sp>
    </p:spTree>
    <p:extLst>
      <p:ext uri="{BB962C8B-B14F-4D97-AF65-F5344CB8AC3E}">
        <p14:creationId xmlns:p14="http://schemas.microsoft.com/office/powerpoint/2010/main" val="99897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Final submission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b="1" spc="120">
                <a:solidFill>
                  <a:srgbClr val="5B5BD6"/>
                </a:solidFill>
                <a:latin typeface="Inter Tight"/>
                <a:cs typeface="Inter Tight"/>
              </a:rPr>
              <a:t>BEFORE YOU LEAVE TODAY</a:t>
            </a:r>
          </a:p>
        </p:txBody>
      </p:sp>
      <p:sp>
        <p:nvSpPr>
          <p:cNvPr id="710" name="row0"/>
          <p:cNvSpPr/>
          <p:nvPr/>
        </p:nvSpPr>
        <p:spPr>
          <a:xfrm>
            <a:off x="457200" y="12954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chk0"/>
          <p:cNvSpPr/>
          <p:nvPr/>
        </p:nvSpPr>
        <p:spPr>
          <a:xfrm>
            <a:off x="660400" y="13843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0" name="it0"/>
          <p:cNvSpPr/>
          <p:nvPr/>
        </p:nvSpPr>
        <p:spPr>
          <a:xfrm>
            <a:off x="1270000" y="12954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Final code — your interpreter with your extension</a:t>
            </a:r>
          </a:p>
        </p:txBody>
      </p:sp>
      <p:sp>
        <p:nvSpPr>
          <p:cNvPr id="711" name="row1"/>
          <p:cNvSpPr/>
          <p:nvPr/>
        </p:nvSpPr>
        <p:spPr>
          <a:xfrm>
            <a:off x="457200" y="19812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chk1"/>
          <p:cNvSpPr/>
          <p:nvPr/>
        </p:nvSpPr>
        <p:spPr>
          <a:xfrm>
            <a:off x="660400" y="20701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1" name="it1"/>
          <p:cNvSpPr/>
          <p:nvPr/>
        </p:nvSpPr>
        <p:spPr>
          <a:xfrm>
            <a:off x="1270000" y="19812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Presentation slides, if you made any</a:t>
            </a:r>
          </a:p>
        </p:txBody>
      </p:sp>
      <p:sp>
        <p:nvSpPr>
          <p:cNvPr id="712" name="row2"/>
          <p:cNvSpPr/>
          <p:nvPr/>
        </p:nvSpPr>
        <p:spPr>
          <a:xfrm>
            <a:off x="457200" y="26670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chk2"/>
          <p:cNvSpPr/>
          <p:nvPr/>
        </p:nvSpPr>
        <p:spPr>
          <a:xfrm>
            <a:off x="660400" y="27559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2" name="it2"/>
          <p:cNvSpPr/>
          <p:nvPr/>
        </p:nvSpPr>
        <p:spPr>
          <a:xfrm>
            <a:off x="1270000" y="26670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Written reflection on what you built</a:t>
            </a:r>
          </a:p>
        </p:txBody>
      </p:sp>
      <p:sp>
        <p:nvSpPr>
          <p:cNvPr id="713" name="row3"/>
          <p:cNvSpPr/>
          <p:nvPr/>
        </p:nvSpPr>
        <p:spPr>
          <a:xfrm>
            <a:off x="457200" y="33528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chk3"/>
          <p:cNvSpPr/>
          <p:nvPr/>
        </p:nvSpPr>
        <p:spPr>
          <a:xfrm>
            <a:off x="660400" y="34417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3" name="it3"/>
          <p:cNvSpPr/>
          <p:nvPr/>
        </p:nvSpPr>
        <p:spPr>
          <a:xfrm>
            <a:off x="1270000" y="33528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Homework notebook</a:t>
            </a:r>
          </a:p>
        </p:txBody>
      </p:sp>
      <p:sp>
        <p:nvSpPr>
          <p:cNvPr id="740" name="note"/>
          <p:cNvSpPr/>
          <p:nvPr/>
        </p:nvSpPr>
        <p:spPr>
          <a:xfrm>
            <a:off x="457200" y="4064000"/>
            <a:ext cx="8229600" cy="4826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i="1">
                <a:solidFill>
                  <a:srgbClr val="FFFFFF"/>
                </a:solidFill>
                <a:latin typeface="Inter Tight"/>
                <a:cs typeface="Inter Tight"/>
              </a:rPr>
              <a:t>Submit everything together — this is the last hand-in of the course.</a:t>
            </a:r>
          </a:p>
        </p:txBody>
      </p:sp>
    </p:spTree>
    <p:extLst>
      <p:ext uri="{BB962C8B-B14F-4D97-AF65-F5344CB8AC3E}">
        <p14:creationId xmlns:p14="http://schemas.microsoft.com/office/powerpoint/2010/main" val="70829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Reflection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Two questions before we close</a:t>
            </a:r>
          </a:p>
        </p:txBody>
      </p:sp>
      <p:sp>
        <p:nvSpPr>
          <p:cNvPr id="700" name="q1"/>
          <p:cNvSpPr/>
          <p:nvPr/>
        </p:nvSpPr>
        <p:spPr>
          <a:xfrm>
            <a:off x="635000" y="1524000"/>
            <a:ext cx="787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400">
                <a:solidFill>
                  <a:srgbClr val="1A1A2E"/>
                </a:solidFill>
                <a:latin typeface="Inter Tight"/>
                <a:cs typeface="Inter Tight"/>
              </a:rPr>
              <a:t>What was the hardest concept?</a:t>
            </a:r>
          </a:p>
        </p:txBody>
      </p:sp>
      <p:sp>
        <p:nvSpPr>
          <p:cNvPr id="701" name="q2"/>
          <p:cNvSpPr/>
          <p:nvPr/>
        </p:nvSpPr>
        <p:spPr>
          <a:xfrm>
            <a:off x="635000" y="22352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 dirty="0">
                <a:solidFill>
                  <a:srgbClr val="242385"/>
                </a:solidFill>
                <a:latin typeface="Inter Tight"/>
                <a:cs typeface="Inter Tight"/>
              </a:rPr>
              <a:t>And what was the coolest moment?</a:t>
            </a:r>
          </a:p>
        </p:txBody>
      </p:sp>
    </p:spTree>
    <p:extLst>
      <p:ext uri="{BB962C8B-B14F-4D97-AF65-F5344CB8AC3E}">
        <p14:creationId xmlns:p14="http://schemas.microsoft.com/office/powerpoint/2010/main" val="41935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You can't unsee it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line of Python — and you now know every layer underneath it</a:t>
            </a:r>
          </a:p>
        </p:txBody>
      </p:sp>
      <p:sp>
        <p:nvSpPr>
          <p:cNvPr id="700" name="cap"/>
          <p:cNvSpPr/>
          <p:nvPr/>
        </p:nvSpPr>
        <p:spPr>
          <a:xfrm>
            <a:off x="457200" y="1397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WHAT YOU READ</a:t>
            </a:r>
          </a:p>
        </p:txBody>
      </p:sp>
      <p:sp>
        <p:nvSpPr>
          <p:cNvPr id="701" name="panel"/>
          <p:cNvSpPr/>
          <p:nvPr/>
        </p:nvSpPr>
        <p:spPr>
          <a:xfrm>
            <a:off x="457200" y="1752600"/>
            <a:ext cx="3810000" cy="24892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800" b="1">
                <a:solidFill>
                  <a:srgbClr val="EEFF41"/>
                </a:solidFill>
                <a:latin typeface="Consolas"/>
                <a:cs typeface="Consolas"/>
              </a:rPr>
              <a:t>x = foo(5)</a:t>
            </a:r>
          </a:p>
          <a:p>
            <a:pPr algn="l">
              <a:buNone/>
            </a:pPr>
            <a:endParaRPr lang="en-US" sz="1800" b="1">
              <a:solidFill>
                <a:srgbClr val="EEFF41"/>
              </a:solidFill>
              <a:latin typeface="Consolas"/>
              <a:cs typeface="Consolas"/>
            </a:endParaRPr>
          </a:p>
          <a:p>
            <a:pPr algn="l">
              <a:buNone/>
            </a:pPr>
            <a:endParaRPr lang="en-US" sz="1800" b="1">
              <a:solidFill>
                <a:srgbClr val="EEFF41"/>
              </a:solidFill>
              <a:latin typeface="Consolas"/>
              <a:cs typeface="Consolas"/>
            </a:endParaRPr>
          </a:p>
        </p:txBody>
      </p:sp>
      <p:sp>
        <p:nvSpPr>
          <p:cNvPr id="710" name="rh"/>
          <p:cNvSpPr/>
          <p:nvPr/>
        </p:nvSpPr>
        <p:spPr>
          <a:xfrm>
            <a:off x="4521200" y="1397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WHAT YOU NOW SEE</a:t>
            </a:r>
          </a:p>
        </p:txBody>
      </p:sp>
      <p:sp>
        <p:nvSpPr>
          <p:cNvPr id="720" name="row0"/>
          <p:cNvSpPr/>
          <p:nvPr/>
        </p:nvSpPr>
        <p:spPr>
          <a:xfrm>
            <a:off x="4521200" y="1752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Lexer   →  tokens</a:t>
            </a:r>
          </a:p>
        </p:txBody>
      </p:sp>
      <p:sp>
        <p:nvSpPr>
          <p:cNvPr id="721" name="row1"/>
          <p:cNvSpPr/>
          <p:nvPr/>
        </p:nvSpPr>
        <p:spPr>
          <a:xfrm>
            <a:off x="4521200" y="2260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Parser   →  grammar rules</a:t>
            </a:r>
          </a:p>
        </p:txBody>
      </p:sp>
      <p:sp>
        <p:nvSpPr>
          <p:cNvPr id="722" name="row2"/>
          <p:cNvSpPr/>
          <p:nvPr/>
        </p:nvSpPr>
        <p:spPr>
          <a:xfrm>
            <a:off x="4521200" y="2768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AST   →  Assign(x, Call(foo, 5))</a:t>
            </a:r>
          </a:p>
        </p:txBody>
      </p:sp>
      <p:sp>
        <p:nvSpPr>
          <p:cNvPr id="723" name="row3"/>
          <p:cNvSpPr/>
          <p:nvPr/>
        </p:nvSpPr>
        <p:spPr>
          <a:xfrm>
            <a:off x="4521200" y="3276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Evaluator   →  walks the tree</a:t>
            </a:r>
          </a:p>
        </p:txBody>
      </p:sp>
      <p:sp>
        <p:nvSpPr>
          <p:cNvPr id="724" name="row4"/>
          <p:cNvSpPr/>
          <p:nvPr/>
        </p:nvSpPr>
        <p:spPr>
          <a:xfrm>
            <a:off x="4521200" y="3784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Environments   →  where x and foo live</a:t>
            </a:r>
          </a:p>
        </p:txBody>
      </p:sp>
    </p:spTree>
    <p:extLst>
      <p:ext uri="{BB962C8B-B14F-4D97-AF65-F5344CB8AC3E}">
        <p14:creationId xmlns:p14="http://schemas.microsoft.com/office/powerpoint/2010/main" val="354665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How big is a real language?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Same architecture as CPython — just a different scale</a:t>
            </a:r>
          </a:p>
        </p:txBody>
      </p:sp>
      <p:sp>
        <p:nvSpPr>
          <p:cNvPr id="700" name="cap"/>
          <p:cNvSpPr/>
          <p:nvPr/>
        </p:nvSpPr>
        <p:spPr>
          <a:xfrm>
            <a:off x="457200" y="1397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THE SHARED PIPELINE</a:t>
            </a:r>
          </a:p>
        </p:txBody>
      </p:sp>
      <p:sp>
        <p:nvSpPr>
          <p:cNvPr id="701" name="panel"/>
          <p:cNvSpPr/>
          <p:nvPr/>
        </p:nvSpPr>
        <p:spPr>
          <a:xfrm>
            <a:off x="457200" y="1752600"/>
            <a:ext cx="3810000" cy="24892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EEFF41"/>
                </a:solidFill>
                <a:latin typeface="Consolas"/>
                <a:cs typeface="Consolas"/>
              </a:rPr>
              <a:t>Source Code</a:t>
            </a:r>
          </a:p>
          <a:p>
            <a:pPr marL="190500" algn="l">
              <a:buNone/>
            </a:pPr>
            <a:r>
              <a:rPr lang="en-US" sz="1400" b="1">
                <a:solidFill>
                  <a:srgbClr val="78909C"/>
                </a:solidFill>
                <a:latin typeface="Consolas"/>
                <a:cs typeface="Consolas"/>
              </a:rPr>
              <a:t>↓</a:t>
            </a:r>
          </a:p>
          <a:p>
            <a:pPr algn="l">
              <a:buNone/>
            </a:pPr>
            <a:r>
              <a:rPr lang="en-US" sz="1400" b="1">
                <a:solidFill>
                  <a:srgbClr val="EEFF41"/>
                </a:solidFill>
                <a:latin typeface="Consolas"/>
                <a:cs typeface="Consolas"/>
              </a:rPr>
              <a:t>Lexer</a:t>
            </a:r>
          </a:p>
          <a:p>
            <a:pPr marL="190500" algn="l">
              <a:buNone/>
            </a:pPr>
            <a:r>
              <a:rPr lang="en-US" sz="1400" b="1">
                <a:solidFill>
                  <a:srgbClr val="78909C"/>
                </a:solidFill>
                <a:latin typeface="Consolas"/>
                <a:cs typeface="Consolas"/>
              </a:rPr>
              <a:t>↓</a:t>
            </a:r>
          </a:p>
          <a:p>
            <a:pPr algn="l">
              <a:buNone/>
            </a:pPr>
            <a:r>
              <a:rPr lang="en-US" sz="1400" b="1">
                <a:solidFill>
                  <a:srgbClr val="EEFF41"/>
                </a:solidFill>
                <a:latin typeface="Consolas"/>
                <a:cs typeface="Consolas"/>
              </a:rPr>
              <a:t>Parser</a:t>
            </a:r>
          </a:p>
          <a:p>
            <a:pPr marL="190500" algn="l">
              <a:buNone/>
            </a:pPr>
            <a:r>
              <a:rPr lang="en-US" sz="1400" b="1">
                <a:solidFill>
                  <a:srgbClr val="78909C"/>
                </a:solidFill>
                <a:latin typeface="Consolas"/>
                <a:cs typeface="Consolas"/>
              </a:rPr>
              <a:t>↓</a:t>
            </a:r>
          </a:p>
          <a:p>
            <a:pPr algn="l">
              <a:buNone/>
            </a:pPr>
            <a:r>
              <a:rPr lang="en-US" sz="1400" b="1">
                <a:solidFill>
                  <a:srgbClr val="EEFF41"/>
                </a:solidFill>
                <a:latin typeface="Consolas"/>
                <a:cs typeface="Consolas"/>
              </a:rPr>
              <a:t>AST</a:t>
            </a:r>
          </a:p>
          <a:p>
            <a:pPr marL="190500" algn="l">
              <a:buNone/>
            </a:pPr>
            <a:r>
              <a:rPr lang="en-US" sz="1400" b="1">
                <a:solidFill>
                  <a:srgbClr val="78909C"/>
                </a:solidFill>
                <a:latin typeface="Consolas"/>
                <a:cs typeface="Consolas"/>
              </a:rPr>
              <a:t>↓</a:t>
            </a:r>
          </a:p>
          <a:p>
            <a:pPr algn="l">
              <a:buNone/>
            </a:pPr>
            <a:r>
              <a:rPr lang="en-US" sz="1400" b="1">
                <a:solidFill>
                  <a:srgbClr val="EEFF41"/>
                </a:solidFill>
                <a:latin typeface="Consolas"/>
                <a:cs typeface="Consolas"/>
              </a:rPr>
              <a:t>Interpreter / Compiler</a:t>
            </a:r>
          </a:p>
        </p:txBody>
      </p:sp>
      <p:sp>
        <p:nvSpPr>
          <p:cNvPr id="710" name="rh"/>
          <p:cNvSpPr/>
          <p:nvPr/>
        </p:nvSpPr>
        <p:spPr>
          <a:xfrm>
            <a:off x="4521200" y="1397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YOURS   vs   CPYTHON</a:t>
            </a:r>
          </a:p>
        </p:txBody>
      </p:sp>
      <p:sp>
        <p:nvSpPr>
          <p:cNvPr id="720" name="row0"/>
          <p:cNvSpPr/>
          <p:nvPr/>
        </p:nvSpPr>
        <p:spPr>
          <a:xfrm>
            <a:off x="4521200" y="1752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AST node types 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~20   vs   hundreds</a:t>
            </a:r>
          </a:p>
        </p:txBody>
      </p:sp>
      <p:sp>
        <p:nvSpPr>
          <p:cNvPr id="721" name="row1"/>
          <p:cNvSpPr/>
          <p:nvPr/>
        </p:nvSpPr>
        <p:spPr>
          <a:xfrm>
            <a:off x="4521200" y="2260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Grammar rules 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one   vs   thousands</a:t>
            </a:r>
          </a:p>
        </p:txBody>
      </p:sp>
      <p:sp>
        <p:nvSpPr>
          <p:cNvPr id="722" name="row2"/>
          <p:cNvSpPr/>
          <p:nvPr/>
        </p:nvSpPr>
        <p:spPr>
          <a:xfrm>
            <a:off x="4521200" y="2768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Lines of code 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hundreds   vs   100,000s</a:t>
            </a:r>
          </a:p>
        </p:txBody>
      </p:sp>
      <p:sp>
        <p:nvSpPr>
          <p:cNvPr id="723" name="row3"/>
          <p:cNvSpPr/>
          <p:nvPr/>
        </p:nvSpPr>
        <p:spPr>
          <a:xfrm>
            <a:off x="4521200" y="3276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Pipeline 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identical, stage for stage</a:t>
            </a:r>
          </a:p>
        </p:txBody>
      </p:sp>
      <p:sp>
        <p:nvSpPr>
          <p:cNvPr id="724" name="row4"/>
          <p:cNvSpPr/>
          <p:nvPr/>
        </p:nvSpPr>
        <p:spPr>
          <a:xfrm>
            <a:off x="4521200" y="3784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Not a toy — the real architecture, simplified.</a:t>
            </a:r>
          </a:p>
        </p:txBody>
      </p:sp>
    </p:spTree>
    <p:extLst>
      <p:ext uri="{BB962C8B-B14F-4D97-AF65-F5344CB8AC3E}">
        <p14:creationId xmlns:p14="http://schemas.microsoft.com/office/powerpoint/2010/main" val="351983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9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l1"/>
          <p:cNvSpPr/>
          <p:nvPr/>
        </p:nvSpPr>
        <p:spPr>
          <a:xfrm>
            <a:off x="762000" y="508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>
                <a:solidFill>
                  <a:srgbClr val="FFFFFF"/>
                </a:solidFill>
                <a:latin typeface="Inter Tight"/>
                <a:cs typeface="Inter Tight"/>
              </a:rPr>
              <a:t>EIGHT WEEKS AGO</a:t>
            </a:r>
          </a:p>
        </p:txBody>
      </p:sp>
      <p:sp>
        <p:nvSpPr>
          <p:cNvPr id="711" name="b1"/>
          <p:cNvSpPr/>
          <p:nvPr/>
        </p:nvSpPr>
        <p:spPr>
          <a:xfrm>
            <a:off x="508000" y="7874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Inter Tight"/>
                <a:cs typeface="Inter Tight"/>
              </a:rPr>
              <a:t>you wrote code.</a:t>
            </a:r>
          </a:p>
        </p:txBody>
      </p:sp>
      <p:sp>
        <p:nvSpPr>
          <p:cNvPr id="720" name="ar720"/>
          <p:cNvSpPr/>
          <p:nvPr/>
        </p:nvSpPr>
        <p:spPr>
          <a:xfrm>
            <a:off x="4318000" y="14224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8888C8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12" name="l2"/>
          <p:cNvSpPr/>
          <p:nvPr/>
        </p:nvSpPr>
        <p:spPr>
          <a:xfrm>
            <a:off x="762000" y="1752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>
                <a:solidFill>
                  <a:srgbClr val="FFFFFF"/>
                </a:solidFill>
                <a:latin typeface="Inter Tight"/>
                <a:cs typeface="Inter Tight"/>
              </a:rPr>
              <a:t>TODAY</a:t>
            </a:r>
          </a:p>
        </p:txBody>
      </p:sp>
      <p:sp>
        <p:nvSpPr>
          <p:cNvPr id="713" name="b2"/>
          <p:cNvSpPr/>
          <p:nvPr/>
        </p:nvSpPr>
        <p:spPr>
          <a:xfrm>
            <a:off x="508000" y="203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Inter Tight"/>
                <a:cs typeface="Inter Tight"/>
              </a:rPr>
              <a:t>you understand how code executes.</a:t>
            </a:r>
          </a:p>
        </p:txBody>
      </p:sp>
      <p:sp>
        <p:nvSpPr>
          <p:cNvPr id="721" name="ar721"/>
          <p:cNvSpPr/>
          <p:nvPr/>
        </p:nvSpPr>
        <p:spPr>
          <a:xfrm>
            <a:off x="4318000" y="2800927"/>
            <a:ext cx="508000" cy="229919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 dirty="0">
                <a:solidFill>
                  <a:srgbClr val="8888C8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14" name="l3"/>
          <p:cNvSpPr/>
          <p:nvPr/>
        </p:nvSpPr>
        <p:spPr>
          <a:xfrm>
            <a:off x="762000" y="3276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FFFFFF"/>
                </a:solidFill>
                <a:latin typeface="Inter Tight"/>
                <a:cs typeface="Inter Tight"/>
              </a:rPr>
              <a:t>FROM NOW ON</a:t>
            </a:r>
          </a:p>
        </p:txBody>
      </p:sp>
      <p:sp>
        <p:nvSpPr>
          <p:cNvPr id="715" name="b3"/>
          <p:cNvSpPr/>
          <p:nvPr/>
        </p:nvSpPr>
        <p:spPr>
          <a:xfrm>
            <a:off x="508000" y="3490356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Inter Tight"/>
                <a:cs typeface="Inter Tight"/>
              </a:rPr>
              <a:t>you'll never read a language the same way.</a:t>
            </a:r>
          </a:p>
        </p:txBody>
      </p:sp>
    </p:spTree>
    <p:extLst>
      <p:ext uri="{BB962C8B-B14F-4D97-AF65-F5344CB8AC3E}">
        <p14:creationId xmlns:p14="http://schemas.microsoft.com/office/powerpoint/2010/main" val="34389011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80548</TotalTime>
  <Words>570</Words>
  <Application>Microsoft Macintosh PowerPoint</Application>
  <PresentationFormat>On-screen Show (16:9)</PresentationFormat>
  <Paragraphs>150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Helvetica Neue</vt:lpstr>
      <vt:lpstr>Arial</vt:lpstr>
      <vt:lpstr>Consolas</vt:lpstr>
      <vt:lpstr>Inter Tight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43</cp:revision>
  <cp:lastPrinted>2026-06-11T01:41:40Z</cp:lastPrinted>
  <dcterms:modified xsi:type="dcterms:W3CDTF">2026-07-29T22:57:26Z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