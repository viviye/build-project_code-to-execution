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4"/>
  </p:sldMasterIdLst>
  <p:notesMasterIdLst>
    <p:notesMasterId r:id="rId34"/>
  </p:notesMasterIdLst>
  <p:sldIdLst>
    <p:sldId id="862" r:id="rId5"/>
    <p:sldId id="863" r:id="rId6"/>
    <p:sldId id="864" r:id="rId7"/>
    <p:sldId id="865" r:id="rId8"/>
    <p:sldId id="924" r:id="rId9"/>
    <p:sldId id="869" r:id="rId10"/>
    <p:sldId id="925" r:id="rId11"/>
    <p:sldId id="873" r:id="rId12"/>
    <p:sldId id="875" r:id="rId13"/>
    <p:sldId id="926" r:id="rId14"/>
    <p:sldId id="927" r:id="rId15"/>
    <p:sldId id="928" r:id="rId16"/>
    <p:sldId id="883" r:id="rId17"/>
    <p:sldId id="885" r:id="rId18"/>
    <p:sldId id="887" r:id="rId19"/>
    <p:sldId id="889" r:id="rId20"/>
    <p:sldId id="891" r:id="rId21"/>
    <p:sldId id="897" r:id="rId22"/>
    <p:sldId id="899" r:id="rId23"/>
    <p:sldId id="929" r:id="rId24"/>
    <p:sldId id="903" r:id="rId25"/>
    <p:sldId id="905" r:id="rId26"/>
    <p:sldId id="933" r:id="rId27"/>
    <p:sldId id="931" r:id="rId28"/>
    <p:sldId id="934" r:id="rId29"/>
    <p:sldId id="914" r:id="rId30"/>
    <p:sldId id="916" r:id="rId31"/>
    <p:sldId id="921" r:id="rId32"/>
    <p:sldId id="930" r:id="rId3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Inter Tight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33"/>
    <p:restoredTop sz="74726"/>
  </p:normalViewPr>
  <p:slideViewPr>
    <p:cSldViewPr snapToGrid="0">
      <p:cViewPr varScale="1">
        <p:scale>
          <a:sx n="107" d="100"/>
          <a:sy n="107" d="100"/>
        </p:scale>
        <p:origin x="160" y="4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TITLE_1_3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white">
  <p:cSld name="TITLE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28" name="Google Shape;2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0" y="4777027"/>
            <a:ext cx="1641801" cy="17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purple">
  <p:cSld name="TITLE_1_3_1_1">
    <p:bg>
      <p:bgPr>
        <a:solidFill>
          <a:srgbClr val="BE9B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ight">
  <p:cSld name="TITLE_1_3_1_1_1">
    <p:bg>
      <p:bgPr>
        <a:solidFill>
          <a:srgbClr val="FAF5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TITLE_1_3_1_1_1_1_1">
    <p:bg>
      <p:bgPr>
        <a:solidFill>
          <a:srgbClr val="242385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">
  <p:cSld name="TITLE_1_3_1_1_1_1_1_1">
    <p:bg>
      <p:bgPr>
        <a:solidFill>
          <a:srgbClr val="5370E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>
  <p:cSld name="TITLE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7" name="Google Shape;1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38" y="411392"/>
            <a:ext cx="2845117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Yellow">
  <p:cSld name="TITLE_1_2_1">
    <p:bg>
      <p:bgPr>
        <a:solidFill>
          <a:srgbClr val="5370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Helvetica Neue"/>
              <a:buNone/>
              <a:defRPr sz="7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1" name="Google Shape;2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Black">
  <p:cSld name="TITLE_1_2_1_1">
    <p:bg>
      <p:bgPr>
        <a:solidFill>
          <a:srgbClr val="BE9B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title"/>
          </p:nvPr>
        </p:nvSpPr>
        <p:spPr>
          <a:xfrm>
            <a:off x="395875" y="1180700"/>
            <a:ext cx="5948100" cy="28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Inter Tight"/>
              <a:buNone/>
              <a:defRPr sz="7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Helvetica Neue"/>
              <a:buNone/>
              <a:defRPr sz="7500" b="1">
                <a:solidFill>
                  <a:srgbClr val="242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title" idx="2"/>
          </p:nvPr>
        </p:nvSpPr>
        <p:spPr>
          <a:xfrm>
            <a:off x="395875" y="4457100"/>
            <a:ext cx="58206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"/>
              <a:buFont typeface="Inter Tight"/>
              <a:buNone/>
              <a:defRPr sz="1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25" name="Google Shape;2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00" y="411400"/>
            <a:ext cx="2845189" cy="2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light 1">
  <p:cSld name="TITLE_1_1_7">
    <p:bg>
      <p:bgPr>
        <a:solidFill>
          <a:srgbClr val="FAF5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32" name="Google Shape;3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">
  <p:cSld name="TITLE_1_1_6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2" name="Google Shape;42;p1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3" name="Google Shape;4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dark">
  <p:cSld name="TITLE_1_1_6_1_1">
    <p:bg>
      <p:bgPr>
        <a:solidFill>
          <a:srgbClr val="242385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3500"/>
              <a:buFont typeface="Inter Tight"/>
              <a:buNone/>
              <a:defRPr sz="3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8" name="Google Shape;58;p1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9" name="Google Shape;5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dark">
  <p:cSld name="TITLE_1_1_3_1_1">
    <p:bg>
      <p:bgPr>
        <a:solidFill>
          <a:srgbClr val="242385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10000"/>
              <a:buFont typeface="Inter Tight"/>
              <a:buNone/>
              <a:defRPr sz="10000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E9BFF"/>
              </a:buClr>
              <a:buSzPts val="7500"/>
              <a:buFont typeface="Inter Tight"/>
              <a:buNone/>
              <a:defRPr sz="75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9" name="Google Shape;10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copy 2">
  <p:cSld name="TITLE_1_1_6_1">
    <p:bg>
      <p:bgPr>
        <a:solidFill>
          <a:srgbClr val="BE9B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9600" y="17967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47" name="Google Shape;47;p1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2">
  <p:cSld name="TITLE_1_1_6_2_1">
    <p:bg>
      <p:bgPr>
        <a:solidFill>
          <a:srgbClr val="BE9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None/>
              <a:defRPr sz="1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3500"/>
              <a:buFont typeface="Inter Tight"/>
              <a:buNone/>
              <a:defRPr sz="3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400"/>
              <a:buFont typeface="Inter Tight"/>
              <a:buNone/>
              <a:defRPr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●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○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500"/>
              <a:buFont typeface="Inter Tight"/>
              <a:buChar char="■"/>
              <a:defRPr sz="15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53" name="Google Shape;53;p1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54" name="Google Shape;5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+ + Subhead + copy dark">
  <p:cSld name="TITLE_1_1_6_2_1_1">
    <p:bg>
      <p:bgPr>
        <a:solidFill>
          <a:srgbClr val="242385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subTitle" idx="1"/>
          </p:nvPr>
        </p:nvSpPr>
        <p:spPr>
          <a:xfrm>
            <a:off x="459600" y="1742563"/>
            <a:ext cx="35946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500"/>
              <a:buFont typeface="Inter Tight"/>
              <a:buNone/>
              <a:defRPr sz="1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Font typeface="Helvetica Neue"/>
              <a:buNone/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459600" y="442475"/>
            <a:ext cx="4581600" cy="10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Inter Tight"/>
              <a:buNone/>
              <a:defRPr sz="35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"/>
              <a:buNone/>
              <a:defRPr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459600" y="2330125"/>
            <a:ext cx="4066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●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○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Tight"/>
              <a:buChar char="■"/>
              <a:defRPr sz="15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5" name="Google Shape;6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purple">
  <p:cSld name="TITLE_1_1_5">
    <p:bg>
      <p:bgPr>
        <a:solidFill>
          <a:srgbClr val="BE9B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white">
  <p:cSld name="TITLE_1_1_5_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3" name="Google Shape;7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dark">
  <p:cSld name="TITLE_1_1_5_1">
    <p:bg>
      <p:bgPr>
        <a:solidFill>
          <a:srgbClr val="24238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mall blue">
  <p:cSld name="TITLE_1_1_5_1_1">
    <p:bg>
      <p:bgPr>
        <a:solidFill>
          <a:srgbClr val="5370E7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>
            <a:spLocks noGrp="1"/>
          </p:cNvSpPr>
          <p:nvPr>
            <p:ph type="pic" idx="2"/>
          </p:nvPr>
        </p:nvSpPr>
        <p:spPr>
          <a:xfrm>
            <a:off x="4555000" y="0"/>
            <a:ext cx="4589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1" name="Google Shape;8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">
  <p:cSld name="TITLE_1_1_4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5" name="Google Shape;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urple">
  <p:cSld name="TITLE_1_1_4_3">
    <p:bg>
      <p:bgPr>
        <a:solidFill>
          <a:srgbClr val="BE9B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89" name="Google Shape;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lue">
  <p:cSld name="TITLE_1_1_4_2">
    <p:bg>
      <p:bgPr>
        <a:solidFill>
          <a:srgbClr val="5370E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459625" y="501675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6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3" name="Google Shape;9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dark">
  <p:cSld name="TITLE_1_1_4_1">
    <p:bg>
      <p:bgPr>
        <a:solidFill>
          <a:srgbClr val="24238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>
            <a:spLocks noGrp="1"/>
          </p:cNvSpPr>
          <p:nvPr>
            <p:ph type="pic" idx="2"/>
          </p:nvPr>
        </p:nvSpPr>
        <p:spPr>
          <a:xfrm>
            <a:off x="459600" y="536700"/>
            <a:ext cx="8220900" cy="39177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97" name="Google Shape;9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TITLE_1_1_3_1"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9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29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10000"/>
              <a:buFont typeface="Inter Tight"/>
              <a:buNone/>
              <a:defRPr sz="10000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70E7"/>
              </a:buClr>
              <a:buSzPts val="7500"/>
              <a:buFont typeface="Inter Tight"/>
              <a:buNone/>
              <a:defRPr sz="75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05" name="Google Shape;10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blue">
  <p:cSld name="TITLE_1_1_3_1_1_1">
    <p:bg>
      <p:bgPr>
        <a:solidFill>
          <a:srgbClr val="5370E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2" name="Google Shape;112;p31"/>
          <p:cNvSpPr txBox="1">
            <a:spLocks noGrp="1"/>
          </p:cNvSpPr>
          <p:nvPr>
            <p:ph type="title"/>
          </p:nvPr>
        </p:nvSpPr>
        <p:spPr>
          <a:xfrm>
            <a:off x="425600" y="509900"/>
            <a:ext cx="8220900" cy="3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10000"/>
              <a:buFont typeface="Inter Tight"/>
              <a:buNone/>
              <a:defRPr sz="100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42385"/>
              </a:buClr>
              <a:buSzPts val="7500"/>
              <a:buFont typeface="Inter Tight"/>
              <a:buNone/>
              <a:defRPr sz="75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pic>
        <p:nvPicPr>
          <p:cNvPr id="113" name="Google Shape;1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TITLE_1_1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5370E7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5370E7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16" name="Google Shape;116;p32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17" name="Google Shape;1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urple">
  <p:cSld name="TITLE_1_1_2_1">
    <p:bg>
      <p:bgPr>
        <a:solidFill>
          <a:srgbClr val="BE9B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3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1" name="Google Shape;12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dark">
  <p:cSld name="TITLE_1_1_2_1_1">
    <p:bg>
      <p:bgPr>
        <a:solidFill>
          <a:srgbClr val="24238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BE9BFF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BE9BFF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blue">
  <p:cSld name="TITLE_1_1_2_1_1_1">
    <p:bg>
      <p:bgPr>
        <a:solidFill>
          <a:srgbClr val="5370E7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35"/>
          <p:cNvSpPr txBox="1"/>
          <p:nvPr/>
        </p:nvSpPr>
        <p:spPr>
          <a:xfrm>
            <a:off x="459600" y="2192550"/>
            <a:ext cx="27102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Agenda</a:t>
            </a:r>
            <a:endParaRPr sz="5000" b="1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29" name="Google Shape;12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purple">
  <p:cSld name="TITLE_1_1_1_1">
    <p:bg>
      <p:bgPr>
        <a:solidFill>
          <a:srgbClr val="BE9B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42385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rgbClr val="242385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5" name="Google Shape;13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851" y="4763701"/>
            <a:ext cx="1657303" cy="1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o blue">
  <p:cSld name="TITLE_1_1_1_1_1">
    <p:bg>
      <p:bgPr>
        <a:solidFill>
          <a:srgbClr val="5370E7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/>
        </p:nvSpPr>
        <p:spPr>
          <a:xfrm>
            <a:off x="459600" y="4789575"/>
            <a:ext cx="8220900" cy="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rPr>
              <a:t>© The Build Fellowship 2024</a:t>
            </a:r>
            <a:endParaRPr sz="700">
              <a:solidFill>
                <a:schemeClr val="lt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pic>
        <p:nvPicPr>
          <p:cNvPr id="138" name="Google Shape;138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50" y="4764477"/>
            <a:ext cx="1649889" cy="1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">
  <p:cSld name="Blank whit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14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48" r:id="rId3"/>
    <p:sldLayoutId id="2147483650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1" r:id="rId12"/>
    <p:sldLayoutId id="2147483664" r:id="rId13"/>
    <p:sldLayoutId id="2147483676" r:id="rId14"/>
    <p:sldLayoutId id="2147483662" r:id="rId15"/>
    <p:sldLayoutId id="2147483663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3" r:id="rId32"/>
    <p:sldLayoutId id="2147483684" r:id="rId33"/>
    <p:sldLayoutId id="2147483686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"/>
          <p:cNvSpPr txBox="1"/>
          <p:nvPr/>
        </p:nvSpPr>
        <p:spPr>
          <a:xfrm>
            <a:off x="508000" y="584200"/>
            <a:ext cx="5080000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100" b="1" spc="200">
                <a:solidFill>
                  <a:srgbClr val="FFFFFF"/>
                </a:solidFill>
                <a:latin typeface="Inter Tight"/>
              </a:rPr>
              <a:t>WORKSHOP 7</a:t>
            </a:r>
          </a:p>
        </p:txBody>
      </p:sp>
      <p:sp>
        <p:nvSpPr>
          <p:cNvPr id="201" name="t"/>
          <p:cNvSpPr txBox="1"/>
          <p:nvPr/>
        </p:nvSpPr>
        <p:spPr>
          <a:xfrm>
            <a:off x="482600" y="914400"/>
            <a:ext cx="584200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latin typeface="Inter Tight"/>
              </a:rPr>
              <a:t>Recursion</a:t>
            </a:r>
          </a:p>
        </p:txBody>
      </p:sp>
      <p:sp>
        <p:nvSpPr>
          <p:cNvPr id="202" name="t"/>
          <p:cNvSpPr txBox="1"/>
          <p:nvPr/>
        </p:nvSpPr>
        <p:spPr>
          <a:xfrm>
            <a:off x="482600" y="1930400"/>
            <a:ext cx="58420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4000" b="1">
                <a:solidFill>
                  <a:srgbClr val="FFFFFF"/>
                </a:solidFill>
                <a:latin typeface="Inter Tight"/>
              </a:rPr>
              <a:t>&amp; Language Design</a:t>
            </a:r>
          </a:p>
        </p:txBody>
      </p:sp>
      <p:sp>
        <p:nvSpPr>
          <p:cNvPr id="203" name="t"/>
          <p:cNvSpPr txBox="1"/>
          <p:nvPr/>
        </p:nvSpPr>
        <p:spPr>
          <a:xfrm>
            <a:off x="508000" y="3276600"/>
            <a:ext cx="5334000" cy="381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latin typeface="Inter Tight"/>
              </a:rPr>
              <a:t>Finishing the Interpreter</a:t>
            </a:r>
          </a:p>
        </p:txBody>
      </p:sp>
      <p:sp>
        <p:nvSpPr>
          <p:cNvPr id="204" name="pl"/>
          <p:cNvSpPr/>
          <p:nvPr/>
        </p:nvSpPr>
        <p:spPr>
          <a:xfrm>
            <a:off x="6604000" y="7366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Source Code</a:t>
            </a:r>
          </a:p>
        </p:txBody>
      </p:sp>
      <p:sp>
        <p:nvSpPr>
          <p:cNvPr id="205" name="ar"/>
          <p:cNvSpPr txBox="1"/>
          <p:nvPr/>
        </p:nvSpPr>
        <p:spPr>
          <a:xfrm>
            <a:off x="6604000" y="10922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6" name="pl"/>
          <p:cNvSpPr/>
          <p:nvPr/>
        </p:nvSpPr>
        <p:spPr>
          <a:xfrm>
            <a:off x="6604000" y="14478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Characters</a:t>
            </a:r>
          </a:p>
        </p:txBody>
      </p:sp>
      <p:sp>
        <p:nvSpPr>
          <p:cNvPr id="207" name="ar"/>
          <p:cNvSpPr txBox="1"/>
          <p:nvPr/>
        </p:nvSpPr>
        <p:spPr>
          <a:xfrm>
            <a:off x="6604000" y="18034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08" name="pl"/>
          <p:cNvSpPr/>
          <p:nvPr/>
        </p:nvSpPr>
        <p:spPr>
          <a:xfrm>
            <a:off x="6604000" y="21590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Tokens</a:t>
            </a:r>
          </a:p>
        </p:txBody>
      </p:sp>
      <p:sp>
        <p:nvSpPr>
          <p:cNvPr id="209" name="ar"/>
          <p:cNvSpPr txBox="1"/>
          <p:nvPr/>
        </p:nvSpPr>
        <p:spPr>
          <a:xfrm>
            <a:off x="6604000" y="25146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0" name="pl"/>
          <p:cNvSpPr/>
          <p:nvPr/>
        </p:nvSpPr>
        <p:spPr>
          <a:xfrm>
            <a:off x="6604000" y="28702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211" name="ar"/>
          <p:cNvSpPr txBox="1"/>
          <p:nvPr/>
        </p:nvSpPr>
        <p:spPr>
          <a:xfrm>
            <a:off x="6604000" y="32258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2" name="pl"/>
          <p:cNvSpPr/>
          <p:nvPr/>
        </p:nvSpPr>
        <p:spPr>
          <a:xfrm>
            <a:off x="6604000" y="3581400"/>
            <a:ext cx="2286000" cy="381000"/>
          </a:xfrm>
          <a:prstGeom prst="round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60000"/>
              </a:srgbClr>
            </a:solidFill>
          </a:ln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213" name="ar"/>
          <p:cNvSpPr txBox="1"/>
          <p:nvPr/>
        </p:nvSpPr>
        <p:spPr>
          <a:xfrm>
            <a:off x="6604000" y="3937000"/>
            <a:ext cx="2286000" cy="355600"/>
          </a:xfrm>
          <a:prstGeom prst="rect">
            <a:avLst/>
          </a:prstGeom>
          <a:noFill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200">
                <a:solidFill>
                  <a:srgbClr val="FFFFFF">
                    <a:alpha val="75000"/>
                  </a:srgbClr>
                </a:solidFill>
              </a:rPr>
              <a:t>↓</a:t>
            </a:r>
          </a:p>
        </p:txBody>
      </p:sp>
      <p:sp>
        <p:nvSpPr>
          <p:cNvPr id="214" name="pl"/>
          <p:cNvSpPr/>
          <p:nvPr/>
        </p:nvSpPr>
        <p:spPr>
          <a:xfrm>
            <a:off x="6604000" y="4292600"/>
            <a:ext cx="2286000" cy="381000"/>
          </a:xfrm>
          <a:prstGeom prst="roundRect">
            <a:avLst/>
          </a:prstGeom>
          <a:solidFill>
            <a:srgbClr val="FFFFFF"/>
          </a:solidFill>
          <a:ln w="12700"/>
        </p:spPr>
        <p:txBody>
          <a:bodyPr rtlCol="0" anchor="ctr">
            <a:no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3B2C8F"/>
                </a:solidFill>
                <a:latin typeface="Consolas"/>
                <a:cs typeface="Consolas"/>
              </a:rPr>
              <a:t>Evaluator</a:t>
            </a:r>
          </a:p>
        </p:txBody>
      </p:sp>
    </p:spTree>
    <p:extLst>
      <p:ext uri="{BB962C8B-B14F-4D97-AF65-F5344CB8AC3E}">
        <p14:creationId xmlns:p14="http://schemas.microsoft.com/office/powerpoint/2010/main" val="403530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Today's goals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By the end of today you will:</a:t>
            </a:r>
          </a:p>
        </p:txBody>
      </p:sp>
      <p:sp>
        <p:nvSpPr>
          <p:cNvPr id="400" name="chip0"/>
          <p:cNvSpPr/>
          <p:nvPr/>
        </p:nvSpPr>
        <p:spPr>
          <a:xfrm>
            <a:off x="762000" y="14351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410" name="lbl0"/>
          <p:cNvSpPr/>
          <p:nvPr/>
        </p:nvSpPr>
        <p:spPr>
          <a:xfrm>
            <a:off x="1397000" y="14224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Finish the final core language feature</a:t>
            </a:r>
          </a:p>
        </p:txBody>
      </p:sp>
      <p:sp>
        <p:nvSpPr>
          <p:cNvPr id="401" name="chip1"/>
          <p:cNvSpPr/>
          <p:nvPr/>
        </p:nvSpPr>
        <p:spPr>
          <a:xfrm>
            <a:off x="762000" y="20447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411" name="lbl1"/>
          <p:cNvSpPr/>
          <p:nvPr/>
        </p:nvSpPr>
        <p:spPr>
          <a:xfrm>
            <a:off x="1397000" y="20320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See why recursion “just works” in our interpreter</a:t>
            </a:r>
          </a:p>
        </p:txBody>
      </p:sp>
      <p:sp>
        <p:nvSpPr>
          <p:cNvPr id="402" name="chip2"/>
          <p:cNvSpPr/>
          <p:nvPr/>
        </p:nvSpPr>
        <p:spPr>
          <a:xfrm>
            <a:off x="762000" y="26543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412" name="lbl2"/>
          <p:cNvSpPr/>
          <p:nvPr/>
        </p:nvSpPr>
        <p:spPr>
          <a:xfrm>
            <a:off x="1397000" y="26416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Learn how programming languages evolve</a:t>
            </a:r>
          </a:p>
        </p:txBody>
      </p:sp>
      <p:sp>
        <p:nvSpPr>
          <p:cNvPr id="403" name="chip3"/>
          <p:cNvSpPr/>
          <p:nvPr/>
        </p:nvSpPr>
        <p:spPr>
          <a:xfrm>
            <a:off x="762000" y="32639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413" name="lbl3"/>
          <p:cNvSpPr/>
          <p:nvPr/>
        </p:nvSpPr>
        <p:spPr>
          <a:xfrm>
            <a:off x="1397000" y="32512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Design your own language extension</a:t>
            </a:r>
          </a:p>
        </p:txBody>
      </p:sp>
      <p:sp>
        <p:nvSpPr>
          <p:cNvPr id="404" name="chip4"/>
          <p:cNvSpPr/>
          <p:nvPr/>
        </p:nvSpPr>
        <p:spPr>
          <a:xfrm>
            <a:off x="762000" y="3873500"/>
            <a:ext cx="431800" cy="431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5</a:t>
            </a:r>
          </a:p>
        </p:txBody>
      </p:sp>
      <p:sp>
        <p:nvSpPr>
          <p:cNvPr id="414" name="lbl4"/>
          <p:cNvSpPr/>
          <p:nvPr/>
        </p:nvSpPr>
        <p:spPr>
          <a:xfrm>
            <a:off x="1397000" y="3860800"/>
            <a:ext cx="718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Prepare for Workshop 8 presentations</a:t>
            </a:r>
          </a:p>
        </p:txBody>
      </p:sp>
    </p:spTree>
    <p:extLst>
      <p:ext uri="{BB962C8B-B14F-4D97-AF65-F5344CB8AC3E}">
        <p14:creationId xmlns:p14="http://schemas.microsoft.com/office/powerpoint/2010/main" val="118345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Look how far we've come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Six weeks ago we only evaluated arithmetic — now it's almost a real language</a:t>
            </a:r>
          </a:p>
        </p:txBody>
      </p:sp>
      <p:sp>
        <p:nvSpPr>
          <p:cNvPr id="510" name="line"/>
          <p:cNvSpPr/>
          <p:nvPr/>
        </p:nvSpPr>
        <p:spPr>
          <a:xfrm>
            <a:off x="635000" y="3133600"/>
            <a:ext cx="7493000" cy="38100"/>
          </a:xfrm>
          <a:prstGeom prst="rect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node0"/>
          <p:cNvSpPr/>
          <p:nvPr/>
        </p:nvSpPr>
        <p:spPr>
          <a:xfrm>
            <a:off x="546100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1" name="lb0"/>
          <p:cNvSpPr/>
          <p:nvPr/>
        </p:nvSpPr>
        <p:spPr>
          <a:xfrm>
            <a:off x="25400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Input</a:t>
            </a:r>
          </a:p>
        </p:txBody>
      </p:sp>
      <p:sp>
        <p:nvSpPr>
          <p:cNvPr id="512" name="node1"/>
          <p:cNvSpPr/>
          <p:nvPr/>
        </p:nvSpPr>
        <p:spPr>
          <a:xfrm>
            <a:off x="1378656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2" name="lb1"/>
          <p:cNvSpPr/>
          <p:nvPr/>
        </p:nvSpPr>
        <p:spPr>
          <a:xfrm>
            <a:off x="857956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Lexer</a:t>
            </a:r>
          </a:p>
        </p:txBody>
      </p:sp>
      <p:sp>
        <p:nvSpPr>
          <p:cNvPr id="513" name="node2"/>
          <p:cNvSpPr/>
          <p:nvPr/>
        </p:nvSpPr>
        <p:spPr>
          <a:xfrm>
            <a:off x="2211211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3" name="lb2"/>
          <p:cNvSpPr/>
          <p:nvPr/>
        </p:nvSpPr>
        <p:spPr>
          <a:xfrm>
            <a:off x="1690511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Parser</a:t>
            </a:r>
          </a:p>
        </p:txBody>
      </p:sp>
      <p:sp>
        <p:nvSpPr>
          <p:cNvPr id="514" name="node3"/>
          <p:cNvSpPr/>
          <p:nvPr/>
        </p:nvSpPr>
        <p:spPr>
          <a:xfrm>
            <a:off x="3043767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4" name="lb3"/>
          <p:cNvSpPr/>
          <p:nvPr/>
        </p:nvSpPr>
        <p:spPr>
          <a:xfrm>
            <a:off x="2523067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AST</a:t>
            </a:r>
          </a:p>
        </p:txBody>
      </p:sp>
      <p:sp>
        <p:nvSpPr>
          <p:cNvPr id="515" name="node4"/>
          <p:cNvSpPr/>
          <p:nvPr/>
        </p:nvSpPr>
        <p:spPr>
          <a:xfrm>
            <a:off x="3876322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5" name="lb4"/>
          <p:cNvSpPr/>
          <p:nvPr/>
        </p:nvSpPr>
        <p:spPr>
          <a:xfrm>
            <a:off x="3355622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Evaluator</a:t>
            </a:r>
          </a:p>
        </p:txBody>
      </p:sp>
      <p:sp>
        <p:nvSpPr>
          <p:cNvPr id="516" name="node5"/>
          <p:cNvSpPr/>
          <p:nvPr/>
        </p:nvSpPr>
        <p:spPr>
          <a:xfrm>
            <a:off x="4708878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6" name="lb5"/>
          <p:cNvSpPr/>
          <p:nvPr/>
        </p:nvSpPr>
        <p:spPr>
          <a:xfrm>
            <a:off x="4188178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Variables</a:t>
            </a:r>
          </a:p>
        </p:txBody>
      </p:sp>
      <p:sp>
        <p:nvSpPr>
          <p:cNvPr id="517" name="node6"/>
          <p:cNvSpPr/>
          <p:nvPr/>
        </p:nvSpPr>
        <p:spPr>
          <a:xfrm>
            <a:off x="5541433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7" name="lb6"/>
          <p:cNvSpPr/>
          <p:nvPr/>
        </p:nvSpPr>
        <p:spPr>
          <a:xfrm>
            <a:off x="5020733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Control Flow</a:t>
            </a:r>
          </a:p>
        </p:txBody>
      </p:sp>
      <p:sp>
        <p:nvSpPr>
          <p:cNvPr id="518" name="node7"/>
          <p:cNvSpPr/>
          <p:nvPr/>
        </p:nvSpPr>
        <p:spPr>
          <a:xfrm>
            <a:off x="6373989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8" name="lb7"/>
          <p:cNvSpPr/>
          <p:nvPr/>
        </p:nvSpPr>
        <p:spPr>
          <a:xfrm>
            <a:off x="5853289" y="3302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Functions</a:t>
            </a:r>
          </a:p>
        </p:txBody>
      </p:sp>
      <p:sp>
        <p:nvSpPr>
          <p:cNvPr id="519" name="node8"/>
          <p:cNvSpPr/>
          <p:nvPr/>
        </p:nvSpPr>
        <p:spPr>
          <a:xfrm>
            <a:off x="7206544" y="30861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9" name="lb8"/>
          <p:cNvSpPr/>
          <p:nvPr/>
        </p:nvSpPr>
        <p:spPr>
          <a:xfrm>
            <a:off x="6685844" y="2286000"/>
            <a:ext cx="12192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b"/>
          <a:lstStyle/>
          <a:p>
            <a:pPr algn="ctr">
              <a:buNone/>
            </a:pPr>
            <a:r>
              <a:rPr lang="en-US" sz="1100" b="1">
                <a:solidFill>
                  <a:srgbClr val="242385"/>
                </a:solidFill>
                <a:latin typeface="Consolas"/>
                <a:cs typeface="Consolas"/>
              </a:rPr>
              <a:t>Recursion</a:t>
            </a:r>
          </a:p>
        </p:txBody>
      </p:sp>
      <p:sp>
        <p:nvSpPr>
          <p:cNvPr id="520" name="node9"/>
          <p:cNvSpPr/>
          <p:nvPr/>
        </p:nvSpPr>
        <p:spPr>
          <a:xfrm>
            <a:off x="7988300" y="3035300"/>
            <a:ext cx="279400" cy="279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0" name="lb9"/>
          <p:cNvSpPr/>
          <p:nvPr/>
        </p:nvSpPr>
        <p:spPr>
          <a:xfrm>
            <a:off x="7302500" y="3302000"/>
            <a:ext cx="165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t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✨ Your Programming Language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1BB23-E40A-4E44-AA58-5405C7DDBB97}"/>
              </a:ext>
            </a:extLst>
          </p:cNvPr>
          <p:cNvSpPr txBox="1"/>
          <p:nvPr/>
        </p:nvSpPr>
        <p:spPr>
          <a:xfrm>
            <a:off x="762000" y="1524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600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Ten building blocks. One language.</a:t>
            </a:r>
          </a:p>
        </p:txBody>
      </p:sp>
    </p:spTree>
    <p:extLst>
      <p:ext uri="{BB962C8B-B14F-4D97-AF65-F5344CB8AC3E}">
        <p14:creationId xmlns:p14="http://schemas.microsoft.com/office/powerpoint/2010/main" val="3311292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You've already been using recursion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Recursion isn't new — it's been in every workshop so far</a:t>
            </a:r>
          </a:p>
        </p:txBody>
      </p:sp>
      <p:sp>
        <p:nvSpPr>
          <p:cNvPr id="700" name="banner"/>
          <p:cNvSpPr/>
          <p:nvPr/>
        </p:nvSpPr>
        <p:spPr>
          <a:xfrm>
            <a:off x="457200" y="3810000"/>
            <a:ext cx="8229600" cy="7366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Today we're not learning recursion. </a:t>
            </a:r>
            <a:r>
              <a:rPr lang="en-US" sz="1500" b="1">
                <a:solidFill>
                  <a:srgbClr val="EEFF41"/>
                </a:solidFill>
                <a:latin typeface="Inter Tight"/>
                <a:cs typeface="Inter Tight"/>
              </a:rPr>
              <a:t>We're learning how recursion fits into our language.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C95BD4-716B-2F40-BCE7-D973A1DEB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477921"/>
              </p:ext>
            </p:extLst>
          </p:nvPr>
        </p:nvGraphicFramePr>
        <p:xfrm>
          <a:off x="1016000" y="1371600"/>
          <a:ext cx="7112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145957440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118642756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Workshop</a:t>
                      </a:r>
                    </a:p>
                  </a:txBody>
                  <a:tcPr anchor="ctr">
                    <a:solidFill>
                      <a:srgbClr val="24238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Where recursion appeared</a:t>
                      </a:r>
                    </a:p>
                  </a:txBody>
                  <a:tcPr anchor="ctr">
                    <a:solidFill>
                      <a:srgbClr val="2423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67034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42385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Workshop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Tree traversal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15576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42385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Workshop 2</a:t>
                      </a:r>
                    </a:p>
                  </a:txBody>
                  <a:tcPr anchor="ctr"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Recursive AST evaluation</a:t>
                      </a:r>
                    </a:p>
                  </a:txBody>
                  <a:tcPr anchor="ctr">
                    <a:solidFill>
                      <a:srgbClr val="F2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86009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42385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Workshop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Recursive descent parser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26334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42385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Workshop 6</a:t>
                      </a:r>
                    </a:p>
                  </a:txBody>
                  <a:tcPr anchor="ctr">
                    <a:solidFill>
                      <a:srgbClr val="F2F2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Nested function calls</a:t>
                      </a:r>
                    </a:p>
                  </a:txBody>
                  <a:tcPr anchor="ctr">
                    <a:solidFill>
                      <a:srgbClr val="F2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27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58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242385"/>
                </a:solidFill>
                <a:latin typeface="Inter Tight"/>
                <a:cs typeface="Inter Tight"/>
              </a:rPr>
              <a:t>So what’s actually missing?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 surprising answer</a:t>
            </a:r>
          </a:p>
        </p:txBody>
      </p:sp>
      <p:sp>
        <p:nvSpPr>
          <p:cNvPr id="700" name="q1"/>
          <p:cNvSpPr/>
          <p:nvPr/>
        </p:nvSpPr>
        <p:spPr>
          <a:xfrm>
            <a:off x="635000" y="1524000"/>
            <a:ext cx="787400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400">
                <a:solidFill>
                  <a:srgbClr val="1A1A2E"/>
                </a:solidFill>
                <a:latin typeface="Inter Tight"/>
                <a:cs typeface="Inter Tight"/>
              </a:rPr>
              <a:t>Our language already supports functions.</a:t>
            </a:r>
          </a:p>
        </p:txBody>
      </p:sp>
      <p:sp>
        <p:nvSpPr>
          <p:cNvPr id="701" name="q2"/>
          <p:cNvSpPr/>
          <p:nvPr/>
        </p:nvSpPr>
        <p:spPr>
          <a:xfrm>
            <a:off x="635000" y="22352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 dirty="0">
                <a:solidFill>
                  <a:srgbClr val="242385"/>
                </a:solidFill>
                <a:latin typeface="Inter Tight"/>
                <a:cs typeface="Inter Tight"/>
              </a:rPr>
              <a:t>So why doesn’t recursion work yet?</a:t>
            </a:r>
          </a:p>
        </p:txBody>
      </p:sp>
      <p:sp>
        <p:nvSpPr>
          <p:cNvPr id="702" name="al"/>
          <p:cNvSpPr/>
          <p:nvPr/>
        </p:nvSpPr>
        <p:spPr>
          <a:xfrm>
            <a:off x="3302000" y="3124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300" b="1" spc="120">
                <a:solidFill>
                  <a:srgbClr val="5B5BD6"/>
                </a:solidFill>
                <a:latin typeface="Inter Tight"/>
                <a:cs typeface="Inter Tight"/>
              </a:rPr>
              <a:t>THE ANSWER</a:t>
            </a:r>
          </a:p>
        </p:txBody>
      </p:sp>
      <p:sp>
        <p:nvSpPr>
          <p:cNvPr id="703" name="rev"/>
          <p:cNvSpPr/>
          <p:nvPr/>
        </p:nvSpPr>
        <p:spPr>
          <a:xfrm>
            <a:off x="2413000" y="3454400"/>
            <a:ext cx="4318000" cy="10414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latin typeface="Inter Tight"/>
                <a:cs typeface="Inter Tight"/>
              </a:rPr>
              <a:t>Almost nothing.</a:t>
            </a:r>
          </a:p>
        </p:txBody>
      </p:sp>
    </p:spTree>
    <p:extLst>
      <p:ext uri="{BB962C8B-B14F-4D97-AF65-F5344CB8AC3E}">
        <p14:creationId xmlns:p14="http://schemas.microsoft.com/office/powerpoint/2010/main" val="161875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Recursion is just another function call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evaluator runs the same steps every time</a:t>
            </a:r>
          </a:p>
        </p:txBody>
      </p:sp>
      <p:sp>
        <p:nvSpPr>
          <p:cNvPr id="700" name="s0"/>
          <p:cNvSpPr/>
          <p:nvPr/>
        </p:nvSpPr>
        <p:spPr>
          <a:xfrm>
            <a:off x="1016000" y="1270000"/>
            <a:ext cx="3302000" cy="3810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factorial(4)</a:t>
            </a:r>
          </a:p>
        </p:txBody>
      </p:sp>
      <p:sp>
        <p:nvSpPr>
          <p:cNvPr id="710" name="ar710"/>
          <p:cNvSpPr/>
          <p:nvPr/>
        </p:nvSpPr>
        <p:spPr>
          <a:xfrm>
            <a:off x="2413000" y="16637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1" name="s1"/>
          <p:cNvSpPr/>
          <p:nvPr/>
        </p:nvSpPr>
        <p:spPr>
          <a:xfrm>
            <a:off x="1016000" y="1828800"/>
            <a:ext cx="3302000" cy="381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FunctionCall</a:t>
            </a:r>
          </a:p>
        </p:txBody>
      </p:sp>
      <p:sp>
        <p:nvSpPr>
          <p:cNvPr id="711" name="ar711"/>
          <p:cNvSpPr/>
          <p:nvPr/>
        </p:nvSpPr>
        <p:spPr>
          <a:xfrm>
            <a:off x="2413000" y="22225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2" name="s2"/>
          <p:cNvSpPr/>
          <p:nvPr/>
        </p:nvSpPr>
        <p:spPr>
          <a:xfrm>
            <a:off x="1016000" y="2387600"/>
            <a:ext cx="3302000" cy="381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evaluate()</a:t>
            </a:r>
          </a:p>
        </p:txBody>
      </p:sp>
      <p:sp>
        <p:nvSpPr>
          <p:cNvPr id="712" name="ar712"/>
          <p:cNvSpPr/>
          <p:nvPr/>
        </p:nvSpPr>
        <p:spPr>
          <a:xfrm>
            <a:off x="2413000" y="27813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3" name="s3"/>
          <p:cNvSpPr/>
          <p:nvPr/>
        </p:nvSpPr>
        <p:spPr>
          <a:xfrm>
            <a:off x="1016000" y="2946400"/>
            <a:ext cx="3302000" cy="381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  <a:cs typeface="Inter Tight"/>
              </a:rPr>
              <a:t>Create Environment</a:t>
            </a:r>
          </a:p>
        </p:txBody>
      </p:sp>
      <p:sp>
        <p:nvSpPr>
          <p:cNvPr id="713" name="ar713"/>
          <p:cNvSpPr/>
          <p:nvPr/>
        </p:nvSpPr>
        <p:spPr>
          <a:xfrm>
            <a:off x="2413000" y="3340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4" name="s4"/>
          <p:cNvSpPr/>
          <p:nvPr/>
        </p:nvSpPr>
        <p:spPr>
          <a:xfrm>
            <a:off x="1016000" y="3505200"/>
            <a:ext cx="3302000" cy="381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242385"/>
                </a:solidFill>
                <a:latin typeface="Inter Tight"/>
                <a:cs typeface="Inter Tight"/>
              </a:rPr>
              <a:t>Evaluate Body</a:t>
            </a:r>
          </a:p>
        </p:txBody>
      </p:sp>
      <p:sp>
        <p:nvSpPr>
          <p:cNvPr id="720" name="rc"/>
          <p:cNvSpPr/>
          <p:nvPr/>
        </p:nvSpPr>
        <p:spPr>
          <a:xfrm>
            <a:off x="5080000" y="1270000"/>
            <a:ext cx="3606800" cy="2616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rt"/>
          <p:cNvSpPr/>
          <p:nvPr/>
        </p:nvSpPr>
        <p:spPr>
          <a:xfrm>
            <a:off x="5232400" y="1422400"/>
            <a:ext cx="3302000" cy="3810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latin typeface="Consolas"/>
                <a:cs typeface="Consolas"/>
              </a:rPr>
              <a:t>factorial(3)</a:t>
            </a:r>
          </a:p>
        </p:txBody>
      </p:sp>
      <p:sp>
        <p:nvSpPr>
          <p:cNvPr id="722" name="ra"/>
          <p:cNvSpPr/>
          <p:nvPr/>
        </p:nvSpPr>
        <p:spPr>
          <a:xfrm>
            <a:off x="6604000" y="18542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23" name="rm"/>
          <p:cNvSpPr/>
          <p:nvPr/>
        </p:nvSpPr>
        <p:spPr>
          <a:xfrm>
            <a:off x="5232400" y="2133600"/>
            <a:ext cx="3302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Inter Tight"/>
                <a:cs typeface="Inter Tight"/>
              </a:rPr>
              <a:t>Exactly the same process.</a:t>
            </a:r>
          </a:p>
        </p:txBody>
      </p:sp>
      <p:sp>
        <p:nvSpPr>
          <p:cNvPr id="730" name="bn"/>
          <p:cNvSpPr/>
          <p:nvPr/>
        </p:nvSpPr>
        <p:spPr>
          <a:xfrm>
            <a:off x="457200" y="4038600"/>
            <a:ext cx="8229600" cy="558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The interpreter doesn’t know (or care) whether it’s calling itself.</a:t>
            </a:r>
          </a:p>
        </p:txBody>
      </p:sp>
    </p:spTree>
    <p:extLst>
      <p:ext uri="{BB962C8B-B14F-4D97-AF65-F5344CB8AC3E}">
        <p14:creationId xmlns:p14="http://schemas.microsoft.com/office/powerpoint/2010/main" val="272457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No new architecture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What we already built is exactly what recursion needs</a:t>
            </a:r>
          </a:p>
        </p:txBody>
      </p:sp>
      <p:sp>
        <p:nvSpPr>
          <p:cNvPr id="700" name="lp"/>
          <p:cNvSpPr/>
          <p:nvPr/>
        </p:nvSpPr>
        <p:spPr>
          <a:xfrm>
            <a:off x="457200" y="1320800"/>
            <a:ext cx="3810000" cy="3175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1" name="lh"/>
          <p:cNvSpPr/>
          <p:nvPr/>
        </p:nvSpPr>
        <p:spPr>
          <a:xfrm>
            <a:off x="457200" y="14732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 spc="60">
                <a:solidFill>
                  <a:srgbClr val="242385"/>
                </a:solidFill>
                <a:latin typeface="Inter Tight"/>
                <a:cs typeface="Inter Tight"/>
              </a:rPr>
              <a:t>ALREADY BUILT</a:t>
            </a:r>
          </a:p>
        </p:txBody>
      </p:sp>
      <p:sp>
        <p:nvSpPr>
          <p:cNvPr id="702" name="li"/>
          <p:cNvSpPr/>
          <p:nvPr/>
        </p:nvSpPr>
        <p:spPr>
          <a:xfrm>
            <a:off x="736600" y="1981200"/>
            <a:ext cx="3251200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0B7A44"/>
                </a:solidFill>
                <a:latin typeface="Inter Tight"/>
                <a:cs typeface="Inter Tight"/>
              </a:rPr>
              <a:t>✓  </a:t>
            </a:r>
            <a:r>
              <a:rPr lang="en-US" sz="1500">
                <a:solidFill>
                  <a:srgbClr val="1A1A2E"/>
                </a:solidFill>
                <a:latin typeface="Inter Tight"/>
                <a:cs typeface="Inter Tight"/>
              </a:rPr>
              <a:t>Function definitions</a:t>
            </a:r>
          </a:p>
          <a:p>
            <a:pPr>
              <a:buNone/>
            </a:pPr>
            <a:endParaRPr lang="en-US" sz="800"/>
          </a:p>
          <a:p>
            <a:pPr algn="l">
              <a:buNone/>
            </a:pPr>
            <a:r>
              <a:rPr lang="en-US" sz="1500" b="1">
                <a:solidFill>
                  <a:srgbClr val="0B7A44"/>
                </a:solidFill>
                <a:latin typeface="Inter Tight"/>
                <a:cs typeface="Inter Tight"/>
              </a:rPr>
              <a:t>✓  </a:t>
            </a:r>
            <a:r>
              <a:rPr lang="en-US" sz="1500">
                <a:solidFill>
                  <a:srgbClr val="1A1A2E"/>
                </a:solidFill>
                <a:latin typeface="Inter Tight"/>
                <a:cs typeface="Inter Tight"/>
              </a:rPr>
              <a:t>Function calls</a:t>
            </a:r>
          </a:p>
          <a:p>
            <a:pPr>
              <a:buNone/>
            </a:pPr>
            <a:endParaRPr lang="en-US" sz="800"/>
          </a:p>
          <a:p>
            <a:pPr algn="l">
              <a:buNone/>
            </a:pPr>
            <a:r>
              <a:rPr lang="en-US" sz="1500" b="1">
                <a:solidFill>
                  <a:srgbClr val="0B7A44"/>
                </a:solidFill>
                <a:latin typeface="Inter Tight"/>
                <a:cs typeface="Inter Tight"/>
              </a:rPr>
              <a:t>✓  </a:t>
            </a:r>
            <a:r>
              <a:rPr lang="en-US" sz="1500">
                <a:solidFill>
                  <a:srgbClr val="1A1A2E"/>
                </a:solidFill>
                <a:latin typeface="Inter Tight"/>
                <a:cs typeface="Inter Tight"/>
              </a:rPr>
              <a:t>Local environments</a:t>
            </a:r>
          </a:p>
          <a:p>
            <a:pPr>
              <a:buNone/>
            </a:pPr>
            <a:endParaRPr lang="en-US" sz="800"/>
          </a:p>
          <a:p>
            <a:pPr algn="l">
              <a:buNone/>
            </a:pPr>
            <a:r>
              <a:rPr lang="en-US" sz="1500" b="1">
                <a:solidFill>
                  <a:srgbClr val="0B7A44"/>
                </a:solidFill>
                <a:latin typeface="Inter Tight"/>
                <a:cs typeface="Inter Tight"/>
              </a:rPr>
              <a:t>✓  </a:t>
            </a:r>
            <a:r>
              <a:rPr lang="en-US" sz="1500">
                <a:solidFill>
                  <a:srgbClr val="1A1A2E"/>
                </a:solidFill>
                <a:latin typeface="Inter Tight"/>
                <a:cs typeface="Inter Tight"/>
              </a:rPr>
              <a:t>Parent environments</a:t>
            </a:r>
          </a:p>
        </p:txBody>
      </p:sp>
      <p:sp>
        <p:nvSpPr>
          <p:cNvPr id="710" name="ar"/>
          <p:cNvSpPr/>
          <p:nvPr/>
        </p:nvSpPr>
        <p:spPr>
          <a:xfrm>
            <a:off x="4318000" y="2717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20" name="rp"/>
          <p:cNvSpPr/>
          <p:nvPr/>
        </p:nvSpPr>
        <p:spPr>
          <a:xfrm>
            <a:off x="4876800" y="1320800"/>
            <a:ext cx="3810000" cy="31750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1" name="rh"/>
          <p:cNvSpPr/>
          <p:nvPr/>
        </p:nvSpPr>
        <p:spPr>
          <a:xfrm>
            <a:off x="4876800" y="14732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 spc="60">
                <a:solidFill>
                  <a:srgbClr val="B9B7FF"/>
                </a:solidFill>
                <a:latin typeface="Inter Tight"/>
                <a:cs typeface="Inter Tight"/>
              </a:rPr>
              <a:t>THEREFORE</a:t>
            </a:r>
          </a:p>
        </p:txBody>
      </p:sp>
      <p:sp>
        <p:nvSpPr>
          <p:cNvPr id="722" name="rbig"/>
          <p:cNvSpPr/>
          <p:nvPr/>
        </p:nvSpPr>
        <p:spPr>
          <a:xfrm>
            <a:off x="5130800" y="1905000"/>
            <a:ext cx="330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400" b="1">
                <a:solidFill>
                  <a:srgbClr val="FFFFFF"/>
                </a:solidFill>
                <a:latin typeface="Inter Tight"/>
                <a:cs typeface="Inter Tight"/>
              </a:rPr>
              <a:t>✓ Recursive calls</a:t>
            </a:r>
          </a:p>
        </p:txBody>
      </p:sp>
      <p:sp>
        <p:nvSpPr>
          <p:cNvPr id="723" name="rnotes"/>
          <p:cNvSpPr/>
          <p:nvPr/>
        </p:nvSpPr>
        <p:spPr>
          <a:xfrm>
            <a:off x="5130800" y="2616200"/>
            <a:ext cx="3302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latin typeface="Inter Tight"/>
                <a:cs typeface="Inter Tight"/>
              </a:rPr>
              <a:t>No new AST nodes.</a:t>
            </a:r>
          </a:p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latin typeface="Inter Tight"/>
                <a:cs typeface="Inter Tight"/>
              </a:rPr>
              <a:t>No new parser.</a:t>
            </a:r>
          </a:p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latin typeface="Inter Tight"/>
                <a:cs typeface="Inter Tight"/>
              </a:rPr>
              <a:t>No new evaluator design.</a:t>
            </a:r>
          </a:p>
          <a:p>
            <a:pPr algn="ctr">
              <a:buNone/>
            </a:pPr>
            <a:endParaRPr lang="en-US" sz="600"/>
          </a:p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Only repeated execution.</a:t>
            </a:r>
          </a:p>
        </p:txBody>
      </p:sp>
    </p:spTree>
    <p:extLst>
      <p:ext uri="{BB962C8B-B14F-4D97-AF65-F5344CB8AC3E}">
        <p14:creationId xmlns:p14="http://schemas.microsoft.com/office/powerpoint/2010/main" val="136233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What actually happens?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Every call builds its own environment, chained back to Global</a:t>
            </a:r>
          </a:p>
        </p:txBody>
      </p:sp>
      <p:sp>
        <p:nvSpPr>
          <p:cNvPr id="700" name="e0"/>
          <p:cNvSpPr/>
          <p:nvPr/>
        </p:nvSpPr>
        <p:spPr>
          <a:xfrm>
            <a:off x="762000" y="1320800"/>
            <a:ext cx="7112000" cy="4064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180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latin typeface="Consolas"/>
                <a:cs typeface="Consolas"/>
              </a:rPr>
              <a:t>Global</a:t>
            </a:r>
            <a:r>
              <a:rPr lang="en-US" sz="1200">
                <a:solidFill>
                  <a:srgbClr val="C7C6FF"/>
                </a:solidFill>
                <a:latin typeface="Inter Tight"/>
                <a:cs typeface="Inter Tight"/>
              </a:rPr>
              <a:t>   ·  independent environment</a:t>
            </a:r>
          </a:p>
        </p:txBody>
      </p:sp>
      <p:sp>
        <p:nvSpPr>
          <p:cNvPr id="710" name="a0"/>
          <p:cNvSpPr/>
          <p:nvPr/>
        </p:nvSpPr>
        <p:spPr>
          <a:xfrm>
            <a:off x="863600" y="17399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1" name="e1"/>
          <p:cNvSpPr/>
          <p:nvPr/>
        </p:nvSpPr>
        <p:spPr>
          <a:xfrm>
            <a:off x="1270000" y="1955800"/>
            <a:ext cx="6604000" cy="406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180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factorial(4)</a:t>
            </a:r>
            <a:r>
              <a:rPr lang="en-US" sz="1200">
                <a:solidFill>
                  <a:srgbClr val="6B6B8A"/>
                </a:solidFill>
                <a:latin typeface="Inter Tight"/>
                <a:cs typeface="Inter Tight"/>
              </a:rPr>
              <a:t>   ·  independent environment</a:t>
            </a:r>
          </a:p>
        </p:txBody>
      </p:sp>
      <p:sp>
        <p:nvSpPr>
          <p:cNvPr id="711" name="a1"/>
          <p:cNvSpPr/>
          <p:nvPr/>
        </p:nvSpPr>
        <p:spPr>
          <a:xfrm>
            <a:off x="1371600" y="23749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2" name="e2"/>
          <p:cNvSpPr/>
          <p:nvPr/>
        </p:nvSpPr>
        <p:spPr>
          <a:xfrm>
            <a:off x="1778000" y="2590800"/>
            <a:ext cx="6096000" cy="406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180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factorial(3)</a:t>
            </a:r>
            <a:r>
              <a:rPr lang="en-US" sz="1200">
                <a:solidFill>
                  <a:srgbClr val="6B6B8A"/>
                </a:solidFill>
                <a:latin typeface="Inter Tight"/>
                <a:cs typeface="Inter Tight"/>
              </a:rPr>
              <a:t>   ·  independent environment</a:t>
            </a:r>
          </a:p>
        </p:txBody>
      </p:sp>
      <p:sp>
        <p:nvSpPr>
          <p:cNvPr id="712" name="a2"/>
          <p:cNvSpPr/>
          <p:nvPr/>
        </p:nvSpPr>
        <p:spPr>
          <a:xfrm>
            <a:off x="1879600" y="30099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3" name="e3"/>
          <p:cNvSpPr/>
          <p:nvPr/>
        </p:nvSpPr>
        <p:spPr>
          <a:xfrm>
            <a:off x="2286000" y="3225800"/>
            <a:ext cx="5588000" cy="406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180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factorial(2)</a:t>
            </a:r>
            <a:r>
              <a:rPr lang="en-US" sz="1200">
                <a:solidFill>
                  <a:srgbClr val="6B6B8A"/>
                </a:solidFill>
                <a:latin typeface="Inter Tight"/>
                <a:cs typeface="Inter Tight"/>
              </a:rPr>
              <a:t>   ·  independent environment</a:t>
            </a:r>
          </a:p>
        </p:txBody>
      </p:sp>
      <p:sp>
        <p:nvSpPr>
          <p:cNvPr id="713" name="a3"/>
          <p:cNvSpPr/>
          <p:nvPr/>
        </p:nvSpPr>
        <p:spPr>
          <a:xfrm>
            <a:off x="2387600" y="36449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04" name="e4"/>
          <p:cNvSpPr/>
          <p:nvPr/>
        </p:nvSpPr>
        <p:spPr>
          <a:xfrm>
            <a:off x="2794000" y="3860800"/>
            <a:ext cx="5080000" cy="406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180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factorial(1)</a:t>
            </a:r>
            <a:r>
              <a:rPr lang="en-US" sz="1200">
                <a:solidFill>
                  <a:srgbClr val="6B6B8A"/>
                </a:solidFill>
                <a:latin typeface="Inter Tight"/>
                <a:cs typeface="Inter Tight"/>
              </a:rPr>
              <a:t>   ·  independent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283738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Returning back up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Each call finishes and hands its result to the one below</a:t>
            </a:r>
          </a:p>
        </p:txBody>
      </p:sp>
      <p:sp>
        <p:nvSpPr>
          <p:cNvPr id="700" name="v0"/>
          <p:cNvSpPr/>
          <p:nvPr/>
        </p:nvSpPr>
        <p:spPr>
          <a:xfrm>
            <a:off x="2667000" y="1270000"/>
            <a:ext cx="3810000" cy="5080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 dirty="0">
                <a:solidFill>
                  <a:schemeClr val="bg1"/>
                </a:solidFill>
                <a:latin typeface="Consolas"/>
                <a:cs typeface="Consolas"/>
              </a:rPr>
              <a:t>return 24   → final answer</a:t>
            </a:r>
          </a:p>
        </p:txBody>
      </p:sp>
      <p:sp>
        <p:nvSpPr>
          <p:cNvPr id="710" name="a0"/>
          <p:cNvSpPr/>
          <p:nvPr/>
        </p:nvSpPr>
        <p:spPr>
          <a:xfrm>
            <a:off x="3810000" y="1803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↑</a:t>
            </a:r>
          </a:p>
        </p:txBody>
      </p:sp>
      <p:sp>
        <p:nvSpPr>
          <p:cNvPr id="701" name="v1"/>
          <p:cNvSpPr/>
          <p:nvPr/>
        </p:nvSpPr>
        <p:spPr>
          <a:xfrm>
            <a:off x="2667000" y="2006600"/>
            <a:ext cx="3810000" cy="508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return 6</a:t>
            </a:r>
          </a:p>
        </p:txBody>
      </p:sp>
      <p:sp>
        <p:nvSpPr>
          <p:cNvPr id="711" name="a1"/>
          <p:cNvSpPr/>
          <p:nvPr/>
        </p:nvSpPr>
        <p:spPr>
          <a:xfrm>
            <a:off x="3810000" y="25400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↑</a:t>
            </a:r>
          </a:p>
        </p:txBody>
      </p:sp>
      <p:sp>
        <p:nvSpPr>
          <p:cNvPr id="702" name="v2"/>
          <p:cNvSpPr/>
          <p:nvPr/>
        </p:nvSpPr>
        <p:spPr>
          <a:xfrm>
            <a:off x="2667000" y="2743200"/>
            <a:ext cx="3810000" cy="508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return 2</a:t>
            </a:r>
          </a:p>
        </p:txBody>
      </p:sp>
      <p:sp>
        <p:nvSpPr>
          <p:cNvPr id="712" name="a2"/>
          <p:cNvSpPr/>
          <p:nvPr/>
        </p:nvSpPr>
        <p:spPr>
          <a:xfrm>
            <a:off x="3810000" y="32766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↑</a:t>
            </a:r>
          </a:p>
        </p:txBody>
      </p:sp>
      <p:sp>
        <p:nvSpPr>
          <p:cNvPr id="703" name="v3"/>
          <p:cNvSpPr/>
          <p:nvPr/>
        </p:nvSpPr>
        <p:spPr>
          <a:xfrm>
            <a:off x="2667000" y="3479800"/>
            <a:ext cx="3810000" cy="5080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242385"/>
                </a:solidFill>
                <a:latin typeface="Consolas"/>
                <a:cs typeface="Consolas"/>
              </a:rPr>
              <a:t>return 1</a:t>
            </a:r>
          </a:p>
        </p:txBody>
      </p:sp>
      <p:sp>
        <p:nvSpPr>
          <p:cNvPr id="720" name="side"/>
          <p:cNvSpPr/>
          <p:nvPr/>
        </p:nvSpPr>
        <p:spPr>
          <a:xfrm>
            <a:off x="6604000" y="1397000"/>
            <a:ext cx="1905000" cy="2692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↑</a:t>
            </a:r>
          </a:p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unwinding the stack</a:t>
            </a:r>
          </a:p>
        </p:txBody>
      </p:sp>
      <p:sp>
        <p:nvSpPr>
          <p:cNvPr id="730" name="bn"/>
          <p:cNvSpPr/>
          <p:nvPr/>
        </p:nvSpPr>
        <p:spPr>
          <a:xfrm>
            <a:off x="457200" y="4165600"/>
            <a:ext cx="8229600" cy="5080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i="1">
                <a:solidFill>
                  <a:srgbClr val="242385"/>
                </a:solidFill>
                <a:latin typeface="Inter Tight"/>
                <a:cs typeface="Inter Tight"/>
              </a:rPr>
              <a:t>Nothing magical happened — we’re simply unwinding the stack.</a:t>
            </a:r>
          </a:p>
        </p:txBody>
      </p:sp>
    </p:spTree>
    <p:extLst>
      <p:ext uri="{BB962C8B-B14F-4D97-AF65-F5344CB8AC3E}">
        <p14:creationId xmlns:p14="http://schemas.microsoft.com/office/powerpoint/2010/main" val="343586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Common bugs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four ways recursion goes wrong — and why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D39140-9EC9-8F4D-B8BD-94DEA8328161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1422400"/>
          <a:ext cx="7112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53209186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2399167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Bug</a:t>
                      </a:r>
                    </a:p>
                  </a:txBody>
                  <a:tcPr anchor="ctr">
                    <a:solidFill>
                      <a:srgbClr val="24238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Why it happens</a:t>
                      </a:r>
                    </a:p>
                  </a:txBody>
                  <a:tcPr anchor="ctr">
                    <a:solidFill>
                      <a:srgbClr val="2423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38224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42385"/>
                          </a:solidFill>
                          <a:latin typeface="Consolas"/>
                          <a:cs typeface="Consolas"/>
                        </a:rPr>
                        <a:t>Infinite recursion</a:t>
                      </a:r>
                    </a:p>
                  </a:txBody>
                  <a:tcPr anchor="ctr"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Missing base case</a:t>
                      </a:r>
                    </a:p>
                  </a:txBody>
                  <a:tcPr anchor="ctr">
                    <a:solidFill>
                      <a:srgbClr val="F4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20658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42385"/>
                          </a:solidFill>
                          <a:latin typeface="Consolas"/>
                          <a:cs typeface="Consolas"/>
                        </a:rPr>
                        <a:t>Wrong answer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Incorrect recursive 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5424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42385"/>
                          </a:solidFill>
                          <a:latin typeface="Consolas"/>
                          <a:cs typeface="Consolas"/>
                        </a:rPr>
                        <a:t>Stack overflow</a:t>
                      </a:r>
                    </a:p>
                  </a:txBody>
                  <a:tcPr anchor="ctr"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Too many calls</a:t>
                      </a:r>
                    </a:p>
                  </a:txBody>
                  <a:tcPr anchor="ctr">
                    <a:solidFill>
                      <a:srgbClr val="F4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5000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42385"/>
                          </a:solidFill>
                          <a:latin typeface="Consolas"/>
                          <a:cs typeface="Consolas"/>
                        </a:rPr>
                        <a:t>Shared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A1A2E"/>
                          </a:solidFill>
                          <a:latin typeface="Inter Tight"/>
                          <a:ea typeface="Inter Tight"/>
                          <a:cs typeface="Inter Tight"/>
                        </a:rPr>
                        <a:t>Accidentally reused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826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11880A-62CE-054E-8A70-1CD6EB13B054}"/>
              </a:ext>
            </a:extLst>
          </p:cNvPr>
          <p:cNvSpPr txBox="1"/>
          <p:nvPr/>
        </p:nvSpPr>
        <p:spPr>
          <a:xfrm>
            <a:off x="1016000" y="4191000"/>
            <a:ext cx="7112000" cy="5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b="1">
                <a:solidFill>
                  <a:srgbClr val="242385"/>
                </a:solidFill>
                <a:latin typeface="Inter Tight"/>
                <a:ea typeface="Inter Tight"/>
                <a:cs typeface="Inter Tight"/>
              </a:rPr>
              <a:t>Every one traces back to a missing base case or a broken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1106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Why recursion was the easy one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Compare what each feature actually required</a:t>
            </a:r>
          </a:p>
        </p:txBody>
      </p:sp>
      <p:sp>
        <p:nvSpPr>
          <p:cNvPr id="700" name="c1"/>
          <p:cNvSpPr/>
          <p:nvPr/>
        </p:nvSpPr>
        <p:spPr>
          <a:xfrm>
            <a:off x="457200" y="1320800"/>
            <a:ext cx="2667000" cy="248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1" name="c1h"/>
          <p:cNvSpPr/>
          <p:nvPr/>
        </p:nvSpPr>
        <p:spPr>
          <a:xfrm>
            <a:off x="457200" y="1270000"/>
            <a:ext cx="2667000" cy="457200"/>
          </a:xfrm>
          <a:prstGeom prst="roundRect">
            <a:avLst/>
          </a:prstGeom>
          <a:solidFill>
            <a:srgbClr val="EEEEF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 dirty="0">
                <a:solidFill>
                  <a:srgbClr val="242385"/>
                </a:solidFill>
                <a:latin typeface="Inter Tight"/>
                <a:cs typeface="Inter Tight"/>
              </a:rPr>
              <a:t>Variables</a:t>
            </a:r>
          </a:p>
        </p:txBody>
      </p:sp>
      <p:sp>
        <p:nvSpPr>
          <p:cNvPr id="702" name="c1b"/>
          <p:cNvSpPr/>
          <p:nvPr/>
        </p:nvSpPr>
        <p:spPr>
          <a:xfrm>
            <a:off x="558800" y="1879600"/>
            <a:ext cx="2463800" cy="185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100" b="1" spc="80">
                <a:solidFill>
                  <a:srgbClr val="5B5BD6"/>
                </a:solidFill>
                <a:latin typeface="Inter Tight"/>
                <a:cs typeface="Inter Tight"/>
              </a:rPr>
              <a:t>REQUIRED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parser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evaluator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environment</a:t>
            </a:r>
          </a:p>
        </p:txBody>
      </p:sp>
      <p:sp>
        <p:nvSpPr>
          <p:cNvPr id="710" name="c2"/>
          <p:cNvSpPr/>
          <p:nvPr/>
        </p:nvSpPr>
        <p:spPr>
          <a:xfrm>
            <a:off x="3238500" y="1320800"/>
            <a:ext cx="2667000" cy="248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c2h"/>
          <p:cNvSpPr/>
          <p:nvPr/>
        </p:nvSpPr>
        <p:spPr>
          <a:xfrm>
            <a:off x="3238500" y="1258783"/>
            <a:ext cx="2667000" cy="457200"/>
          </a:xfrm>
          <a:prstGeom prst="roundRect">
            <a:avLst/>
          </a:prstGeom>
          <a:solidFill>
            <a:srgbClr val="EEEEF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 dirty="0">
                <a:solidFill>
                  <a:srgbClr val="242385"/>
                </a:solidFill>
                <a:latin typeface="Inter Tight"/>
                <a:cs typeface="Inter Tight"/>
              </a:rPr>
              <a:t>Functions</a:t>
            </a:r>
          </a:p>
        </p:txBody>
      </p:sp>
      <p:sp>
        <p:nvSpPr>
          <p:cNvPr id="712" name="c2b"/>
          <p:cNvSpPr/>
          <p:nvPr/>
        </p:nvSpPr>
        <p:spPr>
          <a:xfrm>
            <a:off x="3340100" y="1879600"/>
            <a:ext cx="2463800" cy="185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100" b="1" spc="80">
                <a:solidFill>
                  <a:srgbClr val="5B5BD6"/>
                </a:solidFill>
                <a:latin typeface="Inter Tight"/>
                <a:cs typeface="Inter Tight"/>
              </a:rPr>
              <a:t>REQUIRED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parser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AST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evaluator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environments</a:t>
            </a:r>
          </a:p>
        </p:txBody>
      </p:sp>
      <p:sp>
        <p:nvSpPr>
          <p:cNvPr id="720" name="c3"/>
          <p:cNvSpPr/>
          <p:nvPr/>
        </p:nvSpPr>
        <p:spPr>
          <a:xfrm>
            <a:off x="6019800" y="1320800"/>
            <a:ext cx="2667000" cy="24892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1" name="c3h"/>
          <p:cNvSpPr/>
          <p:nvPr/>
        </p:nvSpPr>
        <p:spPr>
          <a:xfrm>
            <a:off x="6019800" y="1249550"/>
            <a:ext cx="2667000" cy="457200"/>
          </a:xfrm>
          <a:prstGeom prst="roundRect">
            <a:avLst/>
          </a:prstGeom>
          <a:solidFill>
            <a:srgbClr val="3B2C8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Inter Tight"/>
                <a:cs typeface="Inter Tight"/>
              </a:rPr>
              <a:t>Recursion</a:t>
            </a:r>
          </a:p>
        </p:txBody>
      </p:sp>
      <p:sp>
        <p:nvSpPr>
          <p:cNvPr id="722" name="c3b"/>
          <p:cNvSpPr/>
          <p:nvPr/>
        </p:nvSpPr>
        <p:spPr>
          <a:xfrm>
            <a:off x="6121400" y="1905000"/>
            <a:ext cx="2463800" cy="1778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Almost nothing new.</a:t>
            </a:r>
          </a:p>
          <a:p>
            <a:pPr algn="ctr">
              <a:spcBef>
                <a:spcPts val="8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Inter Tight"/>
                <a:cs typeface="Inter Tight"/>
              </a:rPr>
              <a:t>No new parser. No new AST. No new evaluator.</a:t>
            </a:r>
          </a:p>
        </p:txBody>
      </p:sp>
      <p:sp>
        <p:nvSpPr>
          <p:cNvPr id="730" name="msg"/>
          <p:cNvSpPr/>
          <p:nvPr/>
        </p:nvSpPr>
        <p:spPr>
          <a:xfrm>
            <a:off x="457200" y="3987800"/>
            <a:ext cx="8229600" cy="584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Good software design makes future features easier.</a:t>
            </a:r>
          </a:p>
        </p:txBody>
      </p:sp>
    </p:spTree>
    <p:extLst>
      <p:ext uri="{BB962C8B-B14F-4D97-AF65-F5344CB8AC3E}">
        <p14:creationId xmlns:p14="http://schemas.microsoft.com/office/powerpoint/2010/main" val="391508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1" name="eyebrow"/>
          <p:cNvSpPr/>
          <p:nvPr/>
        </p:nvSpPr>
        <p:spPr>
          <a:xfrm>
            <a:off x="762000" y="10668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 spc="300">
                <a:solidFill>
                  <a:srgbClr val="FFFFFF"/>
                </a:solidFill>
                <a:latin typeface="Inter Tight"/>
                <a:cs typeface="Inter Tight"/>
              </a:rPr>
              <a:t>CONGRATULATIONS</a:t>
            </a:r>
          </a:p>
        </p:txBody>
      </p:sp>
      <p:sp>
        <p:nvSpPr>
          <p:cNvPr id="702" name="l1"/>
          <p:cNvSpPr/>
          <p:nvPr/>
        </p:nvSpPr>
        <p:spPr>
          <a:xfrm>
            <a:off x="254000" y="1574800"/>
            <a:ext cx="863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3400">
                <a:solidFill>
                  <a:srgbClr val="FFFFFF"/>
                </a:solidFill>
                <a:latin typeface="Inter Tight"/>
                <a:cs typeface="Inter Tight"/>
              </a:rPr>
              <a:t>You have built</a:t>
            </a:r>
          </a:p>
        </p:txBody>
      </p:sp>
      <p:sp>
        <p:nvSpPr>
          <p:cNvPr id="703" name="l2"/>
          <p:cNvSpPr/>
          <p:nvPr/>
        </p:nvSpPr>
        <p:spPr>
          <a:xfrm>
            <a:off x="127000" y="2235200"/>
            <a:ext cx="8890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latin typeface="Inter Tight"/>
                <a:cs typeface="Inter Tight"/>
              </a:rPr>
              <a:t>a programming language.</a:t>
            </a:r>
          </a:p>
        </p:txBody>
      </p:sp>
      <p:sp>
        <p:nvSpPr>
          <p:cNvPr id="704" name="pill"/>
          <p:cNvSpPr/>
          <p:nvPr/>
        </p:nvSpPr>
        <p:spPr>
          <a:xfrm>
            <a:off x="2159000" y="3784600"/>
            <a:ext cx="4826000" cy="736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200" b="1">
                <a:solidFill>
                  <a:srgbClr val="242385"/>
                </a:solidFill>
                <a:latin typeface="Inter Tight"/>
                <a:cs typeface="Inter Tight"/>
              </a:rPr>
              <a:t>What would YOU add next?</a:t>
            </a:r>
          </a:p>
        </p:txBody>
      </p:sp>
    </p:spTree>
    <p:extLst>
      <p:ext uri="{BB962C8B-B14F-4D97-AF65-F5344CB8AC3E}">
        <p14:creationId xmlns:p14="http://schemas.microsoft.com/office/powerpoint/2010/main" val="2465451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Every language makes different design decisions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Same idea — code — shaped for very different jobs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397000"/>
            <a:ext cx="1905000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0" name="hdr0"/>
          <p:cNvSpPr/>
          <p:nvPr/>
        </p:nvSpPr>
        <p:spPr>
          <a:xfrm>
            <a:off x="457200" y="1397000"/>
            <a:ext cx="1905000" cy="5842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Inter Tight"/>
                <a:cs typeface="Inter Tight"/>
              </a:rPr>
              <a:t>Python</a:t>
            </a:r>
          </a:p>
        </p:txBody>
      </p:sp>
      <p:sp>
        <p:nvSpPr>
          <p:cNvPr id="720" name="focus0"/>
          <p:cNvSpPr/>
          <p:nvPr/>
        </p:nvSpPr>
        <p:spPr>
          <a:xfrm>
            <a:off x="558800" y="21844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Inter Tight"/>
                <a:cs typeface="Inter Tight"/>
              </a:rPr>
              <a:t>Readability</a:t>
            </a:r>
          </a:p>
        </p:txBody>
      </p:sp>
      <p:sp>
        <p:nvSpPr>
          <p:cNvPr id="730" name="desc0"/>
          <p:cNvSpPr/>
          <p:nvPr/>
        </p:nvSpPr>
        <p:spPr>
          <a:xfrm>
            <a:off x="584200" y="2819400"/>
            <a:ext cx="165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300">
                <a:solidFill>
                  <a:srgbClr val="555566"/>
                </a:solidFill>
                <a:latin typeface="Inter Tight"/>
                <a:cs typeface="Inter Tight"/>
              </a:rPr>
              <a:t>Clear, general-purpose code</a:t>
            </a:r>
          </a:p>
        </p:txBody>
      </p:sp>
      <p:sp>
        <p:nvSpPr>
          <p:cNvPr id="701" name="card1"/>
          <p:cNvSpPr/>
          <p:nvPr/>
        </p:nvSpPr>
        <p:spPr>
          <a:xfrm>
            <a:off x="2590800" y="1397000"/>
            <a:ext cx="1905000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hdr1"/>
          <p:cNvSpPr/>
          <p:nvPr/>
        </p:nvSpPr>
        <p:spPr>
          <a:xfrm>
            <a:off x="2590800" y="1397000"/>
            <a:ext cx="1905000" cy="5842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Inter Tight"/>
                <a:cs typeface="Inter Tight"/>
              </a:rPr>
              <a:t>SQL</a:t>
            </a:r>
          </a:p>
        </p:txBody>
      </p:sp>
      <p:sp>
        <p:nvSpPr>
          <p:cNvPr id="721" name="focus1"/>
          <p:cNvSpPr/>
          <p:nvPr/>
        </p:nvSpPr>
        <p:spPr>
          <a:xfrm>
            <a:off x="2692400" y="21844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Inter Tight"/>
                <a:cs typeface="Inter Tight"/>
              </a:rPr>
              <a:t>Queries</a:t>
            </a:r>
          </a:p>
        </p:txBody>
      </p:sp>
      <p:sp>
        <p:nvSpPr>
          <p:cNvPr id="731" name="desc1"/>
          <p:cNvSpPr/>
          <p:nvPr/>
        </p:nvSpPr>
        <p:spPr>
          <a:xfrm>
            <a:off x="2717800" y="2819400"/>
            <a:ext cx="165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300">
                <a:solidFill>
                  <a:srgbClr val="555566"/>
                </a:solidFill>
                <a:latin typeface="Inter Tight"/>
                <a:cs typeface="Inter Tight"/>
              </a:rPr>
              <a:t>Ask questions of data</a:t>
            </a:r>
          </a:p>
        </p:txBody>
      </p:sp>
      <p:sp>
        <p:nvSpPr>
          <p:cNvPr id="702" name="card2"/>
          <p:cNvSpPr/>
          <p:nvPr/>
        </p:nvSpPr>
        <p:spPr>
          <a:xfrm>
            <a:off x="4724400" y="1397000"/>
            <a:ext cx="1905000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hdr2"/>
          <p:cNvSpPr/>
          <p:nvPr/>
        </p:nvSpPr>
        <p:spPr>
          <a:xfrm>
            <a:off x="4724400" y="1397000"/>
            <a:ext cx="1905000" cy="5842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Inter Tight"/>
                <a:cs typeface="Inter Tight"/>
              </a:rPr>
              <a:t>Bash</a:t>
            </a:r>
          </a:p>
        </p:txBody>
      </p:sp>
      <p:sp>
        <p:nvSpPr>
          <p:cNvPr id="722" name="focus2"/>
          <p:cNvSpPr/>
          <p:nvPr/>
        </p:nvSpPr>
        <p:spPr>
          <a:xfrm>
            <a:off x="4826000" y="21844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Inter Tight"/>
                <a:cs typeface="Inter Tight"/>
              </a:rPr>
              <a:t>Automation</a:t>
            </a:r>
          </a:p>
        </p:txBody>
      </p:sp>
      <p:sp>
        <p:nvSpPr>
          <p:cNvPr id="732" name="desc2"/>
          <p:cNvSpPr/>
          <p:nvPr/>
        </p:nvSpPr>
        <p:spPr>
          <a:xfrm>
            <a:off x="4851400" y="2819400"/>
            <a:ext cx="165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300">
                <a:solidFill>
                  <a:srgbClr val="555566"/>
                </a:solidFill>
                <a:latin typeface="Inter Tight"/>
                <a:cs typeface="Inter Tight"/>
              </a:rPr>
              <a:t>Glue tasks together</a:t>
            </a:r>
          </a:p>
        </p:txBody>
      </p:sp>
      <p:sp>
        <p:nvSpPr>
          <p:cNvPr id="703" name="card3"/>
          <p:cNvSpPr/>
          <p:nvPr/>
        </p:nvSpPr>
        <p:spPr>
          <a:xfrm>
            <a:off x="6858000" y="1397000"/>
            <a:ext cx="1905000" cy="264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3" name="hdr3"/>
          <p:cNvSpPr/>
          <p:nvPr/>
        </p:nvSpPr>
        <p:spPr>
          <a:xfrm>
            <a:off x="6858000" y="1397000"/>
            <a:ext cx="1905000" cy="5842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Inter Tight"/>
                <a:cs typeface="Inter Tight"/>
              </a:rPr>
              <a:t>HTML</a:t>
            </a:r>
          </a:p>
        </p:txBody>
      </p:sp>
      <p:sp>
        <p:nvSpPr>
          <p:cNvPr id="723" name="focus3"/>
          <p:cNvSpPr/>
          <p:nvPr/>
        </p:nvSpPr>
        <p:spPr>
          <a:xfrm>
            <a:off x="6959600" y="21844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242385"/>
                </a:solidFill>
                <a:latin typeface="Inter Tight"/>
                <a:cs typeface="Inter Tight"/>
              </a:rPr>
              <a:t>Documents</a:t>
            </a:r>
          </a:p>
        </p:txBody>
      </p:sp>
      <p:sp>
        <p:nvSpPr>
          <p:cNvPr id="733" name="desc3"/>
          <p:cNvSpPr/>
          <p:nvPr/>
        </p:nvSpPr>
        <p:spPr>
          <a:xfrm>
            <a:off x="6985000" y="2819400"/>
            <a:ext cx="165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300">
                <a:solidFill>
                  <a:srgbClr val="555566"/>
                </a:solidFill>
                <a:latin typeface="Inter Tight"/>
                <a:cs typeface="Inter Tight"/>
              </a:rPr>
              <a:t>Structure &amp; content</a:t>
            </a:r>
          </a:p>
        </p:txBody>
      </p:sp>
      <p:sp>
        <p:nvSpPr>
          <p:cNvPr id="760" name="banner"/>
          <p:cNvSpPr/>
          <p:nvPr/>
        </p:nvSpPr>
        <p:spPr>
          <a:xfrm>
            <a:off x="457200" y="4216400"/>
            <a:ext cx="8229600" cy="5334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Programming languages are products of design decisions.</a:t>
            </a:r>
          </a:p>
        </p:txBody>
      </p:sp>
    </p:spTree>
    <p:extLst>
      <p:ext uri="{BB962C8B-B14F-4D97-AF65-F5344CB8AC3E}">
        <p14:creationId xmlns:p14="http://schemas.microsoft.com/office/powerpoint/2010/main" val="3432329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Four ways to extend a language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Every idea you have fits into one of these four buckets</a:t>
            </a:r>
          </a:p>
        </p:txBody>
      </p:sp>
      <p:sp>
        <p:nvSpPr>
          <p:cNvPr id="920" name="card0"/>
          <p:cNvSpPr/>
          <p:nvPr/>
        </p:nvSpPr>
        <p:spPr>
          <a:xfrm>
            <a:off x="457200" y="1397000"/>
            <a:ext cx="4013200" cy="13716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1" name="num0"/>
          <p:cNvSpPr/>
          <p:nvPr/>
        </p:nvSpPr>
        <p:spPr>
          <a:xfrm>
            <a:off x="660400" y="1625600"/>
            <a:ext cx="508000" cy="5080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922" name="tt0"/>
          <p:cNvSpPr/>
          <p:nvPr/>
        </p:nvSpPr>
        <p:spPr>
          <a:xfrm>
            <a:off x="1320800" y="160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Syntax</a:t>
            </a:r>
          </a:p>
        </p:txBody>
      </p:sp>
      <p:sp>
        <p:nvSpPr>
          <p:cNvPr id="923" name="dd0"/>
          <p:cNvSpPr/>
          <p:nvPr/>
        </p:nvSpPr>
        <p:spPr>
          <a:xfrm>
            <a:off x="1320800" y="2057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How your code looks</a:t>
            </a:r>
          </a:p>
        </p:txBody>
      </p:sp>
      <p:sp>
        <p:nvSpPr>
          <p:cNvPr id="930" name="card1"/>
          <p:cNvSpPr/>
          <p:nvPr/>
        </p:nvSpPr>
        <p:spPr>
          <a:xfrm>
            <a:off x="4673600" y="1397000"/>
            <a:ext cx="4013200" cy="1371600"/>
          </a:xfrm>
          <a:prstGeom prst="roundRect">
            <a:avLst/>
          </a:prstGeom>
          <a:solidFill>
            <a:srgbClr val="E6F7F9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1" name="num1"/>
          <p:cNvSpPr/>
          <p:nvPr/>
        </p:nvSpPr>
        <p:spPr>
          <a:xfrm>
            <a:off x="4876800" y="1625600"/>
            <a:ext cx="508000" cy="5080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932" name="tt1"/>
          <p:cNvSpPr/>
          <p:nvPr/>
        </p:nvSpPr>
        <p:spPr>
          <a:xfrm>
            <a:off x="5537200" y="160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Data Types</a:t>
            </a:r>
          </a:p>
        </p:txBody>
      </p:sp>
      <p:sp>
        <p:nvSpPr>
          <p:cNvPr id="933" name="dd1"/>
          <p:cNvSpPr/>
          <p:nvPr/>
        </p:nvSpPr>
        <p:spPr>
          <a:xfrm>
            <a:off x="5537200" y="20574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What values you can hold</a:t>
            </a:r>
          </a:p>
        </p:txBody>
      </p:sp>
      <p:sp>
        <p:nvSpPr>
          <p:cNvPr id="940" name="card2"/>
          <p:cNvSpPr/>
          <p:nvPr/>
        </p:nvSpPr>
        <p:spPr>
          <a:xfrm>
            <a:off x="457200" y="2895600"/>
            <a:ext cx="4013200" cy="13716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1" name="num2"/>
          <p:cNvSpPr/>
          <p:nvPr/>
        </p:nvSpPr>
        <p:spPr>
          <a:xfrm>
            <a:off x="660400" y="3124200"/>
            <a:ext cx="508000" cy="5080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942" name="tt2"/>
          <p:cNvSpPr/>
          <p:nvPr/>
        </p:nvSpPr>
        <p:spPr>
          <a:xfrm>
            <a:off x="1320800" y="3098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Runtime</a:t>
            </a:r>
          </a:p>
        </p:txBody>
      </p:sp>
      <p:sp>
        <p:nvSpPr>
          <p:cNvPr id="943" name="dd2"/>
          <p:cNvSpPr/>
          <p:nvPr/>
        </p:nvSpPr>
        <p:spPr>
          <a:xfrm>
            <a:off x="1320800" y="35560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How programs execute</a:t>
            </a:r>
          </a:p>
        </p:txBody>
      </p:sp>
      <p:sp>
        <p:nvSpPr>
          <p:cNvPr id="950" name="card3"/>
          <p:cNvSpPr/>
          <p:nvPr/>
        </p:nvSpPr>
        <p:spPr>
          <a:xfrm>
            <a:off x="4673600" y="2895600"/>
            <a:ext cx="4013200" cy="13716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num3"/>
          <p:cNvSpPr/>
          <p:nvPr/>
        </p:nvSpPr>
        <p:spPr>
          <a:xfrm>
            <a:off x="4876800" y="3124200"/>
            <a:ext cx="508000" cy="5080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952" name="tt3"/>
          <p:cNvSpPr/>
          <p:nvPr/>
        </p:nvSpPr>
        <p:spPr>
          <a:xfrm>
            <a:off x="5537200" y="30988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2000" b="1">
                <a:solidFill>
                  <a:srgbClr val="242385"/>
                </a:solidFill>
                <a:latin typeface="Inter Tight"/>
                <a:cs typeface="Inter Tight"/>
              </a:rPr>
              <a:t>Developer Experience</a:t>
            </a:r>
          </a:p>
        </p:txBody>
      </p:sp>
      <p:sp>
        <p:nvSpPr>
          <p:cNvPr id="953" name="dd3"/>
          <p:cNvSpPr/>
          <p:nvPr/>
        </p:nvSpPr>
        <p:spPr>
          <a:xfrm>
            <a:off x="5537200" y="35560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Tooling that makes it pleasant</a:t>
            </a:r>
          </a:p>
        </p:txBody>
      </p:sp>
      <p:sp>
        <p:nvSpPr>
          <p:cNvPr id="990" name="note"/>
          <p:cNvSpPr/>
          <p:nvPr/>
        </p:nvSpPr>
        <p:spPr>
          <a:xfrm>
            <a:off x="457200" y="4368800"/>
            <a:ext cx="822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 i="1">
                <a:solidFill>
                  <a:srgbClr val="5B5BD6"/>
                </a:solidFill>
                <a:latin typeface="Inter Tight"/>
                <a:cs typeface="Inter Tight"/>
              </a:rPr>
              <a:t>Everything fits somewhere.</a:t>
            </a:r>
          </a:p>
        </p:txBody>
      </p:sp>
    </p:spTree>
    <p:extLst>
      <p:ext uri="{BB962C8B-B14F-4D97-AF65-F5344CB8AC3E}">
        <p14:creationId xmlns:p14="http://schemas.microsoft.com/office/powerpoint/2010/main" val="2615877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Category 1: New syntax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Same behavior, a grammar of your own</a:t>
            </a:r>
          </a:p>
        </p:txBody>
      </p:sp>
      <p:sp>
        <p:nvSpPr>
          <p:cNvPr id="700" name="h1"/>
          <p:cNvSpPr/>
          <p:nvPr/>
        </p:nvSpPr>
        <p:spPr>
          <a:xfrm>
            <a:off x="457200" y="12446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78909C"/>
                </a:solidFill>
                <a:latin typeface="Inter Tight"/>
                <a:cs typeface="Inter Tight"/>
              </a:rPr>
              <a:t>PYTHON</a:t>
            </a:r>
          </a:p>
        </p:txBody>
      </p:sp>
      <p:sp>
        <p:nvSpPr>
          <p:cNvPr id="701" name="h2"/>
          <p:cNvSpPr/>
          <p:nvPr/>
        </p:nvSpPr>
        <p:spPr>
          <a:xfrm>
            <a:off x="4521200" y="1244600"/>
            <a:ext cx="4165600" cy="25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242385"/>
                </a:solidFill>
                <a:latin typeface="Inter Tight"/>
                <a:cs typeface="Inter Tight"/>
              </a:rPr>
              <a:t>YOUR LANGUAGE</a:t>
            </a:r>
          </a:p>
        </p:txBody>
      </p:sp>
      <p:sp>
        <p:nvSpPr>
          <p:cNvPr id="710" name="pl0"/>
          <p:cNvSpPr/>
          <p:nvPr/>
        </p:nvSpPr>
        <p:spPr>
          <a:xfrm>
            <a:off x="457200" y="1549400"/>
            <a:ext cx="3429000" cy="736600"/>
          </a:xfrm>
          <a:prstGeom prst="roundRect">
            <a:avLst/>
          </a:prstGeom>
          <a:solidFill>
            <a:srgbClr val="F4F4F6"/>
          </a:solidFill>
          <a:ln>
            <a:noFill/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555566"/>
                </a:solidFill>
                <a:latin typeface="Consolas"/>
                <a:cs typeface="Consolas"/>
              </a:rPr>
              <a:t>while hp &gt; 0:</a:t>
            </a:r>
          </a:p>
        </p:txBody>
      </p:sp>
      <p:sp>
        <p:nvSpPr>
          <p:cNvPr id="720" name="ar0"/>
          <p:cNvSpPr/>
          <p:nvPr/>
        </p:nvSpPr>
        <p:spPr>
          <a:xfrm>
            <a:off x="3911600" y="1549400"/>
            <a:ext cx="558800" cy="736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30" name="nl0"/>
          <p:cNvSpPr/>
          <p:nvPr/>
        </p:nvSpPr>
        <p:spPr>
          <a:xfrm>
            <a:off x="4521200" y="1549400"/>
            <a:ext cx="4165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repeat until hp &lt;= 0 {</a:t>
            </a:r>
          </a:p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711" name="pl1"/>
          <p:cNvSpPr/>
          <p:nvPr/>
        </p:nvSpPr>
        <p:spPr>
          <a:xfrm>
            <a:off x="457200" y="2438400"/>
            <a:ext cx="3429000" cy="736600"/>
          </a:xfrm>
          <a:prstGeom prst="roundRect">
            <a:avLst/>
          </a:prstGeom>
          <a:solidFill>
            <a:srgbClr val="F4F4F6"/>
          </a:solidFill>
          <a:ln>
            <a:noFill/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555566"/>
                </a:solidFill>
                <a:latin typeface="Consolas"/>
                <a:cs typeface="Consolas"/>
              </a:rPr>
              <a:t>for i in range(5):</a:t>
            </a:r>
          </a:p>
        </p:txBody>
      </p:sp>
      <p:sp>
        <p:nvSpPr>
          <p:cNvPr id="721" name="ar1"/>
          <p:cNvSpPr/>
          <p:nvPr/>
        </p:nvSpPr>
        <p:spPr>
          <a:xfrm>
            <a:off x="3911600" y="2438400"/>
            <a:ext cx="558800" cy="736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31" name="nl1"/>
          <p:cNvSpPr/>
          <p:nvPr/>
        </p:nvSpPr>
        <p:spPr>
          <a:xfrm>
            <a:off x="4521200" y="2438400"/>
            <a:ext cx="4165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repeat 5 {</a:t>
            </a:r>
          </a:p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712" name="pl2"/>
          <p:cNvSpPr/>
          <p:nvPr/>
        </p:nvSpPr>
        <p:spPr>
          <a:xfrm>
            <a:off x="457200" y="3327400"/>
            <a:ext cx="3429000" cy="736600"/>
          </a:xfrm>
          <a:prstGeom prst="roundRect">
            <a:avLst/>
          </a:prstGeom>
          <a:solidFill>
            <a:srgbClr val="F4F4F6"/>
          </a:solidFill>
          <a:ln>
            <a:noFill/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555566"/>
                </a:solidFill>
                <a:latin typeface="Consolas"/>
                <a:cs typeface="Consolas"/>
              </a:rPr>
              <a:t>if score &gt; 90:</a:t>
            </a:r>
          </a:p>
        </p:txBody>
      </p:sp>
      <p:sp>
        <p:nvSpPr>
          <p:cNvPr id="722" name="ar2"/>
          <p:cNvSpPr/>
          <p:nvPr/>
        </p:nvSpPr>
        <p:spPr>
          <a:xfrm>
            <a:off x="3911600" y="3327400"/>
            <a:ext cx="558800" cy="736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32" name="nl2"/>
          <p:cNvSpPr/>
          <p:nvPr/>
        </p:nvSpPr>
        <p:spPr>
          <a:xfrm>
            <a:off x="4521200" y="3327400"/>
            <a:ext cx="4165600" cy="736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7200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unless score &lt;= 90 {</a:t>
            </a:r>
          </a:p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740" name="banner"/>
          <p:cNvSpPr/>
          <p:nvPr/>
        </p:nvSpPr>
        <p:spPr>
          <a:xfrm>
            <a:off x="457200" y="4241800"/>
            <a:ext cx="8229600" cy="5080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7200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Programming languages don’t have to look like Python.</a:t>
            </a:r>
          </a:p>
        </p:txBody>
      </p:sp>
    </p:spTree>
    <p:extLst>
      <p:ext uri="{BB962C8B-B14F-4D97-AF65-F5344CB8AC3E}">
        <p14:creationId xmlns:p14="http://schemas.microsoft.com/office/powerpoint/2010/main" val="3018020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Category 2: New programming constructs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New ways to express logic — not just new words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422400"/>
            <a:ext cx="1905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hd0"/>
          <p:cNvSpPr/>
          <p:nvPr/>
        </p:nvSpPr>
        <p:spPr>
          <a:xfrm>
            <a:off x="457200" y="1422400"/>
            <a:ext cx="1905000" cy="533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Pattern Matching</a:t>
            </a:r>
          </a:p>
        </p:txBody>
      </p:sp>
      <p:sp>
        <p:nvSpPr>
          <p:cNvPr id="740" name="cd0"/>
          <p:cNvSpPr/>
          <p:nvPr/>
        </p:nvSpPr>
        <p:spPr>
          <a:xfrm>
            <a:off x="482600" y="2082800"/>
            <a:ext cx="1854200" cy="195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match x {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  1 -&gt; ...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  _ -&gt; ...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701" name="card1"/>
          <p:cNvSpPr/>
          <p:nvPr/>
        </p:nvSpPr>
        <p:spPr>
          <a:xfrm>
            <a:off x="2565400" y="1422400"/>
            <a:ext cx="1905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hd1"/>
          <p:cNvSpPr/>
          <p:nvPr/>
        </p:nvSpPr>
        <p:spPr>
          <a:xfrm>
            <a:off x="2565400" y="1422400"/>
            <a:ext cx="1905000" cy="5334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Pipeline</a:t>
            </a:r>
          </a:p>
        </p:txBody>
      </p:sp>
      <p:sp>
        <p:nvSpPr>
          <p:cNvPr id="741" name="cd1"/>
          <p:cNvSpPr/>
          <p:nvPr/>
        </p:nvSpPr>
        <p:spPr>
          <a:xfrm>
            <a:off x="2590800" y="2082800"/>
            <a:ext cx="1854200" cy="195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value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  |&gt; f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  |&gt; g</a:t>
            </a:r>
          </a:p>
        </p:txBody>
      </p:sp>
      <p:sp>
        <p:nvSpPr>
          <p:cNvPr id="702" name="card2"/>
          <p:cNvSpPr/>
          <p:nvPr/>
        </p:nvSpPr>
        <p:spPr>
          <a:xfrm>
            <a:off x="4673600" y="1422400"/>
            <a:ext cx="1905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hd2"/>
          <p:cNvSpPr/>
          <p:nvPr/>
        </p:nvSpPr>
        <p:spPr>
          <a:xfrm>
            <a:off x="4673600" y="1422400"/>
            <a:ext cx="1905000" cy="5334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Lambda</a:t>
            </a:r>
          </a:p>
        </p:txBody>
      </p:sp>
      <p:sp>
        <p:nvSpPr>
          <p:cNvPr id="742" name="cd2"/>
          <p:cNvSpPr/>
          <p:nvPr/>
        </p:nvSpPr>
        <p:spPr>
          <a:xfrm>
            <a:off x="4699000" y="2082800"/>
            <a:ext cx="1854200" cy="195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(x) -&gt; x * x</a:t>
            </a:r>
          </a:p>
        </p:txBody>
      </p:sp>
      <p:sp>
        <p:nvSpPr>
          <p:cNvPr id="703" name="card3"/>
          <p:cNvSpPr/>
          <p:nvPr/>
        </p:nvSpPr>
        <p:spPr>
          <a:xfrm>
            <a:off x="6781800" y="1422400"/>
            <a:ext cx="1905000" cy="271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hd3"/>
          <p:cNvSpPr/>
          <p:nvPr/>
        </p:nvSpPr>
        <p:spPr>
          <a:xfrm>
            <a:off x="6781800" y="1422400"/>
            <a:ext cx="1905000" cy="5334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Switch</a:t>
            </a:r>
          </a:p>
        </p:txBody>
      </p:sp>
      <p:sp>
        <p:nvSpPr>
          <p:cNvPr id="743" name="cd3"/>
          <p:cNvSpPr/>
          <p:nvPr/>
        </p:nvSpPr>
        <p:spPr>
          <a:xfrm>
            <a:off x="6807200" y="2082800"/>
            <a:ext cx="1854200" cy="195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switch x {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  case 1: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  default:</a:t>
            </a:r>
          </a:p>
          <a:p>
            <a:pPr algn="l">
              <a:buNone/>
            </a:pPr>
            <a:r>
              <a:rPr lang="en-US" sz="1300">
                <a:solidFill>
                  <a:srgbClr val="242385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4755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Category 3: New data types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Give your language richer values to work with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473200"/>
            <a:ext cx="19050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h0"/>
          <p:cNvSpPr/>
          <p:nvPr/>
        </p:nvSpPr>
        <p:spPr>
          <a:xfrm>
            <a:off x="457200" y="1473200"/>
            <a:ext cx="1905000" cy="5588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Strings</a:t>
            </a:r>
          </a:p>
        </p:txBody>
      </p:sp>
      <p:sp>
        <p:nvSpPr>
          <p:cNvPr id="740" name="ex0"/>
          <p:cNvSpPr/>
          <p:nvPr/>
        </p:nvSpPr>
        <p:spPr>
          <a:xfrm>
            <a:off x="558800" y="2260600"/>
            <a:ext cx="1701800" cy="889000"/>
          </a:xfrm>
          <a:prstGeom prst="roundRect">
            <a:avLst/>
          </a:prstGeom>
          <a:solidFill>
            <a:srgbClr val="F4F3FC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"hello"</a:t>
            </a:r>
          </a:p>
        </p:txBody>
      </p:sp>
      <p:sp>
        <p:nvSpPr>
          <p:cNvPr id="760" name="d0"/>
          <p:cNvSpPr/>
          <p:nvPr/>
        </p:nvSpPr>
        <p:spPr>
          <a:xfrm>
            <a:off x="533400" y="33274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300">
                <a:solidFill>
                  <a:srgbClr val="595959"/>
                </a:solidFill>
                <a:latin typeface="Inter Tight"/>
                <a:cs typeface="Inter Tight"/>
              </a:rPr>
              <a:t>text</a:t>
            </a:r>
          </a:p>
        </p:txBody>
      </p:sp>
      <p:sp>
        <p:nvSpPr>
          <p:cNvPr id="701" name="card1"/>
          <p:cNvSpPr/>
          <p:nvPr/>
        </p:nvSpPr>
        <p:spPr>
          <a:xfrm>
            <a:off x="2565400" y="1473200"/>
            <a:ext cx="19050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h1"/>
          <p:cNvSpPr/>
          <p:nvPr/>
        </p:nvSpPr>
        <p:spPr>
          <a:xfrm>
            <a:off x="2565400" y="1473200"/>
            <a:ext cx="1905000" cy="5588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Arrays</a:t>
            </a:r>
          </a:p>
        </p:txBody>
      </p:sp>
      <p:sp>
        <p:nvSpPr>
          <p:cNvPr id="741" name="ex1"/>
          <p:cNvSpPr/>
          <p:nvPr/>
        </p:nvSpPr>
        <p:spPr>
          <a:xfrm>
            <a:off x="2667000" y="2260600"/>
            <a:ext cx="1701800" cy="889000"/>
          </a:xfrm>
          <a:prstGeom prst="roundRect">
            <a:avLst/>
          </a:prstGeom>
          <a:solidFill>
            <a:srgbClr val="F4F3FC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[1, 2, 3]</a:t>
            </a:r>
          </a:p>
        </p:txBody>
      </p:sp>
      <p:sp>
        <p:nvSpPr>
          <p:cNvPr id="761" name="d1"/>
          <p:cNvSpPr/>
          <p:nvPr/>
        </p:nvSpPr>
        <p:spPr>
          <a:xfrm>
            <a:off x="2641600" y="33274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300">
                <a:solidFill>
                  <a:srgbClr val="595959"/>
                </a:solidFill>
                <a:latin typeface="Inter Tight"/>
                <a:cs typeface="Inter Tight"/>
              </a:rPr>
              <a:t>ordered list</a:t>
            </a:r>
          </a:p>
        </p:txBody>
      </p:sp>
      <p:sp>
        <p:nvSpPr>
          <p:cNvPr id="702" name="card2"/>
          <p:cNvSpPr/>
          <p:nvPr/>
        </p:nvSpPr>
        <p:spPr>
          <a:xfrm>
            <a:off x="4673600" y="1473200"/>
            <a:ext cx="19050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h2"/>
          <p:cNvSpPr/>
          <p:nvPr/>
        </p:nvSpPr>
        <p:spPr>
          <a:xfrm>
            <a:off x="4673600" y="1473200"/>
            <a:ext cx="1905000" cy="5588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Dictionary</a:t>
            </a:r>
          </a:p>
        </p:txBody>
      </p:sp>
      <p:sp>
        <p:nvSpPr>
          <p:cNvPr id="742" name="ex2"/>
          <p:cNvSpPr/>
          <p:nvPr/>
        </p:nvSpPr>
        <p:spPr>
          <a:xfrm>
            <a:off x="4775200" y="2260600"/>
            <a:ext cx="1701800" cy="889000"/>
          </a:xfrm>
          <a:prstGeom prst="roundRect">
            <a:avLst/>
          </a:prstGeom>
          <a:solidFill>
            <a:srgbClr val="F4F3FC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{ a: 1 }</a:t>
            </a:r>
          </a:p>
        </p:txBody>
      </p:sp>
      <p:sp>
        <p:nvSpPr>
          <p:cNvPr id="762" name="d2"/>
          <p:cNvSpPr/>
          <p:nvPr/>
        </p:nvSpPr>
        <p:spPr>
          <a:xfrm>
            <a:off x="4749800" y="33274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300">
                <a:solidFill>
                  <a:srgbClr val="595959"/>
                </a:solidFill>
                <a:latin typeface="Inter Tight"/>
                <a:cs typeface="Inter Tight"/>
              </a:rPr>
              <a:t>key → value</a:t>
            </a:r>
          </a:p>
        </p:txBody>
      </p:sp>
      <p:sp>
        <p:nvSpPr>
          <p:cNvPr id="703" name="card3"/>
          <p:cNvSpPr/>
          <p:nvPr/>
        </p:nvSpPr>
        <p:spPr>
          <a:xfrm>
            <a:off x="6781800" y="1473200"/>
            <a:ext cx="1905000" cy="2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h3"/>
          <p:cNvSpPr/>
          <p:nvPr/>
        </p:nvSpPr>
        <p:spPr>
          <a:xfrm>
            <a:off x="6781800" y="1473200"/>
            <a:ext cx="1905000" cy="5588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Objects</a:t>
            </a:r>
          </a:p>
        </p:txBody>
      </p:sp>
      <p:sp>
        <p:nvSpPr>
          <p:cNvPr id="743" name="ex3"/>
          <p:cNvSpPr/>
          <p:nvPr/>
        </p:nvSpPr>
        <p:spPr>
          <a:xfrm>
            <a:off x="6883400" y="2260600"/>
            <a:ext cx="1701800" cy="889000"/>
          </a:xfrm>
          <a:prstGeom prst="roundRect">
            <a:avLst/>
          </a:prstGeom>
          <a:solidFill>
            <a:srgbClr val="F4F3FC"/>
          </a:solidFill>
          <a:ln w="12700">
            <a:solidFill>
              <a:srgbClr val="5B5BD6"/>
            </a:solidFill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000" b="1">
                <a:solidFill>
                  <a:srgbClr val="242385"/>
                </a:solidFill>
                <a:latin typeface="Consolas"/>
                <a:cs typeface="Consolas"/>
              </a:rPr>
              <a:t>obj.field</a:t>
            </a:r>
          </a:p>
        </p:txBody>
      </p:sp>
      <p:sp>
        <p:nvSpPr>
          <p:cNvPr id="763" name="d3"/>
          <p:cNvSpPr/>
          <p:nvPr/>
        </p:nvSpPr>
        <p:spPr>
          <a:xfrm>
            <a:off x="6858000" y="3327400"/>
            <a:ext cx="175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300">
                <a:solidFill>
                  <a:srgbClr val="595959"/>
                </a:solidFill>
                <a:latin typeface="Inter Tight"/>
                <a:cs typeface="Inter Tight"/>
              </a:rPr>
              <a:t>grouped fields</a:t>
            </a:r>
          </a:p>
        </p:txBody>
      </p:sp>
    </p:spTree>
    <p:extLst>
      <p:ext uri="{BB962C8B-B14F-4D97-AF65-F5344CB8AC3E}">
        <p14:creationId xmlns:p14="http://schemas.microsoft.com/office/powerpoint/2010/main" val="855884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Category 4: Domain-specific languages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A DSL does one job extremely well — its whole vocabulary is the domain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498600"/>
            <a:ext cx="1905000" cy="259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ico0"/>
          <p:cNvSpPr/>
          <p:nvPr/>
        </p:nvSpPr>
        <p:spPr>
          <a:xfrm>
            <a:off x="457200" y="1676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0" name="nm0"/>
          <p:cNvSpPr/>
          <p:nvPr/>
        </p:nvSpPr>
        <p:spPr>
          <a:xfrm>
            <a:off x="457200" y="231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4285F4"/>
                </a:solidFill>
                <a:latin typeface="Inter Tight"/>
                <a:cs typeface="Inter Tight"/>
              </a:rPr>
              <a:t>Robot</a:t>
            </a:r>
          </a:p>
        </p:txBody>
      </p:sp>
      <p:sp>
        <p:nvSpPr>
          <p:cNvPr id="740" name="cd0"/>
          <p:cNvSpPr/>
          <p:nvPr/>
        </p:nvSpPr>
        <p:spPr>
          <a:xfrm>
            <a:off x="609600" y="2717800"/>
            <a:ext cx="1600200" cy="1219200"/>
          </a:xfrm>
          <a:prstGeom prst="roundRect">
            <a:avLst/>
          </a:prstGeom>
          <a:solidFill>
            <a:srgbClr val="E3F0F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forward()</a:t>
            </a:r>
          </a:p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turn()</a:t>
            </a:r>
          </a:p>
        </p:txBody>
      </p:sp>
      <p:sp>
        <p:nvSpPr>
          <p:cNvPr id="701" name="card1"/>
          <p:cNvSpPr/>
          <p:nvPr/>
        </p:nvSpPr>
        <p:spPr>
          <a:xfrm>
            <a:off x="2565400" y="1498600"/>
            <a:ext cx="1905000" cy="259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ico1"/>
          <p:cNvSpPr/>
          <p:nvPr/>
        </p:nvSpPr>
        <p:spPr>
          <a:xfrm>
            <a:off x="2565400" y="1676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nm1"/>
          <p:cNvSpPr/>
          <p:nvPr/>
        </p:nvSpPr>
        <p:spPr>
          <a:xfrm>
            <a:off x="2565400" y="231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E8710A"/>
                </a:solidFill>
                <a:latin typeface="Inter Tight"/>
                <a:cs typeface="Inter Tight"/>
              </a:rPr>
              <a:t>Cooking</a:t>
            </a:r>
          </a:p>
        </p:txBody>
      </p:sp>
      <p:sp>
        <p:nvSpPr>
          <p:cNvPr id="741" name="cd1"/>
          <p:cNvSpPr/>
          <p:nvPr/>
        </p:nvSpPr>
        <p:spPr>
          <a:xfrm>
            <a:off x="2717800" y="2717800"/>
            <a:ext cx="1600200" cy="1219200"/>
          </a:xfrm>
          <a:prstGeom prst="roundRect">
            <a:avLst/>
          </a:prstGeom>
          <a:solidFill>
            <a:srgbClr val="FFF1E0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mix</a:t>
            </a:r>
          </a:p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bake</a:t>
            </a:r>
          </a:p>
        </p:txBody>
      </p:sp>
      <p:sp>
        <p:nvSpPr>
          <p:cNvPr id="702" name="card2"/>
          <p:cNvSpPr/>
          <p:nvPr/>
        </p:nvSpPr>
        <p:spPr>
          <a:xfrm>
            <a:off x="4673600" y="1498600"/>
            <a:ext cx="1905000" cy="259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ico2"/>
          <p:cNvSpPr/>
          <p:nvPr/>
        </p:nvSpPr>
        <p:spPr>
          <a:xfrm>
            <a:off x="4673600" y="1676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2" name="nm2"/>
          <p:cNvSpPr/>
          <p:nvPr/>
        </p:nvSpPr>
        <p:spPr>
          <a:xfrm>
            <a:off x="4673600" y="231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5B5BD6"/>
                </a:solidFill>
                <a:latin typeface="Inter Tight"/>
                <a:cs typeface="Inter Tight"/>
              </a:rPr>
              <a:t>Game</a:t>
            </a:r>
          </a:p>
        </p:txBody>
      </p:sp>
      <p:sp>
        <p:nvSpPr>
          <p:cNvPr id="742" name="cd2"/>
          <p:cNvSpPr/>
          <p:nvPr/>
        </p:nvSpPr>
        <p:spPr>
          <a:xfrm>
            <a:off x="4826000" y="2717800"/>
            <a:ext cx="1600200" cy="1219200"/>
          </a:xfrm>
          <a:prstGeom prst="roundRect">
            <a:avLst/>
          </a:prstGeom>
          <a:solidFill>
            <a:srgbClr val="F0EEF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spawn</a:t>
            </a:r>
          </a:p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heal</a:t>
            </a:r>
          </a:p>
        </p:txBody>
      </p:sp>
      <p:sp>
        <p:nvSpPr>
          <p:cNvPr id="703" name="card3"/>
          <p:cNvSpPr/>
          <p:nvPr/>
        </p:nvSpPr>
        <p:spPr>
          <a:xfrm>
            <a:off x="6781800" y="1498600"/>
            <a:ext cx="1905000" cy="259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ico3"/>
          <p:cNvSpPr/>
          <p:nvPr/>
        </p:nvSpPr>
        <p:spPr>
          <a:xfrm>
            <a:off x="6781800" y="16764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3" name="nm3"/>
          <p:cNvSpPr/>
          <p:nvPr/>
        </p:nvSpPr>
        <p:spPr>
          <a:xfrm>
            <a:off x="6781800" y="231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0097A7"/>
                </a:solidFill>
                <a:latin typeface="Inter Tight"/>
                <a:cs typeface="Inter Tight"/>
              </a:rPr>
              <a:t>Calendar</a:t>
            </a:r>
          </a:p>
        </p:txBody>
      </p:sp>
      <p:sp>
        <p:nvSpPr>
          <p:cNvPr id="743" name="cd3"/>
          <p:cNvSpPr/>
          <p:nvPr/>
        </p:nvSpPr>
        <p:spPr>
          <a:xfrm>
            <a:off x="6934200" y="2717800"/>
            <a:ext cx="1600200" cy="1219200"/>
          </a:xfrm>
          <a:prstGeom prst="roundRect">
            <a:avLst/>
          </a:prstGeom>
          <a:solidFill>
            <a:srgbClr val="E6F7F9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every</a:t>
            </a:r>
          </a:p>
          <a:p>
            <a:pPr algn="ctr">
              <a:buNone/>
            </a:pPr>
            <a:r>
              <a:rPr lang="en-US" sz="1500" b="1">
                <a:solidFill>
                  <a:srgbClr val="242385"/>
                </a:solidFill>
                <a:latin typeface="Consolas"/>
                <a:cs typeface="Consolas"/>
              </a:rPr>
              <a:t>Monday</a:t>
            </a:r>
          </a:p>
        </p:txBody>
      </p:sp>
      <p:pic>
        <p:nvPicPr>
          <p:cNvPr id="744" name="Graphic 744" descr="Robo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00" y="1676400"/>
            <a:ext cx="508000" cy="508000"/>
          </a:xfrm>
          <a:prstGeom prst="rect">
            <a:avLst/>
          </a:prstGeom>
        </p:spPr>
      </p:pic>
      <p:pic>
        <p:nvPicPr>
          <p:cNvPr id="745" name="Graphic 745" descr="Cook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3900" y="1676400"/>
            <a:ext cx="508000" cy="508000"/>
          </a:xfrm>
          <a:prstGeom prst="rect">
            <a:avLst/>
          </a:prstGeom>
        </p:spPr>
      </p:pic>
      <p:pic>
        <p:nvPicPr>
          <p:cNvPr id="746" name="Graphic 746" descr="Calend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0300" y="1676400"/>
            <a:ext cx="508000" cy="508000"/>
          </a:xfrm>
          <a:prstGeom prst="rect">
            <a:avLst/>
          </a:prstGeom>
        </p:spPr>
      </p:pic>
      <p:pic>
        <p:nvPicPr>
          <p:cNvPr id="747" name="Graphic 747" descr="Gam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2100" y="16764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40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Programming languages can look like anything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The same interpreter can drive wildly different syntax</a:t>
            </a:r>
          </a:p>
        </p:txBody>
      </p:sp>
      <p:sp>
        <p:nvSpPr>
          <p:cNvPr id="710" name="t710"/>
          <p:cNvSpPr/>
          <p:nvPr/>
        </p:nvSpPr>
        <p:spPr>
          <a:xfrm>
            <a:off x="457200" y="1422400"/>
            <a:ext cx="2603500" cy="13716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n710"/>
          <p:cNvSpPr/>
          <p:nvPr/>
        </p:nvSpPr>
        <p:spPr>
          <a:xfrm>
            <a:off x="457200" y="1574800"/>
            <a:ext cx="26035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200" b="1" spc="60">
                <a:solidFill>
                  <a:srgbClr val="4285F4"/>
                </a:solidFill>
                <a:latin typeface="Inter Tight"/>
                <a:cs typeface="Inter Tight"/>
              </a:rPr>
              <a:t>EMOJI</a:t>
            </a:r>
          </a:p>
        </p:txBody>
      </p:sp>
      <p:sp>
        <p:nvSpPr>
          <p:cNvPr id="712" name="e710"/>
          <p:cNvSpPr/>
          <p:nvPr/>
        </p:nvSpPr>
        <p:spPr>
          <a:xfrm>
            <a:off x="558800" y="1854200"/>
            <a:ext cx="24003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🔁   📢</a:t>
            </a:r>
          </a:p>
        </p:txBody>
      </p:sp>
      <p:sp>
        <p:nvSpPr>
          <p:cNvPr id="713" name="t713"/>
          <p:cNvSpPr/>
          <p:nvPr/>
        </p:nvSpPr>
        <p:spPr>
          <a:xfrm>
            <a:off x="3263900" y="1422400"/>
            <a:ext cx="2603500" cy="1371600"/>
          </a:xfrm>
          <a:prstGeom prst="roundRect">
            <a:avLst/>
          </a:prstGeom>
          <a:solidFill>
            <a:srgbClr val="E6F7F9"/>
          </a:solidFill>
          <a:ln w="12700">
            <a:solidFill>
              <a:srgbClr val="0097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4" name="n713"/>
          <p:cNvSpPr/>
          <p:nvPr/>
        </p:nvSpPr>
        <p:spPr>
          <a:xfrm>
            <a:off x="3263900" y="1574800"/>
            <a:ext cx="26035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200" b="1" spc="60">
                <a:solidFill>
                  <a:srgbClr val="0097A7"/>
                </a:solidFill>
                <a:latin typeface="Inter Tight"/>
                <a:cs typeface="Inter Tight"/>
              </a:rPr>
              <a:t>ENGLISH</a:t>
            </a:r>
          </a:p>
        </p:txBody>
      </p:sp>
      <p:sp>
        <p:nvSpPr>
          <p:cNvPr id="715" name="e713"/>
          <p:cNvSpPr/>
          <p:nvPr/>
        </p:nvSpPr>
        <p:spPr>
          <a:xfrm>
            <a:off x="3365500" y="1854200"/>
            <a:ext cx="24003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increase score by 5</a:t>
            </a:r>
          </a:p>
        </p:txBody>
      </p:sp>
      <p:sp>
        <p:nvSpPr>
          <p:cNvPr id="716" name="t716"/>
          <p:cNvSpPr/>
          <p:nvPr/>
        </p:nvSpPr>
        <p:spPr>
          <a:xfrm>
            <a:off x="6070600" y="1422400"/>
            <a:ext cx="2603500" cy="13716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7" name="n716"/>
          <p:cNvSpPr/>
          <p:nvPr/>
        </p:nvSpPr>
        <p:spPr>
          <a:xfrm>
            <a:off x="6070600" y="1574800"/>
            <a:ext cx="26035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200" b="1" spc="60">
                <a:solidFill>
                  <a:srgbClr val="5B5BD6"/>
                </a:solidFill>
                <a:latin typeface="Inter Tight"/>
                <a:cs typeface="Inter Tight"/>
              </a:rPr>
              <a:t>MUSIC</a:t>
            </a:r>
          </a:p>
        </p:txBody>
      </p:sp>
      <p:sp>
        <p:nvSpPr>
          <p:cNvPr id="718" name="e716"/>
          <p:cNvSpPr/>
          <p:nvPr/>
        </p:nvSpPr>
        <p:spPr>
          <a:xfrm>
            <a:off x="6172200" y="1854200"/>
            <a:ext cx="24003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play C</a:t>
            </a:r>
          </a:p>
        </p:txBody>
      </p:sp>
      <p:sp>
        <p:nvSpPr>
          <p:cNvPr id="719" name="t719"/>
          <p:cNvSpPr/>
          <p:nvPr/>
        </p:nvSpPr>
        <p:spPr>
          <a:xfrm>
            <a:off x="457200" y="2971800"/>
            <a:ext cx="2603500" cy="13716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n719"/>
          <p:cNvSpPr/>
          <p:nvPr/>
        </p:nvSpPr>
        <p:spPr>
          <a:xfrm>
            <a:off x="457200" y="3124200"/>
            <a:ext cx="26035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200" b="1" spc="60">
                <a:solidFill>
                  <a:srgbClr val="E8710A"/>
                </a:solidFill>
                <a:latin typeface="Inter Tight"/>
                <a:cs typeface="Inter Tight"/>
              </a:rPr>
              <a:t>DRAWING</a:t>
            </a:r>
          </a:p>
        </p:txBody>
      </p:sp>
      <p:sp>
        <p:nvSpPr>
          <p:cNvPr id="721" name="e719"/>
          <p:cNvSpPr/>
          <p:nvPr/>
        </p:nvSpPr>
        <p:spPr>
          <a:xfrm>
            <a:off x="558800" y="3403600"/>
            <a:ext cx="24003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circle()</a:t>
            </a:r>
          </a:p>
        </p:txBody>
      </p:sp>
      <p:sp>
        <p:nvSpPr>
          <p:cNvPr id="722" name="t722"/>
          <p:cNvSpPr/>
          <p:nvPr/>
        </p:nvSpPr>
        <p:spPr>
          <a:xfrm>
            <a:off x="3263900" y="2971800"/>
            <a:ext cx="2603500" cy="1371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2423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n722"/>
          <p:cNvSpPr/>
          <p:nvPr/>
        </p:nvSpPr>
        <p:spPr>
          <a:xfrm>
            <a:off x="3263900" y="3124200"/>
            <a:ext cx="26035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200" b="1" spc="60">
                <a:solidFill>
                  <a:srgbClr val="242385"/>
                </a:solidFill>
                <a:latin typeface="Inter Tight"/>
                <a:cs typeface="Inter Tight"/>
              </a:rPr>
              <a:t>MATH</a:t>
            </a:r>
          </a:p>
        </p:txBody>
      </p:sp>
      <p:sp>
        <p:nvSpPr>
          <p:cNvPr id="724" name="e722"/>
          <p:cNvSpPr/>
          <p:nvPr/>
        </p:nvSpPr>
        <p:spPr>
          <a:xfrm>
            <a:off x="3365500" y="3403600"/>
            <a:ext cx="24003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integrate()</a:t>
            </a:r>
          </a:p>
        </p:txBody>
      </p:sp>
      <p:sp>
        <p:nvSpPr>
          <p:cNvPr id="725" name="t725"/>
          <p:cNvSpPr/>
          <p:nvPr/>
        </p:nvSpPr>
        <p:spPr>
          <a:xfrm>
            <a:off x="6070600" y="2971800"/>
            <a:ext cx="2603500" cy="1371600"/>
          </a:xfrm>
          <a:prstGeom prst="roundRect">
            <a:avLst/>
          </a:prstGeom>
          <a:solidFill>
            <a:srgbClr val="EEF1F3"/>
          </a:solidFill>
          <a:ln w="12700">
            <a:solidFill>
              <a:srgbClr val="78909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6" name="n725"/>
          <p:cNvSpPr/>
          <p:nvPr/>
        </p:nvSpPr>
        <p:spPr>
          <a:xfrm>
            <a:off x="6070600" y="3124200"/>
            <a:ext cx="26035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200" b="1" spc="60">
                <a:solidFill>
                  <a:srgbClr val="78909C"/>
                </a:solidFill>
                <a:latin typeface="Inter Tight"/>
                <a:cs typeface="Inter Tight"/>
              </a:rPr>
              <a:t>STORY</a:t>
            </a:r>
          </a:p>
        </p:txBody>
      </p:sp>
      <p:sp>
        <p:nvSpPr>
          <p:cNvPr id="727" name="e725"/>
          <p:cNvSpPr/>
          <p:nvPr/>
        </p:nvSpPr>
        <p:spPr>
          <a:xfrm>
            <a:off x="6172200" y="3403600"/>
            <a:ext cx="24003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Consolas"/>
                <a:cs typeface="Consolas"/>
              </a:rPr>
              <a:t>say "Hello"</a:t>
            </a:r>
          </a:p>
        </p:txBody>
      </p:sp>
    </p:spTree>
    <p:extLst>
      <p:ext uri="{BB962C8B-B14F-4D97-AF65-F5344CB8AC3E}">
        <p14:creationId xmlns:p14="http://schemas.microsoft.com/office/powerpoint/2010/main" val="3281724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Which parts would you need to change?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Say you wanted to add arrays — where does the work land?</a:t>
            </a:r>
          </a:p>
        </p:txBody>
      </p:sp>
      <p:sp>
        <p:nvSpPr>
          <p:cNvPr id="700" name="st0"/>
          <p:cNvSpPr/>
          <p:nvPr/>
        </p:nvSpPr>
        <p:spPr>
          <a:xfrm>
            <a:off x="457200" y="1524000"/>
            <a:ext cx="1905000" cy="5334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Lexer</a:t>
            </a:r>
          </a:p>
        </p:txBody>
      </p:sp>
      <p:sp>
        <p:nvSpPr>
          <p:cNvPr id="760" name="ar0"/>
          <p:cNvSpPr/>
          <p:nvPr/>
        </p:nvSpPr>
        <p:spPr>
          <a:xfrm>
            <a:off x="2336800" y="1524000"/>
            <a:ext cx="25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20" name="dn0"/>
          <p:cNvSpPr/>
          <p:nvPr/>
        </p:nvSpPr>
        <p:spPr>
          <a:xfrm>
            <a:off x="1295400" y="210820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40" name="nt0"/>
          <p:cNvSpPr/>
          <p:nvPr/>
        </p:nvSpPr>
        <p:spPr>
          <a:xfrm>
            <a:off x="457200" y="2362200"/>
            <a:ext cx="1905000" cy="12192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300" b="1">
                <a:solidFill>
                  <a:srgbClr val="4285F4"/>
                </a:solidFill>
                <a:latin typeface="Consolas"/>
                <a:cs typeface="Consolas"/>
              </a:rPr>
              <a:t>[  ]</a:t>
            </a:r>
          </a:p>
          <a:p>
            <a:pPr algn="ctr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new bracket tokens</a:t>
            </a:r>
          </a:p>
        </p:txBody>
      </p:sp>
      <p:sp>
        <p:nvSpPr>
          <p:cNvPr id="701" name="st1"/>
          <p:cNvSpPr/>
          <p:nvPr/>
        </p:nvSpPr>
        <p:spPr>
          <a:xfrm>
            <a:off x="2565400" y="1524000"/>
            <a:ext cx="1905000" cy="53340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Parser</a:t>
            </a:r>
          </a:p>
        </p:txBody>
      </p:sp>
      <p:sp>
        <p:nvSpPr>
          <p:cNvPr id="761" name="ar1"/>
          <p:cNvSpPr/>
          <p:nvPr/>
        </p:nvSpPr>
        <p:spPr>
          <a:xfrm>
            <a:off x="4445000" y="1524000"/>
            <a:ext cx="25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21" name="dn1"/>
          <p:cNvSpPr/>
          <p:nvPr/>
        </p:nvSpPr>
        <p:spPr>
          <a:xfrm>
            <a:off x="3403600" y="210820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41" name="nt1"/>
          <p:cNvSpPr/>
          <p:nvPr/>
        </p:nvSpPr>
        <p:spPr>
          <a:xfrm>
            <a:off x="2565400" y="2362200"/>
            <a:ext cx="1905000" cy="1219200"/>
          </a:xfrm>
          <a:prstGeom prst="roundRect">
            <a:avLst/>
          </a:prstGeom>
          <a:solidFill>
            <a:srgbClr val="E6F7F9"/>
          </a:solidFill>
          <a:ln w="12700">
            <a:solidFill>
              <a:srgbClr val="0097A7"/>
            </a:solidFill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300" b="1">
                <a:solidFill>
                  <a:srgbClr val="0097A7"/>
                </a:solidFill>
                <a:latin typeface="Consolas"/>
                <a:cs typeface="Consolas"/>
              </a:rPr>
              <a:t>array literals</a:t>
            </a:r>
          </a:p>
          <a:p>
            <a:pPr algn="ctr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grammar rule</a:t>
            </a:r>
          </a:p>
        </p:txBody>
      </p:sp>
      <p:sp>
        <p:nvSpPr>
          <p:cNvPr id="702" name="st2"/>
          <p:cNvSpPr/>
          <p:nvPr/>
        </p:nvSpPr>
        <p:spPr>
          <a:xfrm>
            <a:off x="4673600" y="1524000"/>
            <a:ext cx="1905000" cy="5334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AST</a:t>
            </a:r>
          </a:p>
        </p:txBody>
      </p:sp>
      <p:sp>
        <p:nvSpPr>
          <p:cNvPr id="762" name="ar2"/>
          <p:cNvSpPr/>
          <p:nvPr/>
        </p:nvSpPr>
        <p:spPr>
          <a:xfrm>
            <a:off x="6553200" y="1524000"/>
            <a:ext cx="25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22" name="dn2"/>
          <p:cNvSpPr/>
          <p:nvPr/>
        </p:nvSpPr>
        <p:spPr>
          <a:xfrm>
            <a:off x="5511800" y="210820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42" name="nt2"/>
          <p:cNvSpPr/>
          <p:nvPr/>
        </p:nvSpPr>
        <p:spPr>
          <a:xfrm>
            <a:off x="4673600" y="2362200"/>
            <a:ext cx="1905000" cy="12192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300" b="1">
                <a:solidFill>
                  <a:srgbClr val="5B5BD6"/>
                </a:solidFill>
                <a:latin typeface="Consolas"/>
                <a:cs typeface="Consolas"/>
              </a:rPr>
              <a:t>ArrayNode</a:t>
            </a:r>
          </a:p>
          <a:p>
            <a:pPr algn="ctr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new node type</a:t>
            </a:r>
          </a:p>
        </p:txBody>
      </p:sp>
      <p:sp>
        <p:nvSpPr>
          <p:cNvPr id="703" name="st3"/>
          <p:cNvSpPr/>
          <p:nvPr/>
        </p:nvSpPr>
        <p:spPr>
          <a:xfrm>
            <a:off x="6781800" y="1524000"/>
            <a:ext cx="1905000" cy="533400"/>
          </a:xfrm>
          <a:prstGeom prst="roundRect">
            <a:avLst/>
          </a:prstGeom>
          <a:solidFill>
            <a:srgbClr val="E8710A"/>
          </a:solidFill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Evaluator</a:t>
            </a:r>
          </a:p>
        </p:txBody>
      </p:sp>
      <p:sp>
        <p:nvSpPr>
          <p:cNvPr id="723" name="dn3"/>
          <p:cNvSpPr/>
          <p:nvPr/>
        </p:nvSpPr>
        <p:spPr>
          <a:xfrm>
            <a:off x="7620000" y="2108200"/>
            <a:ext cx="22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43" name="nt3"/>
          <p:cNvSpPr/>
          <p:nvPr/>
        </p:nvSpPr>
        <p:spPr>
          <a:xfrm>
            <a:off x="6781800" y="2362200"/>
            <a:ext cx="1905000" cy="12192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300" b="1">
                <a:solidFill>
                  <a:srgbClr val="E8710A"/>
                </a:solidFill>
                <a:latin typeface="Consolas"/>
                <a:cs typeface="Consolas"/>
              </a:rPr>
              <a:t>list values</a:t>
            </a:r>
          </a:p>
          <a:p>
            <a:pPr algn="ctr">
              <a:buNone/>
            </a:pPr>
            <a:r>
              <a:rPr lang="en-US" sz="1200">
                <a:solidFill>
                  <a:srgbClr val="1A1A2E"/>
                </a:solidFill>
                <a:latin typeface="Inter Tight"/>
                <a:cs typeface="Inter Tight"/>
              </a:rPr>
              <a:t>runtime behaviour</a:t>
            </a:r>
          </a:p>
        </p:txBody>
      </p:sp>
      <p:sp>
        <p:nvSpPr>
          <p:cNvPr id="780" name="banner"/>
          <p:cNvSpPr/>
          <p:nvPr/>
        </p:nvSpPr>
        <p:spPr>
          <a:xfrm>
            <a:off x="457200" y="3810000"/>
            <a:ext cx="8229600" cy="6350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7620" rIns="45720" bIns="762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One feature = a vertical slice through all four stages.</a:t>
            </a:r>
          </a:p>
        </p:txBody>
      </p:sp>
    </p:spTree>
    <p:extLst>
      <p:ext uri="{BB962C8B-B14F-4D97-AF65-F5344CB8AC3E}">
        <p14:creationId xmlns:p14="http://schemas.microsoft.com/office/powerpoint/2010/main" val="2154931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Example feature walkthrough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One new keyword — here is everything it touches</a:t>
            </a:r>
          </a:p>
        </p:txBody>
      </p:sp>
      <p:sp>
        <p:nvSpPr>
          <p:cNvPr id="700" name="cap"/>
          <p:cNvSpPr/>
          <p:nvPr/>
        </p:nvSpPr>
        <p:spPr>
          <a:xfrm>
            <a:off x="457200" y="1397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5B5BD6"/>
                </a:solidFill>
                <a:latin typeface="Inter Tight"/>
                <a:cs typeface="Inter Tight"/>
              </a:rPr>
              <a:t>YOUR NEW SYNTAX</a:t>
            </a:r>
          </a:p>
        </p:txBody>
      </p:sp>
      <p:sp>
        <p:nvSpPr>
          <p:cNvPr id="701" name="panel"/>
          <p:cNvSpPr/>
          <p:nvPr/>
        </p:nvSpPr>
        <p:spPr>
          <a:xfrm>
            <a:off x="457200" y="1752600"/>
            <a:ext cx="3810000" cy="24892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800" b="1">
                <a:solidFill>
                  <a:srgbClr val="EEFF41"/>
                </a:solidFill>
                <a:latin typeface="Consolas"/>
                <a:cs typeface="Consolas"/>
              </a:rPr>
              <a:t>repeat 10 {</a:t>
            </a:r>
          </a:p>
          <a:p>
            <a:pPr algn="l">
              <a:buNone/>
            </a:pPr>
            <a:r>
              <a:rPr lang="en-US" sz="1800" b="1">
                <a:solidFill>
                  <a:srgbClr val="E8EAF6"/>
                </a:solidFill>
                <a:latin typeface="Consolas"/>
                <a:cs typeface="Consolas"/>
              </a:rPr>
              <a:t>    attack()</a:t>
            </a:r>
          </a:p>
          <a:p>
            <a:pPr algn="l">
              <a:buNone/>
            </a:pPr>
            <a:r>
              <a:rPr lang="en-US" sz="1800" b="1">
                <a:solidFill>
                  <a:srgbClr val="E8EAF6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710" name="rh"/>
          <p:cNvSpPr/>
          <p:nvPr/>
        </p:nvSpPr>
        <p:spPr>
          <a:xfrm>
            <a:off x="4521200" y="1397000"/>
            <a:ext cx="416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200" b="1" spc="80">
                <a:solidFill>
                  <a:srgbClr val="5B5BD6"/>
                </a:solidFill>
                <a:latin typeface="Inter Tight"/>
                <a:cs typeface="Inter Tight"/>
              </a:rPr>
              <a:t>WHAT CHANGES?</a:t>
            </a:r>
          </a:p>
        </p:txBody>
      </p:sp>
      <p:sp>
        <p:nvSpPr>
          <p:cNvPr id="720" name="row0"/>
          <p:cNvSpPr/>
          <p:nvPr/>
        </p:nvSpPr>
        <p:spPr>
          <a:xfrm>
            <a:off x="4521200" y="1752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Lexer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   →  new repeat keyword</a:t>
            </a:r>
          </a:p>
        </p:txBody>
      </p:sp>
      <p:sp>
        <p:nvSpPr>
          <p:cNvPr id="721" name="row1"/>
          <p:cNvSpPr/>
          <p:nvPr/>
        </p:nvSpPr>
        <p:spPr>
          <a:xfrm>
            <a:off x="4521200" y="2260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Parser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   →  count + code block</a:t>
            </a:r>
          </a:p>
        </p:txBody>
      </p:sp>
      <p:sp>
        <p:nvSpPr>
          <p:cNvPr id="722" name="row2"/>
          <p:cNvSpPr/>
          <p:nvPr/>
        </p:nvSpPr>
        <p:spPr>
          <a:xfrm>
            <a:off x="4521200" y="2768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AST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   →  RepeatNode</a:t>
            </a:r>
          </a:p>
        </p:txBody>
      </p:sp>
      <p:sp>
        <p:nvSpPr>
          <p:cNvPr id="723" name="row3"/>
          <p:cNvSpPr/>
          <p:nvPr/>
        </p:nvSpPr>
        <p:spPr>
          <a:xfrm>
            <a:off x="4521200" y="3276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Evaluator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   →  run body N times</a:t>
            </a:r>
          </a:p>
        </p:txBody>
      </p:sp>
      <p:sp>
        <p:nvSpPr>
          <p:cNvPr id="724" name="row4"/>
          <p:cNvSpPr/>
          <p:nvPr/>
        </p:nvSpPr>
        <p:spPr>
          <a:xfrm>
            <a:off x="4521200" y="3784600"/>
            <a:ext cx="4165600" cy="457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91440" tIns="9144" rIns="45720" bIns="9144" anchor="ctr"/>
          <a:lstStyle/>
          <a:p>
            <a:pPr algn="l">
              <a:buNone/>
            </a:pPr>
            <a:r>
              <a:rPr lang="en-US" sz="1400" b="1">
                <a:solidFill>
                  <a:srgbClr val="242385"/>
                </a:solidFill>
                <a:latin typeface="Consolas"/>
                <a:cs typeface="Consolas"/>
              </a:rPr>
              <a:t>Tests</a:t>
            </a: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   →  does it loop 10×?</a:t>
            </a:r>
          </a:p>
        </p:txBody>
      </p:sp>
    </p:spTree>
    <p:extLst>
      <p:ext uri="{BB962C8B-B14F-4D97-AF65-F5344CB8AC3E}">
        <p14:creationId xmlns:p14="http://schemas.microsoft.com/office/powerpoint/2010/main" val="1988889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Design before you code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Think like an engineer — plan the whole path before implementing</a:t>
            </a:r>
          </a:p>
        </p:txBody>
      </p:sp>
      <p:sp>
        <p:nvSpPr>
          <p:cNvPr id="700" name="st0"/>
          <p:cNvSpPr/>
          <p:nvPr/>
        </p:nvSpPr>
        <p:spPr>
          <a:xfrm>
            <a:off x="469900" y="2133600"/>
            <a:ext cx="1041400" cy="914400"/>
          </a:xfrm>
          <a:prstGeom prst="roundRect">
            <a:avLst/>
          </a:prstGeom>
          <a:solidFill>
            <a:srgbClr val="5B5BD6"/>
          </a:solidFill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Inter Tight"/>
                <a:cs typeface="Inter Tight"/>
              </a:rPr>
              <a:t>Idea</a:t>
            </a:r>
          </a:p>
        </p:txBody>
      </p:sp>
      <p:sp>
        <p:nvSpPr>
          <p:cNvPr id="720" name="ar0"/>
          <p:cNvSpPr/>
          <p:nvPr/>
        </p:nvSpPr>
        <p:spPr>
          <a:xfrm>
            <a:off x="1485900" y="24511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40" name="n0"/>
          <p:cNvSpPr/>
          <p:nvPr/>
        </p:nvSpPr>
        <p:spPr>
          <a:xfrm>
            <a:off x="4699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701" name="st1"/>
          <p:cNvSpPr/>
          <p:nvPr/>
        </p:nvSpPr>
        <p:spPr>
          <a:xfrm>
            <a:off x="1663700" y="2133600"/>
            <a:ext cx="1041400" cy="914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Example Program</a:t>
            </a:r>
          </a:p>
        </p:txBody>
      </p:sp>
      <p:sp>
        <p:nvSpPr>
          <p:cNvPr id="721" name="ar1"/>
          <p:cNvSpPr/>
          <p:nvPr/>
        </p:nvSpPr>
        <p:spPr>
          <a:xfrm>
            <a:off x="2679700" y="24511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41" name="n1"/>
          <p:cNvSpPr/>
          <p:nvPr/>
        </p:nvSpPr>
        <p:spPr>
          <a:xfrm>
            <a:off x="16637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702" name="st2"/>
          <p:cNvSpPr/>
          <p:nvPr/>
        </p:nvSpPr>
        <p:spPr>
          <a:xfrm>
            <a:off x="2857500" y="2133600"/>
            <a:ext cx="1041400" cy="914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Grammar</a:t>
            </a:r>
          </a:p>
        </p:txBody>
      </p:sp>
      <p:sp>
        <p:nvSpPr>
          <p:cNvPr id="722" name="ar2"/>
          <p:cNvSpPr/>
          <p:nvPr/>
        </p:nvSpPr>
        <p:spPr>
          <a:xfrm>
            <a:off x="3873500" y="24511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42" name="n2"/>
          <p:cNvSpPr/>
          <p:nvPr/>
        </p:nvSpPr>
        <p:spPr>
          <a:xfrm>
            <a:off x="28575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703" name="st3"/>
          <p:cNvSpPr/>
          <p:nvPr/>
        </p:nvSpPr>
        <p:spPr>
          <a:xfrm>
            <a:off x="4051300" y="2133600"/>
            <a:ext cx="1041400" cy="914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AST</a:t>
            </a:r>
          </a:p>
        </p:txBody>
      </p:sp>
      <p:sp>
        <p:nvSpPr>
          <p:cNvPr id="723" name="ar3"/>
          <p:cNvSpPr/>
          <p:nvPr/>
        </p:nvSpPr>
        <p:spPr>
          <a:xfrm>
            <a:off x="5067300" y="24511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43" name="n3"/>
          <p:cNvSpPr/>
          <p:nvPr/>
        </p:nvSpPr>
        <p:spPr>
          <a:xfrm>
            <a:off x="40513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704" name="st4"/>
          <p:cNvSpPr/>
          <p:nvPr/>
        </p:nvSpPr>
        <p:spPr>
          <a:xfrm>
            <a:off x="5245100" y="2133600"/>
            <a:ext cx="1041400" cy="914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Evaluator</a:t>
            </a:r>
          </a:p>
        </p:txBody>
      </p:sp>
      <p:sp>
        <p:nvSpPr>
          <p:cNvPr id="724" name="ar4"/>
          <p:cNvSpPr/>
          <p:nvPr/>
        </p:nvSpPr>
        <p:spPr>
          <a:xfrm>
            <a:off x="6261100" y="24511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44" name="n4"/>
          <p:cNvSpPr/>
          <p:nvPr/>
        </p:nvSpPr>
        <p:spPr>
          <a:xfrm>
            <a:off x="52451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5</a:t>
            </a:r>
          </a:p>
        </p:txBody>
      </p:sp>
      <p:sp>
        <p:nvSpPr>
          <p:cNvPr id="705" name="st5"/>
          <p:cNvSpPr/>
          <p:nvPr/>
        </p:nvSpPr>
        <p:spPr>
          <a:xfrm>
            <a:off x="6438900" y="2133600"/>
            <a:ext cx="1041400" cy="9144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242385"/>
                </a:solidFill>
                <a:latin typeface="Inter Tight"/>
                <a:cs typeface="Inter Tight"/>
              </a:rPr>
              <a:t>Tests</a:t>
            </a:r>
          </a:p>
        </p:txBody>
      </p:sp>
      <p:sp>
        <p:nvSpPr>
          <p:cNvPr id="725" name="ar5"/>
          <p:cNvSpPr/>
          <p:nvPr/>
        </p:nvSpPr>
        <p:spPr>
          <a:xfrm>
            <a:off x="7454900" y="24511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4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45" name="n5"/>
          <p:cNvSpPr/>
          <p:nvPr/>
        </p:nvSpPr>
        <p:spPr>
          <a:xfrm>
            <a:off x="64389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6</a:t>
            </a:r>
          </a:p>
        </p:txBody>
      </p:sp>
      <p:sp>
        <p:nvSpPr>
          <p:cNvPr id="706" name="st6"/>
          <p:cNvSpPr/>
          <p:nvPr/>
        </p:nvSpPr>
        <p:spPr>
          <a:xfrm>
            <a:off x="7632700" y="2133600"/>
            <a:ext cx="1041400" cy="9144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Inter Tight"/>
                <a:cs typeface="Inter Tight"/>
              </a:rPr>
              <a:t>Demo</a:t>
            </a:r>
          </a:p>
        </p:txBody>
      </p:sp>
      <p:sp>
        <p:nvSpPr>
          <p:cNvPr id="746" name="n6"/>
          <p:cNvSpPr/>
          <p:nvPr/>
        </p:nvSpPr>
        <p:spPr>
          <a:xfrm>
            <a:off x="7632700" y="18288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100" b="1">
                <a:solidFill>
                  <a:srgbClr val="78909C"/>
                </a:solidFill>
                <a:latin typeface="Inter Tight"/>
                <a:cs typeface="Inter Tight"/>
              </a:rPr>
              <a:t>7</a:t>
            </a:r>
          </a:p>
        </p:txBody>
      </p:sp>
      <p:sp>
        <p:nvSpPr>
          <p:cNvPr id="760" name="banner"/>
          <p:cNvSpPr/>
          <p:nvPr/>
        </p:nvSpPr>
        <p:spPr>
          <a:xfrm>
            <a:off x="457200" y="36322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Your code is the last step — not the first.</a:t>
            </a:r>
          </a:p>
        </p:txBody>
      </p:sp>
    </p:spTree>
    <p:extLst>
      <p:ext uri="{BB962C8B-B14F-4D97-AF65-F5344CB8AC3E}">
        <p14:creationId xmlns:p14="http://schemas.microsoft.com/office/powerpoint/2010/main" val="1750746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Before building something new…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 b="1" spc="120">
                <a:solidFill>
                  <a:srgbClr val="5B5BD6"/>
                </a:solidFill>
                <a:latin typeface="Inter Tight"/>
                <a:cs typeface="Inter Tight"/>
              </a:rPr>
              <a:t>STEP 1 · VERIFY YOUR INTERPRETER</a:t>
            </a:r>
          </a:p>
        </p:txBody>
      </p:sp>
      <p:sp>
        <p:nvSpPr>
          <p:cNvPr id="710" name="row0"/>
          <p:cNvSpPr/>
          <p:nvPr/>
        </p:nvSpPr>
        <p:spPr>
          <a:xfrm>
            <a:off x="457200" y="12954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chk0"/>
          <p:cNvSpPr/>
          <p:nvPr/>
        </p:nvSpPr>
        <p:spPr>
          <a:xfrm>
            <a:off x="660400" y="13843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0" name="it0"/>
          <p:cNvSpPr/>
          <p:nvPr/>
        </p:nvSpPr>
        <p:spPr>
          <a:xfrm>
            <a:off x="1270000" y="12954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Test recursive functions (e.g., factorial, Fibonacci, countdown)</a:t>
            </a:r>
          </a:p>
        </p:txBody>
      </p:sp>
      <p:sp>
        <p:nvSpPr>
          <p:cNvPr id="711" name="row1"/>
          <p:cNvSpPr/>
          <p:nvPr/>
        </p:nvSpPr>
        <p:spPr>
          <a:xfrm>
            <a:off x="457200" y="19812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chk1"/>
          <p:cNvSpPr/>
          <p:nvPr/>
        </p:nvSpPr>
        <p:spPr>
          <a:xfrm>
            <a:off x="660400" y="20701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1" name="it1"/>
          <p:cNvSpPr/>
          <p:nvPr/>
        </p:nvSpPr>
        <p:spPr>
          <a:xfrm>
            <a:off x="1270000" y="19812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Make sure local environments behave correctly</a:t>
            </a:r>
          </a:p>
        </p:txBody>
      </p:sp>
      <p:sp>
        <p:nvSpPr>
          <p:cNvPr id="712" name="row2"/>
          <p:cNvSpPr/>
          <p:nvPr/>
        </p:nvSpPr>
        <p:spPr>
          <a:xfrm>
            <a:off x="457200" y="26670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chk2"/>
          <p:cNvSpPr/>
          <p:nvPr/>
        </p:nvSpPr>
        <p:spPr>
          <a:xfrm>
            <a:off x="660400" y="27559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2" name="it2"/>
          <p:cNvSpPr/>
          <p:nvPr/>
        </p:nvSpPr>
        <p:spPr>
          <a:xfrm>
            <a:off x="1270000" y="26670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Fix any bugs you discover</a:t>
            </a:r>
          </a:p>
        </p:txBody>
      </p:sp>
      <p:sp>
        <p:nvSpPr>
          <p:cNvPr id="713" name="row3"/>
          <p:cNvSpPr/>
          <p:nvPr/>
        </p:nvSpPr>
        <p:spPr>
          <a:xfrm>
            <a:off x="457200" y="3352800"/>
            <a:ext cx="8229600" cy="584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chk3"/>
          <p:cNvSpPr/>
          <p:nvPr/>
        </p:nvSpPr>
        <p:spPr>
          <a:xfrm>
            <a:off x="660400" y="3441700"/>
            <a:ext cx="406400" cy="406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33" name="it3"/>
          <p:cNvSpPr/>
          <p:nvPr/>
        </p:nvSpPr>
        <p:spPr>
          <a:xfrm>
            <a:off x="1270000" y="3352800"/>
            <a:ext cx="7112000" cy="584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>
                <a:solidFill>
                  <a:srgbClr val="1A1A2E"/>
                </a:solidFill>
                <a:latin typeface="Inter Tight"/>
                <a:cs typeface="Inter Tight"/>
              </a:rPr>
              <a:t>Commit a stable version before adding new features</a:t>
            </a:r>
          </a:p>
        </p:txBody>
      </p:sp>
      <p:sp>
        <p:nvSpPr>
          <p:cNvPr id="740" name="note"/>
          <p:cNvSpPr/>
          <p:nvPr/>
        </p:nvSpPr>
        <p:spPr>
          <a:xfrm>
            <a:off x="457200" y="4064000"/>
            <a:ext cx="8229600" cy="4826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i="1">
                <a:solidFill>
                  <a:srgbClr val="FFFFFF"/>
                </a:solidFill>
                <a:latin typeface="Inter Tight"/>
                <a:cs typeface="Inter Tight"/>
              </a:rPr>
              <a:t>Think of this as your “release candidate” before adding new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422381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Final project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Two steps: stabilize what you built, then extend it</a:t>
            </a:r>
          </a:p>
        </p:txBody>
      </p:sp>
      <p:sp>
        <p:nvSpPr>
          <p:cNvPr id="700" name="goal"/>
          <p:cNvSpPr/>
          <p:nvPr/>
        </p:nvSpPr>
        <p:spPr>
          <a:xfrm>
            <a:off x="457200" y="1320800"/>
            <a:ext cx="8229600" cy="9398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Inter Tight"/>
                <a:cs typeface="Inter Tight"/>
              </a:rPr>
              <a:t>Your goal: extend your programming language with one meaningful feature.</a:t>
            </a:r>
          </a:p>
        </p:txBody>
      </p:sp>
      <p:sp>
        <p:nvSpPr>
          <p:cNvPr id="710" name="r1"/>
          <p:cNvSpPr/>
          <p:nvPr/>
        </p:nvSpPr>
        <p:spPr>
          <a:xfrm>
            <a:off x="457200" y="2463800"/>
            <a:ext cx="8229600" cy="838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F9D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r1b"/>
          <p:cNvSpPr/>
          <p:nvPr/>
        </p:nvSpPr>
        <p:spPr>
          <a:xfrm>
            <a:off x="711200" y="2616200"/>
            <a:ext cx="533400" cy="5334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Inter Tight"/>
                <a:cs typeface="Inter Tight"/>
              </a:rPr>
              <a:t>✓</a:t>
            </a:r>
          </a:p>
        </p:txBody>
      </p:sp>
      <p:sp>
        <p:nvSpPr>
          <p:cNvPr id="712" name="r1t"/>
          <p:cNvSpPr/>
          <p:nvPr/>
        </p:nvSpPr>
        <p:spPr>
          <a:xfrm>
            <a:off x="1422400" y="2540000"/>
            <a:ext cx="711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200" b="1" spc="120">
                <a:solidFill>
                  <a:srgbClr val="0B7A44"/>
                </a:solidFill>
                <a:latin typeface="Inter Tight"/>
                <a:cs typeface="Inter Tight"/>
              </a:rPr>
              <a:t>BEFORE YOU BEGIN</a:t>
            </a:r>
          </a:p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Verify that recursive functions work in your interpreter.</a:t>
            </a:r>
          </a:p>
        </p:txBody>
      </p:sp>
      <p:sp>
        <p:nvSpPr>
          <p:cNvPr id="720" name="r2"/>
          <p:cNvSpPr/>
          <p:nvPr/>
        </p:nvSpPr>
        <p:spPr>
          <a:xfrm>
            <a:off x="457200" y="3403600"/>
            <a:ext cx="8229600" cy="838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r2b"/>
          <p:cNvSpPr/>
          <p:nvPr/>
        </p:nvSpPr>
        <p:spPr>
          <a:xfrm>
            <a:off x="711200" y="3556000"/>
            <a:ext cx="533400" cy="5334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FFFFFF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22" name="r2t"/>
          <p:cNvSpPr/>
          <p:nvPr/>
        </p:nvSpPr>
        <p:spPr>
          <a:xfrm>
            <a:off x="1422400" y="3479800"/>
            <a:ext cx="711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200" b="1" spc="120">
                <a:solidFill>
                  <a:srgbClr val="3B2C8F"/>
                </a:solidFill>
                <a:latin typeface="Inter Tight"/>
                <a:cs typeface="Inter Tight"/>
              </a:rPr>
              <a:t>THEN</a:t>
            </a:r>
          </a:p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Design and implement your own language extension.</a:t>
            </a:r>
          </a:p>
        </p:txBody>
      </p:sp>
    </p:spTree>
    <p:extLst>
      <p:ext uri="{BB962C8B-B14F-4D97-AF65-F5344CB8AC3E}">
        <p14:creationId xmlns:p14="http://schemas.microsoft.com/office/powerpoint/2010/main" val="2523711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Build something interesting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 b="1" spc="120">
                <a:solidFill>
                  <a:srgbClr val="5B5BD6"/>
                </a:solidFill>
                <a:latin typeface="Inter Tight"/>
                <a:cs typeface="Inter Tight"/>
              </a:rPr>
              <a:t>STEP 2 · CHOOSE ONE MEANINGFUL EXTENSION</a:t>
            </a:r>
          </a:p>
        </p:txBody>
      </p:sp>
      <p:sp>
        <p:nvSpPr>
          <p:cNvPr id="700" name="c0"/>
          <p:cNvSpPr/>
          <p:nvPr/>
        </p:nvSpPr>
        <p:spPr>
          <a:xfrm>
            <a:off x="457200" y="1422400"/>
            <a:ext cx="2552700" cy="990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d0"/>
          <p:cNvSpPr/>
          <p:nvPr/>
        </p:nvSpPr>
        <p:spPr>
          <a:xfrm>
            <a:off x="660400" y="1828800"/>
            <a:ext cx="177800" cy="1778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0" name="l0"/>
          <p:cNvSpPr/>
          <p:nvPr/>
        </p:nvSpPr>
        <p:spPr>
          <a:xfrm>
            <a:off x="965200" y="1422400"/>
            <a:ext cx="1892300" cy="990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New syntax</a:t>
            </a:r>
          </a:p>
        </p:txBody>
      </p:sp>
      <p:sp>
        <p:nvSpPr>
          <p:cNvPr id="701" name="c1"/>
          <p:cNvSpPr/>
          <p:nvPr/>
        </p:nvSpPr>
        <p:spPr>
          <a:xfrm>
            <a:off x="3289300" y="1422400"/>
            <a:ext cx="2552700" cy="990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d1"/>
          <p:cNvSpPr/>
          <p:nvPr/>
        </p:nvSpPr>
        <p:spPr>
          <a:xfrm>
            <a:off x="3492500" y="1828800"/>
            <a:ext cx="177800" cy="1778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l1"/>
          <p:cNvSpPr/>
          <p:nvPr/>
        </p:nvSpPr>
        <p:spPr>
          <a:xfrm>
            <a:off x="3797300" y="1422400"/>
            <a:ext cx="1892300" cy="990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New data type</a:t>
            </a:r>
          </a:p>
        </p:txBody>
      </p:sp>
      <p:sp>
        <p:nvSpPr>
          <p:cNvPr id="702" name="c2"/>
          <p:cNvSpPr/>
          <p:nvPr/>
        </p:nvSpPr>
        <p:spPr>
          <a:xfrm>
            <a:off x="6121400" y="1422400"/>
            <a:ext cx="2552700" cy="990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d2"/>
          <p:cNvSpPr/>
          <p:nvPr/>
        </p:nvSpPr>
        <p:spPr>
          <a:xfrm>
            <a:off x="6324600" y="1828800"/>
            <a:ext cx="177800" cy="17780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2" name="l2"/>
          <p:cNvSpPr/>
          <p:nvPr/>
        </p:nvSpPr>
        <p:spPr>
          <a:xfrm>
            <a:off x="6629400" y="1422400"/>
            <a:ext cx="1892300" cy="990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New programming construct</a:t>
            </a:r>
          </a:p>
        </p:txBody>
      </p:sp>
      <p:sp>
        <p:nvSpPr>
          <p:cNvPr id="703" name="c3"/>
          <p:cNvSpPr/>
          <p:nvPr/>
        </p:nvSpPr>
        <p:spPr>
          <a:xfrm>
            <a:off x="457200" y="2540000"/>
            <a:ext cx="2552700" cy="990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d3"/>
          <p:cNvSpPr/>
          <p:nvPr/>
        </p:nvSpPr>
        <p:spPr>
          <a:xfrm>
            <a:off x="660400" y="2946400"/>
            <a:ext cx="177800" cy="17780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3" name="l3"/>
          <p:cNvSpPr/>
          <p:nvPr/>
        </p:nvSpPr>
        <p:spPr>
          <a:xfrm>
            <a:off x="965200" y="2540000"/>
            <a:ext cx="1892300" cy="990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Domain-specific language</a:t>
            </a:r>
          </a:p>
        </p:txBody>
      </p:sp>
      <p:sp>
        <p:nvSpPr>
          <p:cNvPr id="704" name="c4"/>
          <p:cNvSpPr/>
          <p:nvPr/>
        </p:nvSpPr>
        <p:spPr>
          <a:xfrm>
            <a:off x="3289300" y="2540000"/>
            <a:ext cx="2552700" cy="990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4" name="d4"/>
          <p:cNvSpPr/>
          <p:nvPr/>
        </p:nvSpPr>
        <p:spPr>
          <a:xfrm>
            <a:off x="3492500" y="2946400"/>
            <a:ext cx="177800" cy="1778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4" name="l4"/>
          <p:cNvSpPr/>
          <p:nvPr/>
        </p:nvSpPr>
        <p:spPr>
          <a:xfrm>
            <a:off x="3797300" y="2540000"/>
            <a:ext cx="1892300" cy="990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b="1">
                <a:solidFill>
                  <a:srgbClr val="1A1A2E"/>
                </a:solidFill>
                <a:latin typeface="Inter Tight"/>
                <a:cs typeface="Inter Tight"/>
              </a:rPr>
              <a:t>Runtime feature</a:t>
            </a:r>
          </a:p>
        </p:txBody>
      </p:sp>
      <p:sp>
        <p:nvSpPr>
          <p:cNvPr id="705" name="c5"/>
          <p:cNvSpPr/>
          <p:nvPr/>
        </p:nvSpPr>
        <p:spPr>
          <a:xfrm>
            <a:off x="6121400" y="2540000"/>
            <a:ext cx="2552700" cy="9906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5" name="d5"/>
          <p:cNvSpPr/>
          <p:nvPr/>
        </p:nvSpPr>
        <p:spPr>
          <a:xfrm>
            <a:off x="6324600" y="2946400"/>
            <a:ext cx="177800" cy="177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5" name="l5"/>
          <p:cNvSpPr/>
          <p:nvPr/>
        </p:nvSpPr>
        <p:spPr>
          <a:xfrm>
            <a:off x="6629400" y="2540000"/>
            <a:ext cx="1892300" cy="990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Something completely original</a:t>
            </a:r>
          </a:p>
        </p:txBody>
      </p:sp>
      <p:sp>
        <p:nvSpPr>
          <p:cNvPr id="760" name="surprise"/>
          <p:cNvSpPr/>
          <p:nvPr/>
        </p:nvSpPr>
        <p:spPr>
          <a:xfrm>
            <a:off x="457200" y="3759200"/>
            <a:ext cx="8229600" cy="558800"/>
          </a:xfrm>
          <a:prstGeom prst="roundRect">
            <a:avLst/>
          </a:prstGeom>
          <a:solidFill>
            <a:srgbClr val="3B2C8F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800" b="1" spc="60">
                <a:solidFill>
                  <a:srgbClr val="FFFFFF"/>
                </a:solidFill>
                <a:latin typeface="Inter Tight"/>
                <a:cs typeface="Inter Tight"/>
              </a:rPr>
              <a:t>Surprise us!</a:t>
            </a:r>
          </a:p>
        </p:txBody>
      </p:sp>
    </p:spTree>
    <p:extLst>
      <p:ext uri="{BB962C8B-B14F-4D97-AF65-F5344CB8AC3E}">
        <p14:creationId xmlns:p14="http://schemas.microsoft.com/office/powerpoint/2010/main" val="1619412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Presentation expectations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Walk us through your language extension — six things to cover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498600"/>
            <a:ext cx="2552700" cy="1219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num0"/>
          <p:cNvSpPr/>
          <p:nvPr/>
        </p:nvSpPr>
        <p:spPr>
          <a:xfrm>
            <a:off x="635000" y="1676400"/>
            <a:ext cx="406400" cy="406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1</a:t>
            </a:r>
          </a:p>
        </p:txBody>
      </p:sp>
      <p:sp>
        <p:nvSpPr>
          <p:cNvPr id="740" name="lbl0"/>
          <p:cNvSpPr/>
          <p:nvPr/>
        </p:nvSpPr>
        <p:spPr>
          <a:xfrm>
            <a:off x="1143000" y="1701800"/>
            <a:ext cx="1739900" cy="86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Why this feature</a:t>
            </a:r>
          </a:p>
          <a:p>
            <a:pPr algn="l">
              <a:buNone/>
            </a:pPr>
            <a:r>
              <a:rPr lang="en-US" sz="1150">
                <a:solidFill>
                  <a:srgbClr val="595959"/>
                </a:solidFill>
                <a:latin typeface="Inter Tight"/>
                <a:cs typeface="Inter Tight"/>
              </a:rPr>
              <a:t>What problem it solves</a:t>
            </a:r>
          </a:p>
        </p:txBody>
      </p:sp>
      <p:sp>
        <p:nvSpPr>
          <p:cNvPr id="701" name="card1"/>
          <p:cNvSpPr/>
          <p:nvPr/>
        </p:nvSpPr>
        <p:spPr>
          <a:xfrm>
            <a:off x="3263900" y="1498600"/>
            <a:ext cx="2552700" cy="1219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num1"/>
          <p:cNvSpPr/>
          <p:nvPr/>
        </p:nvSpPr>
        <p:spPr>
          <a:xfrm>
            <a:off x="3441700" y="1676400"/>
            <a:ext cx="406400" cy="406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2</a:t>
            </a:r>
          </a:p>
        </p:txBody>
      </p:sp>
      <p:sp>
        <p:nvSpPr>
          <p:cNvPr id="741" name="lbl1"/>
          <p:cNvSpPr/>
          <p:nvPr/>
        </p:nvSpPr>
        <p:spPr>
          <a:xfrm>
            <a:off x="3949700" y="1701800"/>
            <a:ext cx="1739900" cy="86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Grammar</a:t>
            </a:r>
          </a:p>
          <a:p>
            <a:pPr algn="l">
              <a:buNone/>
            </a:pPr>
            <a:r>
              <a:rPr lang="en-US" sz="1150">
                <a:solidFill>
                  <a:srgbClr val="595959"/>
                </a:solidFill>
                <a:latin typeface="Inter Tight"/>
                <a:cs typeface="Inter Tight"/>
              </a:rPr>
              <a:t>The new syntax you added</a:t>
            </a:r>
          </a:p>
        </p:txBody>
      </p:sp>
      <p:sp>
        <p:nvSpPr>
          <p:cNvPr id="702" name="card2"/>
          <p:cNvSpPr/>
          <p:nvPr/>
        </p:nvSpPr>
        <p:spPr>
          <a:xfrm>
            <a:off x="6070600" y="1498600"/>
            <a:ext cx="2552700" cy="1219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num2"/>
          <p:cNvSpPr/>
          <p:nvPr/>
        </p:nvSpPr>
        <p:spPr>
          <a:xfrm>
            <a:off x="6248400" y="1676400"/>
            <a:ext cx="406400" cy="406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3</a:t>
            </a:r>
          </a:p>
        </p:txBody>
      </p:sp>
      <p:sp>
        <p:nvSpPr>
          <p:cNvPr id="742" name="lbl2"/>
          <p:cNvSpPr/>
          <p:nvPr/>
        </p:nvSpPr>
        <p:spPr>
          <a:xfrm>
            <a:off x="6756400" y="1701800"/>
            <a:ext cx="1739900" cy="86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AST</a:t>
            </a:r>
          </a:p>
          <a:p>
            <a:pPr algn="l">
              <a:buNone/>
            </a:pPr>
            <a:r>
              <a:rPr lang="en-US" sz="1150">
                <a:solidFill>
                  <a:srgbClr val="595959"/>
                </a:solidFill>
                <a:latin typeface="Inter Tight"/>
                <a:cs typeface="Inter Tight"/>
              </a:rPr>
              <a:t>Nodes the parser produces</a:t>
            </a:r>
          </a:p>
        </p:txBody>
      </p:sp>
      <p:sp>
        <p:nvSpPr>
          <p:cNvPr id="703" name="card3"/>
          <p:cNvSpPr/>
          <p:nvPr/>
        </p:nvSpPr>
        <p:spPr>
          <a:xfrm>
            <a:off x="457200" y="2844800"/>
            <a:ext cx="2552700" cy="1219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3" name="num3"/>
          <p:cNvSpPr/>
          <p:nvPr/>
        </p:nvSpPr>
        <p:spPr>
          <a:xfrm>
            <a:off x="635000" y="3022600"/>
            <a:ext cx="406400" cy="406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4</a:t>
            </a:r>
          </a:p>
        </p:txBody>
      </p:sp>
      <p:sp>
        <p:nvSpPr>
          <p:cNvPr id="743" name="lbl3"/>
          <p:cNvSpPr/>
          <p:nvPr/>
        </p:nvSpPr>
        <p:spPr>
          <a:xfrm>
            <a:off x="1143000" y="3048000"/>
            <a:ext cx="1739900" cy="86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Runtime</a:t>
            </a:r>
          </a:p>
          <a:p>
            <a:pPr algn="l">
              <a:buNone/>
            </a:pPr>
            <a:r>
              <a:rPr lang="en-US" sz="1150">
                <a:solidFill>
                  <a:srgbClr val="595959"/>
                </a:solidFill>
                <a:latin typeface="Inter Tight"/>
                <a:cs typeface="Inter Tight"/>
              </a:rPr>
              <a:t>How the evaluator runs it</a:t>
            </a:r>
          </a:p>
        </p:txBody>
      </p:sp>
      <p:sp>
        <p:nvSpPr>
          <p:cNvPr id="704" name="card4"/>
          <p:cNvSpPr/>
          <p:nvPr/>
        </p:nvSpPr>
        <p:spPr>
          <a:xfrm>
            <a:off x="3263900" y="2844800"/>
            <a:ext cx="2552700" cy="1219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4" name="num4"/>
          <p:cNvSpPr/>
          <p:nvPr/>
        </p:nvSpPr>
        <p:spPr>
          <a:xfrm>
            <a:off x="3441700" y="3022600"/>
            <a:ext cx="406400" cy="406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5</a:t>
            </a:r>
          </a:p>
        </p:txBody>
      </p:sp>
      <p:sp>
        <p:nvSpPr>
          <p:cNvPr id="744" name="lbl4"/>
          <p:cNvSpPr/>
          <p:nvPr/>
        </p:nvSpPr>
        <p:spPr>
          <a:xfrm>
            <a:off x="3949700" y="3048000"/>
            <a:ext cx="1739900" cy="86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Live demo</a:t>
            </a:r>
          </a:p>
          <a:p>
            <a:pPr algn="l">
              <a:buNone/>
            </a:pPr>
            <a:r>
              <a:rPr lang="en-US" sz="1150">
                <a:solidFill>
                  <a:srgbClr val="595959"/>
                </a:solidFill>
                <a:latin typeface="Inter Tight"/>
                <a:cs typeface="Inter Tight"/>
              </a:rPr>
              <a:t>Show it actually working</a:t>
            </a:r>
          </a:p>
        </p:txBody>
      </p:sp>
      <p:sp>
        <p:nvSpPr>
          <p:cNvPr id="705" name="card5"/>
          <p:cNvSpPr/>
          <p:nvPr/>
        </p:nvSpPr>
        <p:spPr>
          <a:xfrm>
            <a:off x="6070600" y="2844800"/>
            <a:ext cx="2552700" cy="1219200"/>
          </a:xfrm>
          <a:prstGeom prst="roundRect">
            <a:avLst/>
          </a:prstGeom>
          <a:solidFill>
            <a:srgbClr val="F7F5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5" name="num5"/>
          <p:cNvSpPr/>
          <p:nvPr/>
        </p:nvSpPr>
        <p:spPr>
          <a:xfrm>
            <a:off x="6248400" y="3022600"/>
            <a:ext cx="406400" cy="406400"/>
          </a:xfrm>
          <a:prstGeom prst="ellipse">
            <a:avLst/>
          </a:prstGeom>
          <a:solidFill>
            <a:srgbClr val="242385"/>
          </a:solidFill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Inter Tight"/>
                <a:cs typeface="Inter Tight"/>
              </a:rPr>
              <a:t>6</a:t>
            </a:r>
          </a:p>
        </p:txBody>
      </p:sp>
      <p:sp>
        <p:nvSpPr>
          <p:cNvPr id="745" name="lbl5"/>
          <p:cNvSpPr/>
          <p:nvPr/>
        </p:nvSpPr>
        <p:spPr>
          <a:xfrm>
            <a:off x="6756400" y="3048000"/>
            <a:ext cx="1739900" cy="863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l">
              <a:buNone/>
            </a:pPr>
            <a:r>
              <a:rPr lang="en-US" sz="1500" b="1">
                <a:solidFill>
                  <a:srgbClr val="242385"/>
                </a:solidFill>
                <a:latin typeface="Inter Tight"/>
                <a:cs typeface="Inter Tight"/>
              </a:rPr>
              <a:t>Lessons learned</a:t>
            </a:r>
          </a:p>
          <a:p>
            <a:pPr algn="l">
              <a:buNone/>
            </a:pPr>
            <a:r>
              <a:rPr lang="en-US" sz="1150">
                <a:solidFill>
                  <a:srgbClr val="595959"/>
                </a:solidFill>
                <a:latin typeface="Inter Tight"/>
                <a:cs typeface="Inter Tight"/>
              </a:rPr>
              <a:t>What surprised you</a:t>
            </a:r>
          </a:p>
        </p:txBody>
      </p:sp>
    </p:spTree>
    <p:extLst>
      <p:ext uri="{BB962C8B-B14F-4D97-AF65-F5344CB8AC3E}">
        <p14:creationId xmlns:p14="http://schemas.microsoft.com/office/powerpoint/2010/main" val="3169864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Suggested presentation flow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Tell it like a story — five beats from problem to reflection</a:t>
            </a:r>
          </a:p>
        </p:txBody>
      </p:sp>
      <p:sp>
        <p:nvSpPr>
          <p:cNvPr id="700" name="st0"/>
          <p:cNvSpPr/>
          <p:nvPr/>
        </p:nvSpPr>
        <p:spPr>
          <a:xfrm>
            <a:off x="609600" y="2235200"/>
            <a:ext cx="1422400" cy="9652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4285F4"/>
                </a:solidFill>
                <a:latin typeface="Inter Tight"/>
                <a:cs typeface="Inter Tight"/>
              </a:rPr>
              <a:t>1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Problem</a:t>
            </a:r>
          </a:p>
        </p:txBody>
      </p:sp>
      <p:sp>
        <p:nvSpPr>
          <p:cNvPr id="720" name="ar720"/>
          <p:cNvSpPr/>
          <p:nvPr/>
        </p:nvSpPr>
        <p:spPr>
          <a:xfrm>
            <a:off x="20320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1" name="st1"/>
          <p:cNvSpPr/>
          <p:nvPr/>
        </p:nvSpPr>
        <p:spPr>
          <a:xfrm>
            <a:off x="2235200" y="2235200"/>
            <a:ext cx="1422400" cy="965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2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Design</a:t>
            </a:r>
          </a:p>
        </p:txBody>
      </p:sp>
      <p:sp>
        <p:nvSpPr>
          <p:cNvPr id="721" name="ar721"/>
          <p:cNvSpPr/>
          <p:nvPr/>
        </p:nvSpPr>
        <p:spPr>
          <a:xfrm>
            <a:off x="36576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2" name="st2"/>
          <p:cNvSpPr/>
          <p:nvPr/>
        </p:nvSpPr>
        <p:spPr>
          <a:xfrm>
            <a:off x="3860800" y="2235200"/>
            <a:ext cx="1422400" cy="965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3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Implementation</a:t>
            </a:r>
          </a:p>
        </p:txBody>
      </p:sp>
      <p:sp>
        <p:nvSpPr>
          <p:cNvPr id="722" name="ar722"/>
          <p:cNvSpPr/>
          <p:nvPr/>
        </p:nvSpPr>
        <p:spPr>
          <a:xfrm>
            <a:off x="52832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3" name="st3"/>
          <p:cNvSpPr/>
          <p:nvPr/>
        </p:nvSpPr>
        <p:spPr>
          <a:xfrm>
            <a:off x="5486400" y="2235200"/>
            <a:ext cx="1422400" cy="9652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5B5BD6"/>
                </a:solidFill>
                <a:latin typeface="Inter Tight"/>
                <a:cs typeface="Inter Tight"/>
              </a:rPr>
              <a:t>4</a:t>
            </a:r>
          </a:p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Demo</a:t>
            </a:r>
          </a:p>
        </p:txBody>
      </p:sp>
      <p:sp>
        <p:nvSpPr>
          <p:cNvPr id="723" name="ar723"/>
          <p:cNvSpPr/>
          <p:nvPr/>
        </p:nvSpPr>
        <p:spPr>
          <a:xfrm>
            <a:off x="6908800" y="2463800"/>
            <a:ext cx="203200" cy="508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800" b="1">
                <a:solidFill>
                  <a:srgbClr val="5B5BD6"/>
                </a:solidFill>
                <a:latin typeface="Inter Tight"/>
                <a:cs typeface="Inter Tight"/>
              </a:rPr>
              <a:t>→</a:t>
            </a:r>
          </a:p>
        </p:txBody>
      </p:sp>
      <p:sp>
        <p:nvSpPr>
          <p:cNvPr id="704" name="st4"/>
          <p:cNvSpPr/>
          <p:nvPr/>
        </p:nvSpPr>
        <p:spPr>
          <a:xfrm>
            <a:off x="7112000" y="2235200"/>
            <a:ext cx="1422400" cy="965200"/>
          </a:xfrm>
          <a:prstGeom prst="roundRect">
            <a:avLst/>
          </a:prstGeom>
          <a:solidFill>
            <a:srgbClr val="242385"/>
          </a:solidFill>
          <a:ln>
            <a:noFill/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200" b="1">
                <a:solidFill>
                  <a:srgbClr val="EEFF41"/>
                </a:solidFill>
                <a:latin typeface="Inter Tight"/>
                <a:cs typeface="Inter Tight"/>
              </a:rPr>
              <a:t>5</a:t>
            </a:r>
          </a:p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Inter Tight"/>
                <a:cs typeface="Inter Tight"/>
              </a:rPr>
              <a:t>Reflection</a:t>
            </a:r>
          </a:p>
        </p:txBody>
      </p:sp>
      <p:sp>
        <p:nvSpPr>
          <p:cNvPr id="740" name="banner"/>
          <p:cNvSpPr/>
          <p:nvPr/>
        </p:nvSpPr>
        <p:spPr>
          <a:xfrm>
            <a:off x="457200" y="3810000"/>
            <a:ext cx="8229600" cy="609600"/>
          </a:xfrm>
          <a:prstGeom prst="roundRect">
            <a:avLst/>
          </a:prstGeom>
          <a:solidFill>
            <a:srgbClr val="EEEEFA"/>
          </a:solidFill>
          <a:ln w="12700">
            <a:solidFill>
              <a:srgbClr val="5B5BD6"/>
            </a:solidFill>
          </a:ln>
        </p:spPr>
        <p:txBody>
          <a:bodyPr wrap="square" lIns="27432" tIns="9144" rIns="27432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242385"/>
                </a:solidFill>
                <a:latin typeface="Inter Tight"/>
                <a:cs typeface="Inter Tight"/>
              </a:rPr>
              <a:t>What, how, built, shown — and what you learned.</a:t>
            </a:r>
          </a:p>
        </p:txBody>
      </p:sp>
    </p:spTree>
    <p:extLst>
      <p:ext uri="{BB962C8B-B14F-4D97-AF65-F5344CB8AC3E}">
        <p14:creationId xmlns:p14="http://schemas.microsoft.com/office/powerpoint/2010/main" val="3779345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"/>
          <p:cNvSpPr txBox="1"/>
          <p:nvPr/>
        </p:nvSpPr>
        <p:spPr>
          <a:xfrm>
            <a:off x="457200" y="330200"/>
            <a:ext cx="8229600" cy="4826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2800" b="1">
                <a:solidFill>
                  <a:srgbClr val="242385"/>
                </a:solidFill>
                <a:latin typeface="Inter Tight"/>
                <a:cs typeface="Inter Tight"/>
              </a:rPr>
              <a:t>Workshop 8: showcase</a:t>
            </a:r>
          </a:p>
        </p:txBody>
      </p:sp>
      <p:sp>
        <p:nvSpPr>
          <p:cNvPr id="301" name="t"/>
          <p:cNvSpPr txBox="1"/>
          <p:nvPr/>
        </p:nvSpPr>
        <p:spPr>
          <a:xfrm>
            <a:off x="457200" y="889000"/>
            <a:ext cx="8229600" cy="279400"/>
          </a:xfrm>
          <a:prstGeom prst="rect">
            <a:avLst/>
          </a:prstGeom>
          <a:noFill/>
        </p:spPr>
        <p:txBody>
          <a:bodyPr wrap="square" lIns="0" rIns="0" rtlCol="0" anchor="t">
            <a:noAutofit/>
          </a:bodyPr>
          <a:lstStyle/>
          <a:p>
            <a:pPr algn="l">
              <a:buNone/>
            </a:pPr>
            <a:r>
              <a:rPr lang="en-US" sz="1300">
                <a:solidFill>
                  <a:srgbClr val="1A1A2E"/>
                </a:solidFill>
                <a:latin typeface="Inter Tight"/>
                <a:cs typeface="Inter Tight"/>
              </a:rPr>
              <a:t>Next week — you take the stage</a:t>
            </a:r>
          </a:p>
        </p:txBody>
      </p:sp>
      <p:sp>
        <p:nvSpPr>
          <p:cNvPr id="700" name="card0"/>
          <p:cNvSpPr/>
          <p:nvPr/>
        </p:nvSpPr>
        <p:spPr>
          <a:xfrm>
            <a:off x="457200" y="1473200"/>
            <a:ext cx="2552700" cy="2819400"/>
          </a:xfrm>
          <a:prstGeom prst="roundRect">
            <a:avLst/>
          </a:prstGeom>
          <a:solidFill>
            <a:srgbClr val="E3F0FF"/>
          </a:solidFill>
          <a:ln w="12700">
            <a:solidFill>
              <a:srgbClr val="4285F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0" name="ico0"/>
          <p:cNvSpPr/>
          <p:nvPr/>
        </p:nvSpPr>
        <p:spPr>
          <a:xfrm>
            <a:off x="457200" y="1701800"/>
            <a:ext cx="25527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0" name="nm0"/>
          <p:cNvSpPr/>
          <p:nvPr/>
        </p:nvSpPr>
        <p:spPr>
          <a:xfrm>
            <a:off x="584200" y="2387600"/>
            <a:ext cx="22987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4285F4"/>
                </a:solidFill>
                <a:latin typeface="Inter Tight"/>
                <a:cs typeface="Inter Tight"/>
              </a:rPr>
              <a:t>Live demos</a:t>
            </a:r>
          </a:p>
        </p:txBody>
      </p:sp>
      <p:sp>
        <p:nvSpPr>
          <p:cNvPr id="740" name="d0"/>
          <p:cNvSpPr/>
          <p:nvPr/>
        </p:nvSpPr>
        <p:spPr>
          <a:xfrm>
            <a:off x="660400" y="3022600"/>
            <a:ext cx="214630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Run your language in front of the group.</a:t>
            </a:r>
          </a:p>
        </p:txBody>
      </p:sp>
      <p:sp>
        <p:nvSpPr>
          <p:cNvPr id="701" name="card1"/>
          <p:cNvSpPr/>
          <p:nvPr/>
        </p:nvSpPr>
        <p:spPr>
          <a:xfrm>
            <a:off x="3289300" y="1473200"/>
            <a:ext cx="2552700" cy="2819400"/>
          </a:xfrm>
          <a:prstGeom prst="roundRect">
            <a:avLst/>
          </a:prstGeom>
          <a:solidFill>
            <a:srgbClr val="F0EEFF"/>
          </a:solidFill>
          <a:ln w="12700">
            <a:solidFill>
              <a:srgbClr val="5B5B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1" name="ico1"/>
          <p:cNvSpPr/>
          <p:nvPr/>
        </p:nvSpPr>
        <p:spPr>
          <a:xfrm>
            <a:off x="3289300" y="1701800"/>
            <a:ext cx="25527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1" name="nm1"/>
          <p:cNvSpPr/>
          <p:nvPr/>
        </p:nvSpPr>
        <p:spPr>
          <a:xfrm>
            <a:off x="3416300" y="2387600"/>
            <a:ext cx="22987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5B5BD6"/>
                </a:solidFill>
                <a:latin typeface="Inter Tight"/>
                <a:cs typeface="Inter Tight"/>
              </a:rPr>
              <a:t>Architecture discussion</a:t>
            </a:r>
          </a:p>
        </p:txBody>
      </p:sp>
      <p:sp>
        <p:nvSpPr>
          <p:cNvPr id="741" name="d1"/>
          <p:cNvSpPr/>
          <p:nvPr/>
        </p:nvSpPr>
        <p:spPr>
          <a:xfrm>
            <a:off x="3492500" y="3022600"/>
            <a:ext cx="214630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Compare design decisions across projects.</a:t>
            </a:r>
          </a:p>
        </p:txBody>
      </p:sp>
      <p:sp>
        <p:nvSpPr>
          <p:cNvPr id="702" name="card2"/>
          <p:cNvSpPr/>
          <p:nvPr/>
        </p:nvSpPr>
        <p:spPr>
          <a:xfrm>
            <a:off x="6121400" y="1473200"/>
            <a:ext cx="2552700" cy="2819400"/>
          </a:xfrm>
          <a:prstGeom prst="roundRect">
            <a:avLst/>
          </a:prstGeom>
          <a:solidFill>
            <a:srgbClr val="FFF1E0"/>
          </a:solidFill>
          <a:ln w="12700">
            <a:solidFill>
              <a:srgbClr val="E8710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2" name="ico2"/>
          <p:cNvSpPr/>
          <p:nvPr/>
        </p:nvSpPr>
        <p:spPr>
          <a:xfrm>
            <a:off x="6121400" y="1701800"/>
            <a:ext cx="2552700" cy="55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2" name="nm2"/>
          <p:cNvSpPr/>
          <p:nvPr/>
        </p:nvSpPr>
        <p:spPr>
          <a:xfrm>
            <a:off x="6248400" y="2387600"/>
            <a:ext cx="22987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900" b="1">
                <a:solidFill>
                  <a:srgbClr val="E8710A"/>
                </a:solidFill>
                <a:latin typeface="Inter Tight"/>
                <a:cs typeface="Inter Tight"/>
              </a:rPr>
              <a:t>Celebrate</a:t>
            </a:r>
          </a:p>
        </p:txBody>
      </p:sp>
      <p:sp>
        <p:nvSpPr>
          <p:cNvPr id="742" name="d2"/>
          <p:cNvSpPr/>
          <p:nvPr/>
        </p:nvSpPr>
        <p:spPr>
          <a:xfrm>
            <a:off x="6324600" y="3022600"/>
            <a:ext cx="214630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t"/>
          <a:lstStyle/>
          <a:p>
            <a:pPr algn="ctr">
              <a:buNone/>
            </a:pPr>
            <a:r>
              <a:rPr lang="en-US" sz="1400">
                <a:solidFill>
                  <a:srgbClr val="1A1A2E"/>
                </a:solidFill>
                <a:latin typeface="Inter Tight"/>
                <a:cs typeface="Inter Tight"/>
              </a:rPr>
              <a:t>Recognise what everyone built.</a:t>
            </a:r>
          </a:p>
        </p:txBody>
      </p:sp>
      <p:pic>
        <p:nvPicPr>
          <p:cNvPr id="743" name="Graphic 743" descr="Live dem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800" y="1676400"/>
            <a:ext cx="558800" cy="558800"/>
          </a:xfrm>
          <a:prstGeom prst="rect">
            <a:avLst/>
          </a:prstGeom>
        </p:spPr>
      </p:pic>
      <p:pic>
        <p:nvPicPr>
          <p:cNvPr id="744" name="Graphic 744" descr="Architecture discuss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9900" y="1676400"/>
            <a:ext cx="558800" cy="558800"/>
          </a:xfrm>
          <a:prstGeom prst="rect">
            <a:avLst/>
          </a:prstGeom>
        </p:spPr>
      </p:pic>
      <p:pic>
        <p:nvPicPr>
          <p:cNvPr id="745" name="Graphic 745" descr="Celebr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0" y="1676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61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3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0" name="l1"/>
          <p:cNvSpPr/>
          <p:nvPr/>
        </p:nvSpPr>
        <p:spPr>
          <a:xfrm>
            <a:off x="762000" y="508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 spc="200">
                <a:solidFill>
                  <a:srgbClr val="FFFFFF"/>
                </a:solidFill>
                <a:latin typeface="Inter Tight"/>
                <a:cs typeface="Inter Tight"/>
              </a:rPr>
              <a:t>SIX WEEKS AGO</a:t>
            </a:r>
          </a:p>
        </p:txBody>
      </p:sp>
      <p:sp>
        <p:nvSpPr>
          <p:cNvPr id="711" name="b1"/>
          <p:cNvSpPr/>
          <p:nvPr/>
        </p:nvSpPr>
        <p:spPr>
          <a:xfrm>
            <a:off x="508000" y="7874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Inter Tight"/>
                <a:cs typeface="Inter Tight"/>
              </a:rPr>
              <a:t>you wrote a calculator.</a:t>
            </a:r>
          </a:p>
        </p:txBody>
      </p:sp>
      <p:sp>
        <p:nvSpPr>
          <p:cNvPr id="720" name="ar720"/>
          <p:cNvSpPr/>
          <p:nvPr/>
        </p:nvSpPr>
        <p:spPr>
          <a:xfrm>
            <a:off x="4318000" y="14224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8888C8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12" name="l2"/>
          <p:cNvSpPr/>
          <p:nvPr/>
        </p:nvSpPr>
        <p:spPr>
          <a:xfrm>
            <a:off x="762000" y="17526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 spc="200">
                <a:solidFill>
                  <a:srgbClr val="FFFFFF"/>
                </a:solidFill>
                <a:latin typeface="Inter Tight"/>
                <a:cs typeface="Inter Tight"/>
              </a:rPr>
              <a:t>TODAY</a:t>
            </a:r>
          </a:p>
        </p:txBody>
      </p:sp>
      <p:sp>
        <p:nvSpPr>
          <p:cNvPr id="713" name="b2"/>
          <p:cNvSpPr/>
          <p:nvPr/>
        </p:nvSpPr>
        <p:spPr>
          <a:xfrm>
            <a:off x="508000" y="203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Inter Tight"/>
                <a:cs typeface="Inter Tight"/>
              </a:rPr>
              <a:t>you’ve built a programming language.</a:t>
            </a:r>
          </a:p>
        </p:txBody>
      </p:sp>
      <p:sp>
        <p:nvSpPr>
          <p:cNvPr id="721" name="ar721"/>
          <p:cNvSpPr/>
          <p:nvPr/>
        </p:nvSpPr>
        <p:spPr>
          <a:xfrm>
            <a:off x="4318000" y="2667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b="1">
                <a:solidFill>
                  <a:srgbClr val="8888C8"/>
                </a:solidFill>
                <a:latin typeface="Inter Tight"/>
                <a:cs typeface="Inter Tight"/>
              </a:rPr>
              <a:t>↓</a:t>
            </a:r>
          </a:p>
        </p:txBody>
      </p:sp>
      <p:sp>
        <p:nvSpPr>
          <p:cNvPr id="714" name="l3"/>
          <p:cNvSpPr/>
          <p:nvPr/>
        </p:nvSpPr>
        <p:spPr>
          <a:xfrm>
            <a:off x="762000" y="2997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400" b="1" spc="200">
                <a:solidFill>
                  <a:srgbClr val="FFFFFF"/>
                </a:solidFill>
                <a:latin typeface="Inter Tight"/>
                <a:cs typeface="Inter Tight"/>
              </a:rPr>
              <a:t>NEXT WEEK</a:t>
            </a:r>
          </a:p>
        </p:txBody>
      </p:sp>
      <p:sp>
        <p:nvSpPr>
          <p:cNvPr id="715" name="b3"/>
          <p:cNvSpPr/>
          <p:nvPr/>
        </p:nvSpPr>
        <p:spPr>
          <a:xfrm>
            <a:off x="508000" y="32766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Inter Tight"/>
                <a:cs typeface="Inter Tight"/>
              </a:rPr>
              <a:t>you’ll show the world your language.</a:t>
            </a:r>
          </a:p>
        </p:txBody>
      </p:sp>
      <p:sp>
        <p:nvSpPr>
          <p:cNvPr id="716" name="close"/>
          <p:cNvSpPr/>
          <p:nvPr/>
        </p:nvSpPr>
        <p:spPr>
          <a:xfrm>
            <a:off x="762000" y="4064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9144" rIns="45720" bIns="9144" anchor="ctr"/>
          <a:lstStyle/>
          <a:p>
            <a:pPr algn="ctr">
              <a:buNone/>
            </a:pPr>
            <a:r>
              <a:rPr lang="en-US" sz="1600" i="1">
                <a:solidFill>
                  <a:srgbClr val="C7C7EE"/>
                </a:solidFill>
                <a:latin typeface="Inter Tight"/>
                <a:cs typeface="Inter Tight"/>
              </a:rPr>
              <a:t>Keep building. Keep experimenting.</a:t>
            </a:r>
          </a:p>
        </p:txBody>
      </p:sp>
    </p:spTree>
    <p:extLst>
      <p:ext uri="{BB962C8B-B14F-4D97-AF65-F5344CB8AC3E}">
        <p14:creationId xmlns:p14="http://schemas.microsoft.com/office/powerpoint/2010/main" val="26027807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5C163-F951-A24C-83A2-907570B7BA7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52ae08fb-fe0a-4569-b77a-71b2ca46432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3FF15707724F49A972C13B33FAAA8B" ma:contentTypeVersion="38" ma:contentTypeDescription="Create a new document." ma:contentTypeScope="" ma:versionID="851fe35329e603af911194bdcd4ec314">
  <xsd:schema xmlns:xsd="http://www.w3.org/2001/XMLSchema" xmlns:xs="http://www.w3.org/2001/XMLSchema" xmlns:p="http://schemas.microsoft.com/office/2006/metadata/properties" xmlns:ns2="a1200294-7566-47bd-bcc6-0c4e5d371f43" xmlns:ns3="babfc5af-ba08-4223-8118-2e61d2979772" targetNamespace="http://schemas.microsoft.com/office/2006/metadata/properties" ma:root="true" ma:fieldsID="0d41bec471a18ca9aab9c386c55630d7" ns2:_="" ns3:_="">
    <xsd:import namespace="a1200294-7566-47bd-bcc6-0c4e5d371f43"/>
    <xsd:import namespace="babfc5af-ba08-4223-8118-2e61d2979772"/>
    <xsd:element name="properties">
      <xsd:complexType>
        <xsd:sequence>
          <xsd:element name="documentManagement">
            <xsd:complexType>
              <xsd:all>
                <xsd:element ref="ns2:Employee" minOccurs="0"/>
                <xsd:element ref="ns2:PostingDate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SessionNo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00294-7566-47bd-bcc6-0c4e5d371f43" elementFormDefault="qualified">
    <xsd:import namespace="http://schemas.microsoft.com/office/2006/documentManagement/types"/>
    <xsd:import namespace="http://schemas.microsoft.com/office/infopath/2007/PartnerControls"/>
    <xsd:element name="Employee" ma:index="1" nillable="true" ma:displayName="Employee" ma:list="UserInfo" ma:SharePointGroup="0" ma:internalName="Employe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ostingDate" ma:index="2" nillable="true" ma:displayName="Posting Date" ma:format="DateOnly" ma:internalName="PostingDate" ma:readOnly="false">
      <xsd:simpleType>
        <xsd:restriction base="dms:DateTime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AutoTags" ma:index="14" nillable="true" ma:displayName="Tags" ma:hidden="true" ma:internalName="MediaServiceAutoTags" ma:readOnly="true">
      <xsd:simpleType>
        <xsd:restriction base="dms:Text"/>
      </xsd:simple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c01bbee-216c-4cdf-bb0c-f637e50b3b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SessionNo" ma:index="27" nillable="true" ma:displayName="Order" ma:decimals="0" ma:default="1" ma:format="Dropdown" ma:internalName="SessionNo" ma:percentage="FALSE">
      <xsd:simpleType>
        <xsd:restriction base="dms:Number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fc5af-ba08-4223-8118-2e61d29797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30907219-2b16-4918-aa31-a6d15e45b1a4}" ma:internalName="TaxCatchAll" ma:readOnly="false" ma:showField="CatchAllData" ma:web="babfc5af-ba08-4223-8118-2e61d29797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bfc5af-ba08-4223-8118-2e61d2979772" xsi:nil="true"/>
    <lcf76f155ced4ddcb4097134ff3c332f xmlns="a1200294-7566-47bd-bcc6-0c4e5d371f43">
      <Terms xmlns="http://schemas.microsoft.com/office/infopath/2007/PartnerControls"/>
    </lcf76f155ced4ddcb4097134ff3c332f>
    <SessionNo xmlns="a1200294-7566-47bd-bcc6-0c4e5d371f43">1</SessionNo>
    <PostingDate xmlns="a1200294-7566-47bd-bcc6-0c4e5d371f43" xsi:nil="true"/>
    <Employee xmlns="a1200294-7566-47bd-bcc6-0c4e5d371f43">
      <UserInfo>
        <DisplayName/>
        <AccountId xsi:nil="true"/>
        <AccountType/>
      </UserInfo>
    </Employe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A362D-1894-48CE-8E97-55D3A9BA4B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00294-7566-47bd-bcc6-0c4e5d371f43"/>
    <ds:schemaRef ds:uri="babfc5af-ba08-4223-8118-2e61d29797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C38A34-1C09-44AF-A4CC-A67B6F751BAC}">
  <ds:schemaRefs>
    <ds:schemaRef ds:uri="a1200294-7566-47bd-bcc6-0c4e5d371f43"/>
    <ds:schemaRef ds:uri="babfc5af-ba08-4223-8118-2e61d297977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21C174-D453-4914-8411-DE970D7B2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73511</TotalTime>
  <Words>1280</Words>
  <Application>Microsoft Macintosh PowerPoint</Application>
  <PresentationFormat>On-screen Show (16:9)</PresentationFormat>
  <Paragraphs>396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Helvetica Neue</vt:lpstr>
      <vt:lpstr>Arial</vt:lpstr>
      <vt:lpstr>Consolas</vt:lpstr>
      <vt:lpstr>Inter Tight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Yuwei (Vivi) Ye</cp:lastModifiedBy>
  <cp:revision>40</cp:revision>
  <cp:lastPrinted>2026-06-11T01:41:40Z</cp:lastPrinted>
  <dcterms:modified xsi:type="dcterms:W3CDTF">2026-07-18T20:44:21Z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0x010100AF3FF15707724F49A972C13B33FAAA8B</vt:lpwstr>
  </property>
  <property fmtid="{D5CDD505-2E9C-101B-9397-08002B2CF9AE}" pid="3" name="MediaServiceImageTags">
    <vt:lpwstr/>
  </property>
</Properties>
</file>