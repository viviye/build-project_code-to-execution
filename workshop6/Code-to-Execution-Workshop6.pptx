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35"/>
  </p:notesMasterIdLst>
  <p:sldIdLst>
    <p:sldId id="672" r:id="rId5"/>
    <p:sldId id="674" r:id="rId6"/>
    <p:sldId id="677" r:id="rId7"/>
    <p:sldId id="746" r:id="rId8"/>
    <p:sldId id="681" r:id="rId9"/>
    <p:sldId id="683" r:id="rId10"/>
    <p:sldId id="685" r:id="rId11"/>
    <p:sldId id="687" r:id="rId12"/>
    <p:sldId id="689" r:id="rId13"/>
    <p:sldId id="691" r:id="rId14"/>
    <p:sldId id="693" r:id="rId15"/>
    <p:sldId id="704" r:id="rId16"/>
    <p:sldId id="705" r:id="rId17"/>
    <p:sldId id="706" r:id="rId18"/>
    <p:sldId id="707" r:id="rId19"/>
    <p:sldId id="708" r:id="rId20"/>
    <p:sldId id="732" r:id="rId21"/>
    <p:sldId id="733" r:id="rId22"/>
    <p:sldId id="734" r:id="rId23"/>
    <p:sldId id="735" r:id="rId24"/>
    <p:sldId id="736" r:id="rId25"/>
    <p:sldId id="737" r:id="rId26"/>
    <p:sldId id="740" r:id="rId27"/>
    <p:sldId id="742" r:id="rId28"/>
    <p:sldId id="738" r:id="rId29"/>
    <p:sldId id="744" r:id="rId30"/>
    <p:sldId id="724" r:id="rId31"/>
    <p:sldId id="726" r:id="rId32"/>
    <p:sldId id="728" r:id="rId33"/>
    <p:sldId id="731" r:id="rId3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Inter Tight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77"/>
    <p:restoredTop sz="74724"/>
  </p:normalViewPr>
  <p:slideViewPr>
    <p:cSldViewPr snapToGrid="0">
      <p:cViewPr>
        <p:scale>
          <a:sx n="115" d="100"/>
          <a:sy n="115" d="100"/>
        </p:scale>
        <p:origin x="720" y="8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99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_3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whi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0" y="4777027"/>
            <a:ext cx="1641801" cy="1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urple">
  <p:cSld name="TITLE_1_3_1_1">
    <p:bg>
      <p:bgPr>
        <a:solidFill>
          <a:srgbClr val="BE9B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TITLE_1_3_1_1_1">
    <p:bg>
      <p:bgPr>
        <a:solidFill>
          <a:srgbClr val="FAF5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TITLE_1_3_1_1_1_1_1">
    <p:bg>
      <p:bgPr>
        <a:solidFill>
          <a:srgbClr val="242385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TITLE_1_3_1_1_1_1_1_1">
    <p:bg>
      <p:bgPr>
        <a:solidFill>
          <a:srgbClr val="5370E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>
  <p:cSld name="TITLE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7" name="Google Shape;1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38" y="411392"/>
            <a:ext cx="2845117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Yellow">
  <p:cSld name="TITLE_1_2_1">
    <p:bg>
      <p:bgPr>
        <a:solidFill>
          <a:srgbClr val="5370E7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1" name="Google Shape;2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lack">
  <p:cSld name="TITLE_1_2_1_1">
    <p:bg>
      <p:bgPr>
        <a:solidFill>
          <a:srgbClr val="BE9B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5" name="Google Shape;2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light 1">
  <p:cSld name="TITLE_1_1_7">
    <p:bg>
      <p:bgPr>
        <a:solidFill>
          <a:srgbClr val="FAF5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TITLE_1_1_6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" name="Google Shape;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dark">
  <p:cSld name="TITLE_1_1_6_1_1">
    <p:bg>
      <p:bgPr>
        <a:solidFill>
          <a:srgbClr val="24238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3500"/>
              <a:buFont typeface="Inter Tight"/>
              <a:buNone/>
              <a:defRPr sz="3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9" name="Google Shape;5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ark">
  <p:cSld name="TITLE_1_1_3_1_1">
    <p:bg>
      <p:bgPr>
        <a:solidFill>
          <a:srgbClr val="24238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10000"/>
              <a:buFont typeface="Inter Tight"/>
              <a:buNone/>
              <a:defRPr sz="10000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9" name="Google Shape;10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2">
  <p:cSld name="TITLE_1_1_6_1">
    <p:bg>
      <p:bgPr>
        <a:solidFill>
          <a:srgbClr val="BE9B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2">
  <p:cSld name="TITLE_1_1_6_2_1">
    <p:bg>
      <p:bgPr>
        <a:solidFill>
          <a:srgbClr val="BE9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None/>
              <a:defRPr sz="1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3" name="Google Shape;53;p1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" name="Google Shape;5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dark">
  <p:cSld name="TITLE_1_1_6_2_1_1">
    <p:bg>
      <p:bgPr>
        <a:solidFill>
          <a:srgbClr val="24238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ter Tight"/>
              <a:buNone/>
              <a:defRPr sz="3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purple">
  <p:cSld name="TITLE_1_1_5">
    <p:bg>
      <p:bgPr>
        <a:solidFill>
          <a:srgbClr val="BE9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white">
  <p:cSld name="TITLE_1_1_5_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dark">
  <p:cSld name="TITLE_1_1_5_1">
    <p:bg>
      <p:bgPr>
        <a:solidFill>
          <a:srgbClr val="24238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blue">
  <p:cSld name="TITLE_1_1_5_1_1">
    <p:bg>
      <p:bgPr>
        <a:solidFill>
          <a:srgbClr val="5370E7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1" name="Google Shape;8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TITLE_1_1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urple">
  <p:cSld name="TITLE_1_1_4_3">
    <p:bg>
      <p:bgPr>
        <a:solidFill>
          <a:srgbClr val="BE9B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9" name="Google Shape;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lue">
  <p:cSld name="TITLE_1_1_4_2">
    <p:bg>
      <p:bgPr>
        <a:solidFill>
          <a:srgbClr val="5370E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ark">
  <p:cSld name="TITLE_1_1_4_1">
    <p:bg>
      <p:bgPr>
        <a:solidFill>
          <a:srgbClr val="24238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459600" y="536700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7" name="Google Shape;9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TITLE_1_1_3_1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29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0000"/>
              <a:buFont typeface="Inter Tight"/>
              <a:buNone/>
              <a:defRPr sz="10000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5" name="Google Shape;10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lue">
  <p:cSld name="TITLE_1_1_3_1_1_1">
    <p:bg>
      <p:bgPr>
        <a:solidFill>
          <a:srgbClr val="5370E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0"/>
              <a:buFont typeface="Inter Tight"/>
              <a:buNone/>
              <a:defRPr sz="10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13" name="Google Shape;1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TITLE_1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5370E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" name="Google Shape;116;p3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7" name="Google Shape;1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urple">
  <p:cSld name="TITLE_1_1_2_1">
    <p:bg>
      <p:bgPr>
        <a:solidFill>
          <a:srgbClr val="BE9B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1" name="Google Shape;1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TITLE_1_1_2_1_1">
    <p:bg>
      <p:bgPr>
        <a:solidFill>
          <a:srgbClr val="24238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BE9B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blue">
  <p:cSld name="TITLE_1_1_2_1_1_1">
    <p:bg>
      <p:bgPr>
        <a:solidFill>
          <a:srgbClr val="5370E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purple">
  <p:cSld name="TITLE_1_1_1_1">
    <p:bg>
      <p:bgPr>
        <a:solidFill>
          <a:srgbClr val="BE9B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blue">
  <p:cSld name="TITLE_1_1_1_1_1">
    <p:bg>
      <p:bgPr>
        <a:solidFill>
          <a:srgbClr val="5370E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8" name="Google Shape;13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">
  <p:cSld name="Blank whit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48" r:id="rId3"/>
    <p:sldLayoutId id="2147483650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  <p:sldLayoutId id="2147483664" r:id="rId13"/>
    <p:sldLayoutId id="2147483676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3" r:id="rId32"/>
    <p:sldLayoutId id="2147483684" r:id="rId33"/>
    <p:sldLayoutId id="2147483686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"/>
          <p:cNvSpPr txBox="1"/>
          <p:nvPr/>
        </p:nvSpPr>
        <p:spPr>
          <a:xfrm>
            <a:off x="508000" y="584200"/>
            <a:ext cx="5080000" cy="279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 b="1" spc="200">
                <a:solidFill>
                  <a:srgbClr val="FFFFFF"/>
                </a:solidFill>
                <a:latin typeface="Inter Tight"/>
              </a:rPr>
              <a:t>WORKSHOP 4</a:t>
            </a:r>
          </a:p>
        </p:txBody>
      </p:sp>
      <p:sp>
        <p:nvSpPr>
          <p:cNvPr id="201" name="t"/>
          <p:cNvSpPr txBox="1"/>
          <p:nvPr/>
        </p:nvSpPr>
        <p:spPr>
          <a:xfrm>
            <a:off x="482600" y="914400"/>
            <a:ext cx="5842000" cy="1092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From Trees</a:t>
            </a:r>
          </a:p>
        </p:txBody>
      </p:sp>
      <p:sp>
        <p:nvSpPr>
          <p:cNvPr id="202" name="t"/>
          <p:cNvSpPr txBox="1"/>
          <p:nvPr/>
        </p:nvSpPr>
        <p:spPr>
          <a:xfrm>
            <a:off x="482600" y="1930400"/>
            <a:ext cx="5842000" cy="1092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to Execution</a:t>
            </a:r>
          </a:p>
        </p:txBody>
      </p:sp>
      <p:sp>
        <p:nvSpPr>
          <p:cNvPr id="203" name="t"/>
          <p:cNvSpPr txBox="1"/>
          <p:nvPr/>
        </p:nvSpPr>
        <p:spPr>
          <a:xfrm>
            <a:off x="508000" y="3276600"/>
            <a:ext cx="5334000" cy="381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latin typeface="Inter Tight"/>
              </a:rPr>
              <a:t>How do we execute it?</a:t>
            </a:r>
          </a:p>
        </p:txBody>
      </p:sp>
      <p:sp>
        <p:nvSpPr>
          <p:cNvPr id="204" name="pl"/>
          <p:cNvSpPr/>
          <p:nvPr/>
        </p:nvSpPr>
        <p:spPr>
          <a:xfrm>
            <a:off x="6604000" y="7366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Source Code</a:t>
            </a:r>
          </a:p>
        </p:txBody>
      </p:sp>
      <p:sp>
        <p:nvSpPr>
          <p:cNvPr id="205" name="ar"/>
          <p:cNvSpPr txBox="1"/>
          <p:nvPr/>
        </p:nvSpPr>
        <p:spPr>
          <a:xfrm>
            <a:off x="6604000" y="10922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6" name="pl"/>
          <p:cNvSpPr/>
          <p:nvPr/>
        </p:nvSpPr>
        <p:spPr>
          <a:xfrm>
            <a:off x="6604000" y="14478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Characters</a:t>
            </a:r>
          </a:p>
        </p:txBody>
      </p:sp>
      <p:sp>
        <p:nvSpPr>
          <p:cNvPr id="207" name="ar"/>
          <p:cNvSpPr txBox="1"/>
          <p:nvPr/>
        </p:nvSpPr>
        <p:spPr>
          <a:xfrm>
            <a:off x="6604000" y="18034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8" name="pl"/>
          <p:cNvSpPr/>
          <p:nvPr/>
        </p:nvSpPr>
        <p:spPr>
          <a:xfrm>
            <a:off x="6604000" y="21590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209" name="ar"/>
          <p:cNvSpPr txBox="1"/>
          <p:nvPr/>
        </p:nvSpPr>
        <p:spPr>
          <a:xfrm>
            <a:off x="6604000" y="25146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0" name="pl"/>
          <p:cNvSpPr/>
          <p:nvPr/>
        </p:nvSpPr>
        <p:spPr>
          <a:xfrm>
            <a:off x="6604000" y="28702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211" name="ar"/>
          <p:cNvSpPr txBox="1"/>
          <p:nvPr/>
        </p:nvSpPr>
        <p:spPr>
          <a:xfrm>
            <a:off x="6604000" y="32258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2" name="pl"/>
          <p:cNvSpPr/>
          <p:nvPr/>
        </p:nvSpPr>
        <p:spPr>
          <a:xfrm>
            <a:off x="6604000" y="35814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213" name="ar"/>
          <p:cNvSpPr txBox="1"/>
          <p:nvPr/>
        </p:nvSpPr>
        <p:spPr>
          <a:xfrm>
            <a:off x="6604000" y="39370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4" name="pl"/>
          <p:cNvSpPr/>
          <p:nvPr/>
        </p:nvSpPr>
        <p:spPr>
          <a:xfrm>
            <a:off x="6604000" y="4292600"/>
            <a:ext cx="2286000" cy="381000"/>
          </a:xfrm>
          <a:prstGeom prst="roundRect">
            <a:avLst/>
          </a:prstGeom>
          <a:solidFill>
            <a:srgbClr val="FFFFFF"/>
          </a:solidFill>
          <a:ln w="12700"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3B2C8F"/>
                </a:solidFill>
                <a:latin typeface="Consolas"/>
                <a:cs typeface="Consolas"/>
              </a:rPr>
              <a:t>Evaluator</a:t>
            </a:r>
          </a:p>
        </p:txBody>
      </p:sp>
    </p:spTree>
    <p:extLst>
      <p:ext uri="{BB962C8B-B14F-4D97-AF65-F5344CB8AC3E}">
        <p14:creationId xmlns:p14="http://schemas.microsoft.com/office/powerpoint/2010/main" val="3351251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We Built Last Week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Characters became tokens, tokens became a tree.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508000" y="1346200"/>
            <a:ext cx="40640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Expression tree from  1 + 2 * 3</a:t>
            </a:r>
          </a:p>
        </p:txBody>
      </p:sp>
      <p:cxnSp>
        <p:nvCxnSpPr>
          <p:cNvPr id="303" name="ln"/>
          <p:cNvCxnSpPr/>
          <p:nvPr/>
        </p:nvCxnSpPr>
        <p:spPr>
          <a:xfrm flipH="1">
            <a:off x="1524000" y="1930400"/>
            <a:ext cx="635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4" name="ln"/>
          <p:cNvCxnSpPr/>
          <p:nvPr/>
        </p:nvCxnSpPr>
        <p:spPr>
          <a:xfrm>
            <a:off x="2159000" y="1930400"/>
            <a:ext cx="762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5" name="ln"/>
          <p:cNvCxnSpPr/>
          <p:nvPr/>
        </p:nvCxnSpPr>
        <p:spPr>
          <a:xfrm flipH="1">
            <a:off x="2489200" y="2743200"/>
            <a:ext cx="4318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6" name="ln"/>
          <p:cNvCxnSpPr/>
          <p:nvPr/>
        </p:nvCxnSpPr>
        <p:spPr>
          <a:xfrm>
            <a:off x="2921000" y="2743200"/>
            <a:ext cx="5334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7" name="s"/>
          <p:cNvSpPr/>
          <p:nvPr/>
        </p:nvSpPr>
        <p:spPr>
          <a:xfrm>
            <a:off x="1892300" y="16637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8" name="s"/>
          <p:cNvSpPr/>
          <p:nvPr/>
        </p:nvSpPr>
        <p:spPr>
          <a:xfrm>
            <a:off x="1257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9" name="s"/>
          <p:cNvSpPr/>
          <p:nvPr/>
        </p:nvSpPr>
        <p:spPr>
          <a:xfrm>
            <a:off x="2654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0" name="s"/>
          <p:cNvSpPr/>
          <p:nvPr/>
        </p:nvSpPr>
        <p:spPr>
          <a:xfrm>
            <a:off x="22352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1" name="s"/>
          <p:cNvSpPr/>
          <p:nvPr/>
        </p:nvSpPr>
        <p:spPr>
          <a:xfrm>
            <a:off x="32004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2" name="s"/>
          <p:cNvSpPr/>
          <p:nvPr/>
        </p:nvSpPr>
        <p:spPr>
          <a:xfrm>
            <a:off x="4826000" y="1371600"/>
            <a:ext cx="3962400" cy="26670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3" name="t"/>
          <p:cNvSpPr txBox="1"/>
          <p:nvPr/>
        </p:nvSpPr>
        <p:spPr>
          <a:xfrm>
            <a:off x="5105400" y="1625600"/>
            <a:ext cx="3454400" cy="355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Consolas"/>
                <a:cs typeface="Consolas"/>
              </a:rPr>
              <a:t>Text → AST</a:t>
            </a:r>
          </a:p>
        </p:txBody>
      </p:sp>
      <p:sp>
        <p:nvSpPr>
          <p:cNvPr id="314" name="s"/>
          <p:cNvSpPr/>
          <p:nvPr/>
        </p:nvSpPr>
        <p:spPr>
          <a:xfrm>
            <a:off x="5105400" y="2108200"/>
            <a:ext cx="3403600" cy="25400"/>
          </a:xfrm>
          <a:prstGeom prst="rect">
            <a:avLst/>
          </a:prstGeom>
          <a:solidFill>
            <a:srgbClr val="D9D9F0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5" name="t"/>
          <p:cNvSpPr txBox="1"/>
          <p:nvPr/>
        </p:nvSpPr>
        <p:spPr>
          <a:xfrm>
            <a:off x="5105400" y="22606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THE PIPELINE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105400" y="24892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A1A2E"/>
                </a:solidFill>
                <a:latin typeface="Consolas"/>
                <a:cs typeface="Consolas"/>
              </a:rPr>
              <a:t>Chars → Tokens</a:t>
            </a:r>
          </a:p>
        </p:txBody>
      </p:sp>
      <p:sp>
        <p:nvSpPr>
          <p:cNvPr id="317" name="t"/>
          <p:cNvSpPr txBox="1"/>
          <p:nvPr/>
        </p:nvSpPr>
        <p:spPr>
          <a:xfrm>
            <a:off x="5105400" y="30480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THE PAYOFF</a:t>
            </a:r>
          </a:p>
        </p:txBody>
      </p:sp>
      <p:sp>
        <p:nvSpPr>
          <p:cNvPr id="318" name="t"/>
          <p:cNvSpPr txBox="1"/>
          <p:nvPr/>
        </p:nvSpPr>
        <p:spPr>
          <a:xfrm>
            <a:off x="5105400" y="32766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Parser → AST</a:t>
            </a:r>
          </a:p>
        </p:txBody>
      </p:sp>
    </p:spTree>
    <p:extLst>
      <p:ext uri="{BB962C8B-B14F-4D97-AF65-F5344CB8AC3E}">
        <p14:creationId xmlns:p14="http://schemas.microsoft.com/office/powerpoint/2010/main" val="373590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Homework Solution: Lexer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finished tokenizer — read, classify, emit.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tokenize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(text):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tokens, i = [], 0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while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i &lt; len(text):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c = text[i]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    if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c.isdigit():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    num, i = read_number(text, i)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    tokens.append(Number(num))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    else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    tokens.append(Symbol(c)); i += 1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return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651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DESIGN DECISIONS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133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while → scan to end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641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index → track position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149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loop → multi-digit</a:t>
            </a:r>
          </a:p>
        </p:txBody>
      </p:sp>
    </p:spTree>
    <p:extLst>
      <p:ext uri="{BB962C8B-B14F-4D97-AF65-F5344CB8AC3E}">
        <p14:creationId xmlns:p14="http://schemas.microsoft.com/office/powerpoint/2010/main" val="320940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Homework Solution: Parser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Recursive descent — grammar becomes code.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22352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 dirty="0" err="1">
                <a:solidFill>
                  <a:srgbClr val="FFFFFF"/>
                </a:solidFill>
                <a:latin typeface="Consolas"/>
                <a:cs typeface="Consolas"/>
              </a:rPr>
              <a:t>parse_expression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():</a:t>
            </a:r>
          </a:p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    node = 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parse_term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()</a:t>
            </a:r>
          </a:p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    while 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peek() in ("+", "-"):</a:t>
            </a:r>
          </a:p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        op = advance()</a:t>
            </a:r>
          </a:p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        node = 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BinOp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(node, op, 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parse_term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())</a:t>
            </a:r>
          </a:p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    return 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node</a:t>
            </a:r>
          </a:p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 dirty="0" err="1">
                <a:solidFill>
                  <a:srgbClr val="FFFFFF"/>
                </a:solidFill>
                <a:latin typeface="Consolas"/>
                <a:cs typeface="Consolas"/>
              </a:rPr>
              <a:t>parse_term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():</a:t>
            </a:r>
            <a:r>
              <a:rPr lang="en-US" sz="1300" dirty="0">
                <a:solidFill>
                  <a:srgbClr val="8A90A6"/>
                </a:solidFill>
                <a:latin typeface="Consolas"/>
                <a:cs typeface="Consolas"/>
              </a:rPr>
              <a:t>     # * and /</a:t>
            </a:r>
          </a:p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 dirty="0" err="1">
                <a:solidFill>
                  <a:srgbClr val="FFFFFF"/>
                </a:solidFill>
                <a:latin typeface="Consolas"/>
                <a:cs typeface="Consolas"/>
              </a:rPr>
              <a:t>parse_factor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():</a:t>
            </a:r>
            <a:r>
              <a:rPr lang="en-US" sz="1300" dirty="0">
                <a:solidFill>
                  <a:srgbClr val="8A90A6"/>
                </a:solidFill>
                <a:latin typeface="Consolas"/>
                <a:cs typeface="Consolas"/>
              </a:rPr>
              <a:t>   # number | (expr)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2235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651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HOW IT WORKS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159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recursive descent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667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precedence → nesting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175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grammar = code</a:t>
            </a:r>
          </a:p>
        </p:txBody>
      </p:sp>
      <p:sp>
        <p:nvSpPr>
          <p:cNvPr id="350" name="grammar"/>
          <p:cNvSpPr/>
          <p:nvPr/>
        </p:nvSpPr>
        <p:spPr>
          <a:xfrm>
            <a:off x="508000" y="3746500"/>
            <a:ext cx="8229600" cy="1016000"/>
          </a:xfrm>
          <a:prstGeom prst="roundRect">
            <a:avLst>
              <a:gd name="adj" fmla="val 6000"/>
            </a:avLst>
          </a:prstGeom>
          <a:solidFill>
            <a:srgbClr val="ECEAFB"/>
          </a:solidFill>
          <a:ln>
            <a:noFill/>
          </a:ln>
        </p:spPr>
        <p:txBody>
          <a:bodyPr lIns="137160" tIns="45720" rIns="91440" bIns="45720" rtlCol="0" anchor="ctr">
            <a:normAutofit lnSpcReduction="10000"/>
          </a:bodyPr>
          <a:lstStyle/>
          <a:p>
            <a:pPr algn="l">
              <a:buNone/>
            </a:pPr>
            <a:r>
              <a:rPr lang="en-US" sz="1100" b="1" spc="150">
                <a:solidFill>
                  <a:srgbClr val="5B5BD6"/>
                </a:solidFill>
                <a:latin typeface="Inter Tight"/>
                <a:cs typeface="Inter Tight"/>
              </a:rPr>
              <a:t>GRAMMAR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expression</a:t>
            </a:r>
            <a:r>
              <a:rPr lang="en-US" sz="1400">
                <a:solidFill>
                  <a:srgbClr val="242385"/>
                </a:solidFill>
                <a:latin typeface="Consolas"/>
                <a:cs typeface="Consolas"/>
              </a:rPr>
              <a:t>  →  term  ( ( "+" | "-" ) term )*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term</a:t>
            </a:r>
            <a:r>
              <a:rPr lang="en-US" sz="1400">
                <a:solidFill>
                  <a:srgbClr val="242385"/>
                </a:solidFill>
                <a:latin typeface="Consolas"/>
                <a:cs typeface="Consolas"/>
              </a:rPr>
              <a:t>        →  factor  ( ( "*" | "/" ) factor )*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factor</a:t>
            </a:r>
            <a:r>
              <a:rPr lang="en-US" sz="1400">
                <a:solidFill>
                  <a:srgbClr val="242385"/>
                </a:solidFill>
                <a:latin typeface="Consolas"/>
                <a:cs typeface="Consolas"/>
              </a:rPr>
              <a:t>      →  NUMBER  |  "(" expression ")"</a:t>
            </a:r>
          </a:p>
        </p:txBody>
      </p:sp>
    </p:spTree>
    <p:extLst>
      <p:ext uri="{BB962C8B-B14F-4D97-AF65-F5344CB8AC3E}">
        <p14:creationId xmlns:p14="http://schemas.microsoft.com/office/powerpoint/2010/main" val="334835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Project Architecture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project grows every week — two new files today.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TinyLang/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lexer.py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parser.py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ast_nodes.py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tokens.py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evaluator.py       </a:t>
            </a:r>
            <a:r>
              <a:rPr lang="en-US" sz="1400">
                <a:solidFill>
                  <a:srgbClr val="FFAB40"/>
                </a:solidFill>
                <a:latin typeface="Consolas"/>
                <a:cs typeface="Consolas"/>
              </a:rPr>
              <a:t>★ Today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environment.py     </a:t>
            </a:r>
            <a:r>
              <a:rPr lang="en-US" sz="1400">
                <a:solidFill>
                  <a:srgbClr val="FFAB40"/>
                </a:solidFill>
                <a:latin typeface="Consolas"/>
                <a:cs typeface="Consolas"/>
              </a:rPr>
              <a:t>★ Today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custom_language.py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tests/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LEGEND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✓  shipped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194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★  today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2893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grows weekly</a:t>
            </a:r>
          </a:p>
        </p:txBody>
      </p:sp>
    </p:spTree>
    <p:extLst>
      <p:ext uri="{BB962C8B-B14F-4D97-AF65-F5344CB8AC3E}">
        <p14:creationId xmlns:p14="http://schemas.microsoft.com/office/powerpoint/2010/main" val="168645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Parser vs Interpreter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Two machines, with one tree between them.</a:t>
            </a:r>
          </a:p>
        </p:txBody>
      </p:sp>
      <p:sp>
        <p:nvSpPr>
          <p:cNvPr id="302" name="s"/>
          <p:cNvSpPr/>
          <p:nvPr/>
        </p:nvSpPr>
        <p:spPr>
          <a:xfrm>
            <a:off x="1397000" y="15240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303" name="t"/>
          <p:cNvSpPr txBox="1"/>
          <p:nvPr/>
        </p:nvSpPr>
        <p:spPr>
          <a:xfrm>
            <a:off x="2286000" y="20828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397000" y="2438400"/>
            <a:ext cx="2286000" cy="5588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2286000" y="29972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6" name="s"/>
          <p:cNvSpPr/>
          <p:nvPr/>
        </p:nvSpPr>
        <p:spPr>
          <a:xfrm>
            <a:off x="1397000" y="33528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Interpreter</a:t>
            </a:r>
          </a:p>
        </p:txBody>
      </p:sp>
      <p:sp>
        <p:nvSpPr>
          <p:cNvPr id="307" name="s"/>
          <p:cNvSpPr/>
          <p:nvPr/>
        </p:nvSpPr>
        <p:spPr>
          <a:xfrm>
            <a:off x="4826000" y="1524000"/>
            <a:ext cx="3937000" cy="2463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"/>
          <p:cNvSpPr txBox="1"/>
          <p:nvPr/>
        </p:nvSpPr>
        <p:spPr>
          <a:xfrm>
            <a:off x="5080000" y="1701800"/>
            <a:ext cx="3429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TWO MACHINES</a:t>
            </a:r>
          </a:p>
        </p:txBody>
      </p:sp>
      <p:sp>
        <p:nvSpPr>
          <p:cNvPr id="309" name="s"/>
          <p:cNvSpPr/>
          <p:nvPr/>
        </p:nvSpPr>
        <p:spPr>
          <a:xfrm>
            <a:off x="5080000" y="20828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310" name="t"/>
          <p:cNvSpPr txBox="1"/>
          <p:nvPr/>
        </p:nvSpPr>
        <p:spPr>
          <a:xfrm>
            <a:off x="5537200" y="21209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Parser: text → tree</a:t>
            </a:r>
          </a:p>
        </p:txBody>
      </p:sp>
      <p:sp>
        <p:nvSpPr>
          <p:cNvPr id="311" name="s"/>
          <p:cNvSpPr/>
          <p:nvPr/>
        </p:nvSpPr>
        <p:spPr>
          <a:xfrm>
            <a:off x="5080000" y="25400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312" name="t"/>
          <p:cNvSpPr txBox="1"/>
          <p:nvPr/>
        </p:nvSpPr>
        <p:spPr>
          <a:xfrm>
            <a:off x="5537200" y="25781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Interpreter: tree → value</a:t>
            </a:r>
          </a:p>
        </p:txBody>
      </p:sp>
      <p:sp>
        <p:nvSpPr>
          <p:cNvPr id="313" name="s"/>
          <p:cNvSpPr/>
          <p:nvPr/>
        </p:nvSpPr>
        <p:spPr>
          <a:xfrm>
            <a:off x="5080000" y="29972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314" name="t"/>
          <p:cNvSpPr txBox="1"/>
          <p:nvPr/>
        </p:nvSpPr>
        <p:spPr>
          <a:xfrm>
            <a:off x="5537200" y="30353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The AST is the handoff</a:t>
            </a:r>
          </a:p>
        </p:txBody>
      </p:sp>
      <p:sp>
        <p:nvSpPr>
          <p:cNvPr id="315" name="s"/>
          <p:cNvSpPr/>
          <p:nvPr/>
        </p:nvSpPr>
        <p:spPr>
          <a:xfrm>
            <a:off x="5080000" y="34544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537200" y="34925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Output: a single value</a:t>
            </a:r>
          </a:p>
        </p:txBody>
      </p:sp>
    </p:spTree>
    <p:extLst>
      <p:ext uri="{BB962C8B-B14F-4D97-AF65-F5344CB8AC3E}">
        <p14:creationId xmlns:p14="http://schemas.microsoft.com/office/powerpoint/2010/main" val="182036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The Interpreter Algorithm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One function, called on every node.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def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evaluate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(node):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Number):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node.value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BinOp):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left  = evaluate(node.left)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right = evaluate(node.right)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apply(node.op, left, right)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TWO CASES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413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base → a leaf node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95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recursive → a branch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3782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recurse, then combine</a:t>
            </a:r>
          </a:p>
        </p:txBody>
      </p:sp>
    </p:spTree>
    <p:extLst>
      <p:ext uri="{BB962C8B-B14F-4D97-AF65-F5344CB8AC3E}">
        <p14:creationId xmlns:p14="http://schemas.microsoft.com/office/powerpoint/2010/main" val="415180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Tree Walking Revisited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Evaluation is just a postorder traversal.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508000" y="1346200"/>
            <a:ext cx="40640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Walking 1 + 2 * 3</a:t>
            </a:r>
          </a:p>
        </p:txBody>
      </p:sp>
      <p:cxnSp>
        <p:nvCxnSpPr>
          <p:cNvPr id="303" name="ln"/>
          <p:cNvCxnSpPr/>
          <p:nvPr/>
        </p:nvCxnSpPr>
        <p:spPr>
          <a:xfrm flipH="1">
            <a:off x="1524000" y="1930400"/>
            <a:ext cx="635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4" name="ln"/>
          <p:cNvCxnSpPr/>
          <p:nvPr/>
        </p:nvCxnSpPr>
        <p:spPr>
          <a:xfrm>
            <a:off x="2159000" y="1930400"/>
            <a:ext cx="762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5" name="ln"/>
          <p:cNvCxnSpPr/>
          <p:nvPr/>
        </p:nvCxnSpPr>
        <p:spPr>
          <a:xfrm flipH="1">
            <a:off x="2489200" y="2743200"/>
            <a:ext cx="4318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6" name="ln"/>
          <p:cNvCxnSpPr/>
          <p:nvPr/>
        </p:nvCxnSpPr>
        <p:spPr>
          <a:xfrm>
            <a:off x="2921000" y="2743200"/>
            <a:ext cx="5334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7" name="s"/>
          <p:cNvSpPr/>
          <p:nvPr/>
        </p:nvSpPr>
        <p:spPr>
          <a:xfrm>
            <a:off x="1892300" y="16637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8" name="s"/>
          <p:cNvSpPr/>
          <p:nvPr/>
        </p:nvSpPr>
        <p:spPr>
          <a:xfrm>
            <a:off x="1257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9" name="s"/>
          <p:cNvSpPr/>
          <p:nvPr/>
        </p:nvSpPr>
        <p:spPr>
          <a:xfrm>
            <a:off x="2654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0" name="s"/>
          <p:cNvSpPr/>
          <p:nvPr/>
        </p:nvSpPr>
        <p:spPr>
          <a:xfrm>
            <a:off x="22352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1" name="s"/>
          <p:cNvSpPr/>
          <p:nvPr/>
        </p:nvSpPr>
        <p:spPr>
          <a:xfrm>
            <a:off x="32004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2" name="s"/>
          <p:cNvSpPr/>
          <p:nvPr/>
        </p:nvSpPr>
        <p:spPr>
          <a:xfrm>
            <a:off x="4826000" y="1371600"/>
            <a:ext cx="3962400" cy="26670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3" name="t"/>
          <p:cNvSpPr txBox="1"/>
          <p:nvPr/>
        </p:nvSpPr>
        <p:spPr>
          <a:xfrm>
            <a:off x="5105400" y="1625600"/>
            <a:ext cx="3454400" cy="355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Consolas"/>
                <a:cs typeface="Consolas"/>
              </a:rPr>
              <a:t>POSTORDER</a:t>
            </a:r>
          </a:p>
        </p:txBody>
      </p:sp>
      <p:sp>
        <p:nvSpPr>
          <p:cNvPr id="314" name="s"/>
          <p:cNvSpPr/>
          <p:nvPr/>
        </p:nvSpPr>
        <p:spPr>
          <a:xfrm>
            <a:off x="5105400" y="2108200"/>
            <a:ext cx="3403600" cy="25400"/>
          </a:xfrm>
          <a:prstGeom prst="rect">
            <a:avLst/>
          </a:prstGeom>
          <a:solidFill>
            <a:srgbClr val="D9D9F0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5" name="t"/>
          <p:cNvSpPr txBox="1"/>
          <p:nvPr/>
        </p:nvSpPr>
        <p:spPr>
          <a:xfrm>
            <a:off x="5105400" y="22606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STEP 1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105400" y="24892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A1A2E"/>
                </a:solidFill>
                <a:latin typeface="Consolas"/>
                <a:cs typeface="Consolas"/>
              </a:rPr>
              <a:t>Evaluate the children</a:t>
            </a:r>
          </a:p>
        </p:txBody>
      </p:sp>
      <p:sp>
        <p:nvSpPr>
          <p:cNvPr id="317" name="t"/>
          <p:cNvSpPr txBox="1"/>
          <p:nvPr/>
        </p:nvSpPr>
        <p:spPr>
          <a:xfrm>
            <a:off x="5105400" y="30480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STEP 2</a:t>
            </a:r>
          </a:p>
        </p:txBody>
      </p:sp>
      <p:sp>
        <p:nvSpPr>
          <p:cNvPr id="318" name="t"/>
          <p:cNvSpPr txBox="1"/>
          <p:nvPr/>
        </p:nvSpPr>
        <p:spPr>
          <a:xfrm>
            <a:off x="5105400" y="32766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Combine at the parent</a:t>
            </a:r>
          </a:p>
        </p:txBody>
      </p:sp>
    </p:spTree>
    <p:extLst>
      <p:ext uri="{BB962C8B-B14F-4D97-AF65-F5344CB8AC3E}">
        <p14:creationId xmlns:p14="http://schemas.microsoft.com/office/powerpoint/2010/main" val="371016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Tracing One Evaluation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Walk the call stack for 1 + 2 * 3.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evaluate(+)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evaluate(1)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  → 1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evaluate(*)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evaluate(2)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→ 2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evaluate(3)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→ 3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*  2 * 3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 → 6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+  1 + 6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   → </a:t>
            </a:r>
            <a:r>
              <a:rPr lang="en-US" sz="1400" b="1">
                <a:solidFill>
                  <a:srgbClr val="A9A4F5"/>
                </a:solidFill>
                <a:latin typeface="Consolas"/>
              </a:rPr>
              <a:t>7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RESULT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413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95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 7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3782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leaves return first</a:t>
            </a:r>
          </a:p>
        </p:txBody>
      </p:sp>
    </p:spTree>
    <p:extLst>
      <p:ext uri="{BB962C8B-B14F-4D97-AF65-F5344CB8AC3E}">
        <p14:creationId xmlns:p14="http://schemas.microsoft.com/office/powerpoint/2010/main" val="51519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Live Demo: Implement evaluate()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Fill in evaluator.py, then run it.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def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evaluate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(node):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Number):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node.value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BinaryOp):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a = evaluate(node.left)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b = evaluate(node.right)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op == "+": </a:t>
            </a:r>
            <a:r>
              <a:rPr lang="en-US" sz="1400" b="1">
                <a:solidFill>
                  <a:srgbClr val="A9A4F5"/>
                </a:solidFill>
                <a:latin typeface="Consolas"/>
              </a:rPr>
              <a:t>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a + b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op == "*": </a:t>
            </a:r>
            <a:r>
              <a:rPr lang="en-US" sz="1400" b="1">
                <a:solidFill>
                  <a:srgbClr val="A9A4F5"/>
                </a:solidFill>
                <a:latin typeface="Consolas"/>
              </a:rPr>
              <a:t>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a * b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RUN IT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413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evaluate(ast)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95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 7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3782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it works!</a:t>
            </a:r>
          </a:p>
        </p:txBody>
      </p:sp>
    </p:spTree>
    <p:extLst>
      <p:ext uri="{BB962C8B-B14F-4D97-AF65-F5344CB8AC3E}">
        <p14:creationId xmlns:p14="http://schemas.microsoft.com/office/powerpoint/2010/main" val="662983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Meet CustomLanguage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One class that ties everything together.</a:t>
            </a:r>
          </a:p>
        </p:txBody>
      </p:sp>
      <p:sp>
        <p:nvSpPr>
          <p:cNvPr id="302" name="s"/>
          <p:cNvSpPr/>
          <p:nvPr/>
        </p:nvSpPr>
        <p:spPr>
          <a:xfrm>
            <a:off x="1397000" y="15240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parse()</a:t>
            </a:r>
          </a:p>
        </p:txBody>
      </p:sp>
      <p:sp>
        <p:nvSpPr>
          <p:cNvPr id="303" name="t"/>
          <p:cNvSpPr txBox="1"/>
          <p:nvPr/>
        </p:nvSpPr>
        <p:spPr>
          <a:xfrm>
            <a:off x="2286000" y="20828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397000" y="2438400"/>
            <a:ext cx="2286000" cy="5588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onsolas"/>
                <a:cs typeface="Consolas"/>
              </a:rPr>
              <a:t>evaluate()</a:t>
            </a:r>
          </a:p>
        </p:txBody>
      </p:sp>
      <p:sp>
        <p:nvSpPr>
          <p:cNvPr id="305" name="t"/>
          <p:cNvSpPr txBox="1"/>
          <p:nvPr/>
        </p:nvSpPr>
        <p:spPr>
          <a:xfrm>
            <a:off x="2286000" y="29972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6" name="s"/>
          <p:cNvSpPr/>
          <p:nvPr/>
        </p:nvSpPr>
        <p:spPr>
          <a:xfrm>
            <a:off x="1397000" y="33528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run()</a:t>
            </a:r>
          </a:p>
        </p:txBody>
      </p:sp>
      <p:sp>
        <p:nvSpPr>
          <p:cNvPr id="307" name="s"/>
          <p:cNvSpPr/>
          <p:nvPr/>
        </p:nvSpPr>
        <p:spPr>
          <a:xfrm>
            <a:off x="4826000" y="1524000"/>
            <a:ext cx="3937000" cy="2463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"/>
          <p:cNvSpPr txBox="1"/>
          <p:nvPr/>
        </p:nvSpPr>
        <p:spPr>
          <a:xfrm>
            <a:off x="5080000" y="1701800"/>
            <a:ext cx="3429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CustomLanguage</a:t>
            </a:r>
          </a:p>
        </p:txBody>
      </p:sp>
      <p:sp>
        <p:nvSpPr>
          <p:cNvPr id="309" name="s"/>
          <p:cNvSpPr/>
          <p:nvPr/>
        </p:nvSpPr>
        <p:spPr>
          <a:xfrm>
            <a:off x="5080000" y="20828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310" name="t"/>
          <p:cNvSpPr txBox="1"/>
          <p:nvPr/>
        </p:nvSpPr>
        <p:spPr>
          <a:xfrm>
            <a:off x="5537200" y="21209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parse() → build the AST</a:t>
            </a:r>
          </a:p>
        </p:txBody>
      </p:sp>
      <p:sp>
        <p:nvSpPr>
          <p:cNvPr id="311" name="s"/>
          <p:cNvSpPr/>
          <p:nvPr/>
        </p:nvSpPr>
        <p:spPr>
          <a:xfrm>
            <a:off x="5080000" y="25400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312" name="t"/>
          <p:cNvSpPr txBox="1"/>
          <p:nvPr/>
        </p:nvSpPr>
        <p:spPr>
          <a:xfrm>
            <a:off x="5537200" y="25781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evaluate() → get a value</a:t>
            </a:r>
          </a:p>
        </p:txBody>
      </p:sp>
      <p:sp>
        <p:nvSpPr>
          <p:cNvPr id="313" name="s"/>
          <p:cNvSpPr/>
          <p:nvPr/>
        </p:nvSpPr>
        <p:spPr>
          <a:xfrm>
            <a:off x="5080000" y="29972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314" name="t"/>
          <p:cNvSpPr txBox="1"/>
          <p:nvPr/>
        </p:nvSpPr>
        <p:spPr>
          <a:xfrm>
            <a:off x="5537200" y="30353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run() → do both at once</a:t>
            </a:r>
          </a:p>
        </p:txBody>
      </p:sp>
      <p:sp>
        <p:nvSpPr>
          <p:cNvPr id="315" name="s"/>
          <p:cNvSpPr/>
          <p:nvPr/>
        </p:nvSpPr>
        <p:spPr>
          <a:xfrm>
            <a:off x="5080000" y="34544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537200" y="34925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repl() → interactive loop</a:t>
            </a:r>
          </a:p>
        </p:txBody>
      </p:sp>
    </p:spTree>
    <p:extLst>
      <p:ext uri="{BB962C8B-B14F-4D97-AF65-F5344CB8AC3E}">
        <p14:creationId xmlns:p14="http://schemas.microsoft.com/office/powerpoint/2010/main" val="1310822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The REPL Loop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Read, Evaluate, Print — then do it again.</a:t>
            </a:r>
          </a:p>
        </p:txBody>
      </p:sp>
      <p:sp>
        <p:nvSpPr>
          <p:cNvPr id="302" name="s"/>
          <p:cNvSpPr/>
          <p:nvPr/>
        </p:nvSpPr>
        <p:spPr>
          <a:xfrm>
            <a:off x="3683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Read</a:t>
            </a:r>
          </a:p>
        </p:txBody>
      </p:sp>
      <p:sp>
        <p:nvSpPr>
          <p:cNvPr id="303" name="t"/>
          <p:cNvSpPr txBox="1"/>
          <p:nvPr/>
        </p:nvSpPr>
        <p:spPr>
          <a:xfrm>
            <a:off x="18669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4" name="s"/>
          <p:cNvSpPr/>
          <p:nvPr/>
        </p:nvSpPr>
        <p:spPr>
          <a:xfrm>
            <a:off x="20955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Parse</a:t>
            </a:r>
          </a:p>
        </p:txBody>
      </p:sp>
      <p:sp>
        <p:nvSpPr>
          <p:cNvPr id="305" name="t"/>
          <p:cNvSpPr txBox="1"/>
          <p:nvPr/>
        </p:nvSpPr>
        <p:spPr>
          <a:xfrm>
            <a:off x="35941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38227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Evaluate</a:t>
            </a:r>
          </a:p>
        </p:txBody>
      </p:sp>
      <p:sp>
        <p:nvSpPr>
          <p:cNvPr id="307" name="t"/>
          <p:cNvSpPr txBox="1"/>
          <p:nvPr/>
        </p:nvSpPr>
        <p:spPr>
          <a:xfrm>
            <a:off x="53213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8" name="s"/>
          <p:cNvSpPr/>
          <p:nvPr/>
        </p:nvSpPr>
        <p:spPr>
          <a:xfrm>
            <a:off x="55499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Print</a:t>
            </a:r>
          </a:p>
        </p:txBody>
      </p:sp>
      <p:sp>
        <p:nvSpPr>
          <p:cNvPr id="309" name="t"/>
          <p:cNvSpPr txBox="1"/>
          <p:nvPr/>
        </p:nvSpPr>
        <p:spPr>
          <a:xfrm>
            <a:off x="70485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10" name="s"/>
          <p:cNvSpPr/>
          <p:nvPr/>
        </p:nvSpPr>
        <p:spPr>
          <a:xfrm>
            <a:off x="72771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Repeat</a:t>
            </a:r>
          </a:p>
        </p:txBody>
      </p:sp>
      <p:sp>
        <p:nvSpPr>
          <p:cNvPr id="311" name="s"/>
          <p:cNvSpPr/>
          <p:nvPr/>
        </p:nvSpPr>
        <p:spPr>
          <a:xfrm>
            <a:off x="1143000" y="3098800"/>
            <a:ext cx="6858000" cy="1092200"/>
          </a:xfrm>
          <a:prstGeom prst="round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Inter Tight"/>
                <a:cs typeface="Inter Tight"/>
              </a:rPr>
              <a:t>REPL — the loop behind every interactive shell.</a:t>
            </a:r>
          </a:p>
        </p:txBody>
      </p:sp>
    </p:spTree>
    <p:extLst>
      <p:ext uri="{BB962C8B-B14F-4D97-AF65-F5344CB8AC3E}">
        <p14:creationId xmlns:p14="http://schemas.microsoft.com/office/powerpoint/2010/main" val="349064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Live Demo: Connect Everything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CustomLanguage.eval() wires the stages together.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class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CustomLanguage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eval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(self, source):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tokens = tokenize(source)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ast    = Parser(tokens).parse()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evaluate(ast)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PIPELINE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Lexer → tokens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Parser → AST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Evaluator → value</a:t>
            </a:r>
          </a:p>
        </p:txBody>
      </p:sp>
    </p:spTree>
    <p:extLst>
      <p:ext uri="{BB962C8B-B14F-4D97-AF65-F5344CB8AC3E}">
        <p14:creationId xmlns:p14="http://schemas.microsoft.com/office/powerpoint/2010/main" val="866907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Running Programs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Type an expression, get a value back.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1 + 2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3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2 * 5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10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(3 + 4) * 2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14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IT RUNS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a real language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math works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try your own</a:t>
            </a:r>
          </a:p>
        </p:txBody>
      </p:sp>
    </p:spTree>
    <p:extLst>
      <p:ext uri="{BB962C8B-B14F-4D97-AF65-F5344CB8AC3E}">
        <p14:creationId xmlns:p14="http://schemas.microsoft.com/office/powerpoint/2010/main" val="269825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Testing the Interpreter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1A1A2E"/>
                </a:solidFill>
                <a:latin typeface="Inter Tight"/>
                <a:cs typeface="Inter Tight"/>
              </a:rPr>
              <a:t>Run python -m </a:t>
            </a:r>
            <a:r>
              <a:rPr lang="en-US" sz="1300" dirty="0" err="1">
                <a:solidFill>
                  <a:srgbClr val="1A1A2E"/>
                </a:solidFill>
                <a:latin typeface="Inter Tight"/>
                <a:cs typeface="Inter Tight"/>
              </a:rPr>
              <a:t>unittest</a:t>
            </a:r>
            <a:r>
              <a:rPr lang="en-US" sz="1300" dirty="0">
                <a:solidFill>
                  <a:srgbClr val="1A1A2E"/>
                </a:solidFill>
                <a:latin typeface="Inter Tight"/>
                <a:cs typeface="Inter Tight"/>
              </a:rPr>
              <a:t> to check every case.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import 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unittest</a:t>
            </a:r>
          </a:p>
          <a:p>
            <a:pPr algn="l">
              <a:buNone/>
            </a:pPr>
            <a:endParaRPr lang="en-US" sz="1300"/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class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TestEval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(TestCase):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test_add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(self):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</a:rPr>
              <a:t>        assertEqual(run("1+2"), 3)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test_prec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(self):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</a:rPr>
              <a:t>        assertEqual(run("1+2*3"), 7)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test_paren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(self):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</a:rPr>
              <a:t>        assertEqual(run("(3+4)*2"), 14)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WHY TEST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catch breaks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trust edits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run anytime</a:t>
            </a:r>
          </a:p>
        </p:txBody>
      </p:sp>
    </p:spTree>
    <p:extLst>
      <p:ext uri="{BB962C8B-B14F-4D97-AF65-F5344CB8AC3E}">
        <p14:creationId xmlns:p14="http://schemas.microsoft.com/office/powerpoint/2010/main" val="1145426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Limitations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Our language can compute — but it can't remember.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1 + 2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3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x + 1</a:t>
            </a:r>
          </a:p>
          <a:p>
            <a:pPr algn="l">
              <a:buNone/>
            </a:pPr>
            <a:endParaRPr lang="en-US" sz="1600"/>
          </a:p>
          <a:p>
            <a:pPr algn="l">
              <a:buNone/>
            </a:pPr>
            <a:r>
              <a:rPr lang="en-US" sz="1600" b="1">
                <a:solidFill>
                  <a:srgbClr val="FF6B6B"/>
                </a:solidFill>
                <a:latin typeface="Consolas"/>
              </a:rPr>
              <a:t>NameError:</a:t>
            </a:r>
          </a:p>
          <a:p>
            <a:pPr algn="l">
              <a:buNone/>
            </a:pPr>
            <a:r>
              <a:rPr lang="en-US" sz="1600" b="1">
                <a:solidFill>
                  <a:srgbClr val="FF6B6B"/>
                </a:solidFill>
                <a:latin typeface="Consolas"/>
              </a:rPr>
              <a:t>'x' is not defined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WHY?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no value for x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never stored it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need memory</a:t>
            </a:r>
          </a:p>
        </p:txBody>
      </p:sp>
    </p:spTree>
    <p:extLst>
      <p:ext uri="{BB962C8B-B14F-4D97-AF65-F5344CB8AC3E}">
        <p14:creationId xmlns:p14="http://schemas.microsoft.com/office/powerpoint/2010/main" val="2724202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The Problem: Programs Forget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Every expression is computed — then immediately lost.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2 + 3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  <a:cs typeface="Consolas"/>
              </a:rPr>
              <a:t>5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4 + 8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  <a:cs typeface="Consolas"/>
              </a:rPr>
              <a:t>12</a:t>
            </a:r>
          </a:p>
          <a:p>
            <a:pPr algn="l"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# where did the 5 go?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NO MEMORY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expression in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value out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nothing kept</a:t>
            </a:r>
          </a:p>
        </p:txBody>
      </p:sp>
    </p:spTree>
    <p:extLst>
      <p:ext uri="{BB962C8B-B14F-4D97-AF65-F5344CB8AC3E}">
        <p14:creationId xmlns:p14="http://schemas.microsoft.com/office/powerpoint/2010/main" val="3086810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Variables Give Programs Memory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= 5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x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↦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A variable is a label on a storage box — so where does 5 live?</a:t>
            </a:r>
          </a:p>
        </p:txBody>
      </p:sp>
    </p:spTree>
    <p:extLst>
      <p:ext uri="{BB962C8B-B14F-4D97-AF65-F5344CB8AC3E}">
        <p14:creationId xmlns:p14="http://schemas.microsoft.com/office/powerpoint/2010/main" val="393182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Names vs Values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= 5,   y = x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x → 5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&amp;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y → 5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A name isn't the value — it points to one. Here x and y both point to 5.</a:t>
            </a:r>
          </a:p>
        </p:txBody>
      </p:sp>
    </p:spTree>
    <p:extLst>
      <p:ext uri="{BB962C8B-B14F-4D97-AF65-F5344CB8AC3E}">
        <p14:creationId xmlns:p14="http://schemas.microsoft.com/office/powerpoint/2010/main" val="4271965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Introducing the Environment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Where every name → value binding lives.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 = {}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env[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"x"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] = 5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env[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"y"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] = 8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 → {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"x"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: 5, 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"y"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: 8}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ENVIRONMENT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a dictionary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names → values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like a phonebook</a:t>
            </a:r>
          </a:p>
        </p:txBody>
      </p:sp>
    </p:spTree>
    <p:extLst>
      <p:ext uri="{BB962C8B-B14F-4D97-AF65-F5344CB8AC3E}">
        <p14:creationId xmlns:p14="http://schemas.microsoft.com/office/powerpoint/2010/main" val="4014382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Variable Assignment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= 5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{ }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{ x: 5 }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Assignment changes the environment — internally: env["x"] = 5.</a:t>
            </a:r>
          </a:p>
        </p:txBody>
      </p:sp>
    </p:spTree>
    <p:extLst>
      <p:ext uri="{BB962C8B-B14F-4D97-AF65-F5344CB8AC3E}">
        <p14:creationId xmlns:p14="http://schemas.microsoft.com/office/powerpoint/2010/main" val="1053152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Variable Lookup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+ 2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look up x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5 + 2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The name is replaced by its value before evaluating — result: 7.</a:t>
            </a:r>
          </a:p>
        </p:txBody>
      </p:sp>
    </p:spTree>
    <p:extLst>
      <p:ext uri="{BB962C8B-B14F-4D97-AF65-F5344CB8AC3E}">
        <p14:creationId xmlns:p14="http://schemas.microsoft.com/office/powerpoint/2010/main" val="1394456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The Environment Changes Over Time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Each assignment updates the program's state.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&gt;&gt;&gt; x = 5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  env → {x: 5}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&gt;&gt;&gt; y = 8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  env → {x: 5, y: 8}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&gt;&gt;&gt; x = 10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  env → {x: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10</a:t>
            </a: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, y: 8}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STATE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grows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changes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persists</a:t>
            </a:r>
          </a:p>
        </p:txBody>
      </p:sp>
    </p:spTree>
    <p:extLst>
      <p:ext uri="{BB962C8B-B14F-4D97-AF65-F5344CB8AC3E}">
        <p14:creationId xmlns:p14="http://schemas.microsoft.com/office/powerpoint/2010/main" val="1999843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Evaluating Variables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7874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Numbers carry their value; variables look one up.</a:t>
            </a:r>
          </a:p>
        </p:txBody>
      </p:sp>
      <p:sp>
        <p:nvSpPr>
          <p:cNvPr id="302" name="s"/>
          <p:cNvSpPr/>
          <p:nvPr/>
        </p:nvSpPr>
        <p:spPr>
          <a:xfrm>
            <a:off x="457200" y="1168400"/>
            <a:ext cx="8229600" cy="2692400"/>
          </a:xfrm>
          <a:prstGeom prst="roundRect">
            <a:avLst>
              <a:gd name="adj" fmla="val 4000"/>
            </a:avLst>
          </a:prstGeom>
          <a:solidFill>
            <a:srgbClr val="EEEEFA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05" name="t"/>
          <p:cNvSpPr txBox="1"/>
          <p:nvPr/>
        </p:nvSpPr>
        <p:spPr>
          <a:xfrm>
            <a:off x="711200" y="1320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NUMBER NODE</a:t>
            </a:r>
          </a:p>
        </p:txBody>
      </p:sp>
      <p:sp>
        <p:nvSpPr>
          <p:cNvPr id="306" name="t"/>
          <p:cNvSpPr txBox="1"/>
          <p:nvPr/>
        </p:nvSpPr>
        <p:spPr>
          <a:xfrm>
            <a:off x="4876800" y="1320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VARIABLE NODE</a:t>
            </a:r>
          </a:p>
        </p:txBody>
      </p:sp>
      <p:sp>
        <p:nvSpPr>
          <p:cNvPr id="307" name="s"/>
          <p:cNvSpPr/>
          <p:nvPr/>
        </p:nvSpPr>
        <p:spPr>
          <a:xfrm>
            <a:off x="4648200" y="1701800"/>
            <a:ext cx="25400" cy="2032000"/>
          </a:xfrm>
          <a:prstGeom prst="rect">
            <a:avLst/>
          </a:prstGeom>
          <a:solidFill>
            <a:srgbClr val="C9C9EC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10" name="t"/>
          <p:cNvSpPr txBox="1"/>
          <p:nvPr/>
        </p:nvSpPr>
        <p:spPr>
          <a:xfrm>
            <a:off x="711200" y="1778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evaluate(Number)</a:t>
            </a:r>
          </a:p>
        </p:txBody>
      </p:sp>
      <p:sp>
        <p:nvSpPr>
          <p:cNvPr id="311" name="t"/>
          <p:cNvSpPr txBox="1"/>
          <p:nvPr/>
        </p:nvSpPr>
        <p:spPr>
          <a:xfrm>
            <a:off x="4876800" y="17780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evaluate(Variable)</a:t>
            </a:r>
          </a:p>
        </p:txBody>
      </p:sp>
      <p:sp>
        <p:nvSpPr>
          <p:cNvPr id="312" name="t"/>
          <p:cNvSpPr txBox="1"/>
          <p:nvPr/>
        </p:nvSpPr>
        <p:spPr>
          <a:xfrm>
            <a:off x="711200" y="2362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return node.value</a:t>
            </a:r>
          </a:p>
        </p:txBody>
      </p:sp>
      <p:sp>
        <p:nvSpPr>
          <p:cNvPr id="313" name="t"/>
          <p:cNvSpPr txBox="1"/>
          <p:nvPr/>
        </p:nvSpPr>
        <p:spPr>
          <a:xfrm>
            <a:off x="4876800" y="23622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return env[node.name]</a:t>
            </a:r>
          </a:p>
        </p:txBody>
      </p:sp>
      <p:sp>
        <p:nvSpPr>
          <p:cNvPr id="314" name="t"/>
          <p:cNvSpPr txBox="1"/>
          <p:nvPr/>
        </p:nvSpPr>
        <p:spPr>
          <a:xfrm>
            <a:off x="711200" y="2946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always the same value</a:t>
            </a:r>
          </a:p>
        </p:txBody>
      </p:sp>
      <p:sp>
        <p:nvSpPr>
          <p:cNvPr id="315" name="t"/>
          <p:cNvSpPr txBox="1"/>
          <p:nvPr/>
        </p:nvSpPr>
        <p:spPr>
          <a:xfrm>
            <a:off x="4876800" y="29464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depends on the environment</a:t>
            </a:r>
          </a:p>
        </p:txBody>
      </p:sp>
      <p:sp>
        <p:nvSpPr>
          <p:cNvPr id="304" name="s"/>
          <p:cNvSpPr/>
          <p:nvPr/>
        </p:nvSpPr>
        <p:spPr>
          <a:xfrm>
            <a:off x="457200" y="4064000"/>
            <a:ext cx="8229600" cy="533400"/>
          </a:xfrm>
          <a:prstGeom prst="roundRect">
            <a:avLst>
              <a:gd name="adj" fmla="val 10000"/>
            </a:avLst>
          </a:prstGeom>
          <a:solidFill>
            <a:srgbClr val="24238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Same recursion — a variable just asks the environment for its value.</a:t>
            </a:r>
          </a:p>
        </p:txBody>
      </p:sp>
    </p:spTree>
    <p:extLst>
      <p:ext uri="{BB962C8B-B14F-4D97-AF65-F5344CB8AC3E}">
        <p14:creationId xmlns:p14="http://schemas.microsoft.com/office/powerpoint/2010/main" val="3179612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Live Coding: Add Variables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1A1A2E"/>
                </a:solidFill>
                <a:latin typeface="Inter Tight"/>
                <a:cs typeface="Inter Tight"/>
              </a:rPr>
              <a:t>Add Variable and Assignment nodes, then handle them in evaluate().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class </a:t>
            </a:r>
            <a:r>
              <a:rPr lang="en-US" sz="1300" b="1" dirty="0">
                <a:solidFill>
                  <a:srgbClr val="FFFFFF"/>
                </a:solidFill>
                <a:latin typeface="Consolas"/>
                <a:cs typeface="Consolas"/>
              </a:rPr>
              <a:t>Variable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:  name</a:t>
            </a:r>
          </a:p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class </a:t>
            </a:r>
            <a:r>
              <a:rPr lang="en-US" sz="1300" b="1" dirty="0">
                <a:solidFill>
                  <a:srgbClr val="FFFFFF"/>
                </a:solidFill>
                <a:latin typeface="Consolas"/>
                <a:cs typeface="Consolas"/>
              </a:rPr>
              <a:t>Assignment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:  name, value</a:t>
            </a:r>
          </a:p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300" b="1" dirty="0" err="1">
                <a:solidFill>
                  <a:srgbClr val="A9A4F5"/>
                </a:solidFill>
                <a:latin typeface="Consolas"/>
                <a:cs typeface="Consolas"/>
              </a:rPr>
              <a:t>elif</a:t>
            </a: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isinstance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(node, Variable):</a:t>
            </a:r>
          </a:p>
          <a:p>
            <a:pPr algn="l">
              <a:buNone/>
            </a:pP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    return 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env[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node.name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]</a:t>
            </a:r>
          </a:p>
          <a:p>
            <a:pPr algn="l">
              <a:buNone/>
            </a:pPr>
            <a:r>
              <a:rPr lang="en-US" sz="1300" b="1" dirty="0" err="1">
                <a:solidFill>
                  <a:srgbClr val="A9A4F5"/>
                </a:solidFill>
                <a:latin typeface="Consolas"/>
                <a:cs typeface="Consolas"/>
              </a:rPr>
              <a:t>elif</a:t>
            </a:r>
            <a:r>
              <a:rPr lang="en-US" sz="1300" b="1" dirty="0">
                <a:solidFill>
                  <a:srgbClr val="A9A4F5"/>
                </a:solidFill>
                <a:latin typeface="Consolas"/>
                <a:cs typeface="Consolas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isinstance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(node, Assignment):</a:t>
            </a:r>
          </a:p>
          <a:p>
            <a:pPr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    env[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node.name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] = evaluate(</a:t>
            </a:r>
            <a:r>
              <a:rPr lang="en-US" sz="1300" dirty="0" err="1">
                <a:solidFill>
                  <a:srgbClr val="FFFFFF"/>
                </a:solidFill>
                <a:latin typeface="Consolas"/>
                <a:cs typeface="Consolas"/>
              </a:rPr>
              <a:t>node.value</a:t>
            </a:r>
            <a:r>
              <a:rPr lang="en-US" sz="1300" dirty="0">
                <a:solidFill>
                  <a:srgbClr val="FFFFFF"/>
                </a:solidFill>
                <a:latin typeface="Consolas"/>
                <a:cs typeface="Consolas"/>
              </a:rPr>
              <a:t>, env)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TWO NODES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Variable: read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Assignment: write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env threads through</a:t>
            </a:r>
          </a:p>
        </p:txBody>
      </p:sp>
    </p:spTree>
    <p:extLst>
      <p:ext uri="{BB962C8B-B14F-4D97-AF65-F5344CB8AC3E}">
        <p14:creationId xmlns:p14="http://schemas.microsoft.com/office/powerpoint/2010/main" val="703559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Our Interpreter Has State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Now each line can affect the lines that come after it.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x = 5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y = x + 2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y * 3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  <a:cs typeface="Consolas"/>
              </a:rPr>
              <a:t>21</a:t>
            </a:r>
          </a:p>
          <a:p>
            <a:pPr algn="l"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# x and y are remembered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BEFORE → AFTER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was: stateless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now: remembers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state persists</a:t>
            </a:r>
          </a:p>
        </p:txBody>
      </p:sp>
    </p:spTree>
    <p:extLst>
      <p:ext uri="{BB962C8B-B14F-4D97-AF65-F5344CB8AC3E}">
        <p14:creationId xmlns:p14="http://schemas.microsoft.com/office/powerpoint/2010/main" val="2778712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The Complete Interpreter Pipeline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Source code goes in, a result comes out — every stage you built.</a:t>
            </a:r>
          </a:p>
        </p:txBody>
      </p:sp>
      <p:sp>
        <p:nvSpPr>
          <p:cNvPr id="302" name="s"/>
          <p:cNvSpPr/>
          <p:nvPr/>
        </p:nvSpPr>
        <p:spPr>
          <a:xfrm>
            <a:off x="3683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Source</a:t>
            </a:r>
          </a:p>
        </p:txBody>
      </p:sp>
      <p:sp>
        <p:nvSpPr>
          <p:cNvPr id="303" name="t"/>
          <p:cNvSpPr txBox="1"/>
          <p:nvPr/>
        </p:nvSpPr>
        <p:spPr>
          <a:xfrm>
            <a:off x="18669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4" name="s"/>
          <p:cNvSpPr/>
          <p:nvPr/>
        </p:nvSpPr>
        <p:spPr>
          <a:xfrm>
            <a:off x="20955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Lexer</a:t>
            </a:r>
          </a:p>
        </p:txBody>
      </p:sp>
      <p:sp>
        <p:nvSpPr>
          <p:cNvPr id="305" name="t"/>
          <p:cNvSpPr txBox="1"/>
          <p:nvPr/>
        </p:nvSpPr>
        <p:spPr>
          <a:xfrm>
            <a:off x="35941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38227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307" name="t"/>
          <p:cNvSpPr txBox="1"/>
          <p:nvPr/>
        </p:nvSpPr>
        <p:spPr>
          <a:xfrm>
            <a:off x="53213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8" name="s"/>
          <p:cNvSpPr/>
          <p:nvPr/>
        </p:nvSpPr>
        <p:spPr>
          <a:xfrm>
            <a:off x="55499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Interpreter</a:t>
            </a:r>
          </a:p>
        </p:txBody>
      </p:sp>
      <p:sp>
        <p:nvSpPr>
          <p:cNvPr id="309" name="t"/>
          <p:cNvSpPr txBox="1"/>
          <p:nvPr/>
        </p:nvSpPr>
        <p:spPr>
          <a:xfrm>
            <a:off x="70485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10" name="s"/>
          <p:cNvSpPr/>
          <p:nvPr/>
        </p:nvSpPr>
        <p:spPr>
          <a:xfrm>
            <a:off x="72771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Result</a:t>
            </a:r>
          </a:p>
        </p:txBody>
      </p:sp>
      <p:sp>
        <p:nvSpPr>
          <p:cNvPr id="311" name="s"/>
          <p:cNvSpPr/>
          <p:nvPr/>
        </p:nvSpPr>
        <p:spPr>
          <a:xfrm>
            <a:off x="1143000" y="3098800"/>
            <a:ext cx="6858000" cy="1092200"/>
          </a:xfrm>
          <a:prstGeom prst="round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Inter Tight"/>
                <a:cs typeface="Inter Tight"/>
              </a:rPr>
              <a:t>The Parser builds the AST the Interpreter walks — you built every stage.</a:t>
            </a:r>
          </a:p>
        </p:txBody>
      </p:sp>
    </p:spTree>
    <p:extLst>
      <p:ext uri="{BB962C8B-B14F-4D97-AF65-F5344CB8AC3E}">
        <p14:creationId xmlns:p14="http://schemas.microsoft.com/office/powerpoint/2010/main" val="496019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Project Architecture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Updated — everything you built today is now green.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TinyLang/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lexer.py 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parser.py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ast_nodes.py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tokens.py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evaluator.py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environment.py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custom_language.py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tests/              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STATUS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all built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194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8 files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2893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tests next</a:t>
            </a:r>
          </a:p>
        </p:txBody>
      </p:sp>
    </p:spTree>
    <p:extLst>
      <p:ext uri="{BB962C8B-B14F-4D97-AF65-F5344CB8AC3E}">
        <p14:creationId xmlns:p14="http://schemas.microsoft.com/office/powerpoint/2010/main" val="3625686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We Built Today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7874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From reviewing homework to a language that remembers.</a:t>
            </a:r>
          </a:p>
        </p:txBody>
      </p:sp>
      <p:sp>
        <p:nvSpPr>
          <p:cNvPr id="302" name="s"/>
          <p:cNvSpPr/>
          <p:nvPr/>
        </p:nvSpPr>
        <p:spPr>
          <a:xfrm>
            <a:off x="457200" y="1168400"/>
            <a:ext cx="8229600" cy="2692400"/>
          </a:xfrm>
          <a:prstGeom prst="roundRect">
            <a:avLst>
              <a:gd name="adj" fmla="val 4000"/>
            </a:avLst>
          </a:prstGeom>
          <a:solidFill>
            <a:srgbClr val="EEEEFA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05" name="t"/>
          <p:cNvSpPr txBox="1"/>
          <p:nvPr/>
        </p:nvSpPr>
        <p:spPr>
          <a:xfrm>
            <a:off x="711200" y="1320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INTERPRETER</a:t>
            </a:r>
          </a:p>
        </p:txBody>
      </p:sp>
      <p:sp>
        <p:nvSpPr>
          <p:cNvPr id="306" name="t"/>
          <p:cNvSpPr txBox="1"/>
          <p:nvPr/>
        </p:nvSpPr>
        <p:spPr>
          <a:xfrm>
            <a:off x="4876800" y="1320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MEMORY</a:t>
            </a:r>
          </a:p>
        </p:txBody>
      </p:sp>
      <p:sp>
        <p:nvSpPr>
          <p:cNvPr id="307" name="s"/>
          <p:cNvSpPr/>
          <p:nvPr/>
        </p:nvSpPr>
        <p:spPr>
          <a:xfrm>
            <a:off x="4648200" y="1701800"/>
            <a:ext cx="25400" cy="2032000"/>
          </a:xfrm>
          <a:prstGeom prst="rect">
            <a:avLst/>
          </a:prstGeom>
          <a:solidFill>
            <a:srgbClr val="C9C9EC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10" name="t"/>
          <p:cNvSpPr txBox="1"/>
          <p:nvPr/>
        </p:nvSpPr>
        <p:spPr>
          <a:xfrm>
            <a:off x="711200" y="1778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Reviewed the lexer</a:t>
            </a:r>
          </a:p>
        </p:txBody>
      </p:sp>
      <p:sp>
        <p:nvSpPr>
          <p:cNvPr id="311" name="t"/>
          <p:cNvSpPr txBox="1"/>
          <p:nvPr/>
        </p:nvSpPr>
        <p:spPr>
          <a:xfrm>
            <a:off x="4876800" y="17780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Connected the interpreter</a:t>
            </a:r>
          </a:p>
        </p:txBody>
      </p:sp>
      <p:sp>
        <p:nvSpPr>
          <p:cNvPr id="312" name="t"/>
          <p:cNvSpPr txBox="1"/>
          <p:nvPr/>
        </p:nvSpPr>
        <p:spPr>
          <a:xfrm>
            <a:off x="711200" y="2362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Reviewed the parser</a:t>
            </a:r>
          </a:p>
        </p:txBody>
      </p:sp>
      <p:sp>
        <p:nvSpPr>
          <p:cNvPr id="313" name="t"/>
          <p:cNvSpPr txBox="1"/>
          <p:nvPr/>
        </p:nvSpPr>
        <p:spPr>
          <a:xfrm>
            <a:off x="4876800" y="23622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Added environments</a:t>
            </a:r>
          </a:p>
        </p:txBody>
      </p:sp>
      <p:sp>
        <p:nvSpPr>
          <p:cNvPr id="314" name="t"/>
          <p:cNvSpPr txBox="1"/>
          <p:nvPr/>
        </p:nvSpPr>
        <p:spPr>
          <a:xfrm>
            <a:off x="711200" y="2946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Built the evaluator</a:t>
            </a:r>
          </a:p>
        </p:txBody>
      </p:sp>
      <p:sp>
        <p:nvSpPr>
          <p:cNvPr id="315" name="t"/>
          <p:cNvSpPr txBox="1"/>
          <p:nvPr/>
        </p:nvSpPr>
        <p:spPr>
          <a:xfrm>
            <a:off x="4876800" y="29464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Variables work</a:t>
            </a:r>
          </a:p>
        </p:txBody>
      </p:sp>
      <p:sp>
        <p:nvSpPr>
          <p:cNvPr id="304" name="s"/>
          <p:cNvSpPr/>
          <p:nvPr/>
        </p:nvSpPr>
        <p:spPr>
          <a:xfrm>
            <a:off x="457200" y="4064000"/>
            <a:ext cx="8229600" cy="533400"/>
          </a:xfrm>
          <a:prstGeom prst="roundRect">
            <a:avLst>
              <a:gd name="adj" fmla="val 10000"/>
            </a:avLst>
          </a:prstGeom>
          <a:solidFill>
            <a:srgbClr val="24238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Six stages down — your language runs real programs.</a:t>
            </a:r>
          </a:p>
        </p:txBody>
      </p:sp>
    </p:spTree>
    <p:extLst>
      <p:ext uri="{BB962C8B-B14F-4D97-AF65-F5344CB8AC3E}">
        <p14:creationId xmlns:p14="http://schemas.microsoft.com/office/powerpoint/2010/main" val="1372495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Homework &amp; Next Week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Practice what you built today, then get ready for control flow.</a:t>
            </a:r>
          </a:p>
        </p:txBody>
      </p:sp>
      <p:sp>
        <p:nvSpPr>
          <p:cNvPr id="302" name="s"/>
          <p:cNvSpPr/>
          <p:nvPr/>
        </p:nvSpPr>
        <p:spPr>
          <a:xfrm>
            <a:off x="381000" y="1371600"/>
            <a:ext cx="4064000" cy="2743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t"/>
          <p:cNvSpPr txBox="1"/>
          <p:nvPr/>
        </p:nvSpPr>
        <p:spPr>
          <a:xfrm>
            <a:off x="635000" y="1549400"/>
            <a:ext cx="3556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HOMEWORK</a:t>
            </a:r>
          </a:p>
        </p:txBody>
      </p:sp>
      <p:sp>
        <p:nvSpPr>
          <p:cNvPr id="304" name="t"/>
          <p:cNvSpPr txBox="1"/>
          <p:nvPr/>
        </p:nvSpPr>
        <p:spPr>
          <a:xfrm>
            <a:off x="635000" y="1905000"/>
            <a:ext cx="3657600" cy="2032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Finish the remaining TODOs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Add more evaluator cases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Write variable lookup tests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Write assignment tests</a:t>
            </a:r>
          </a:p>
        </p:txBody>
      </p:sp>
      <p:sp>
        <p:nvSpPr>
          <p:cNvPr id="305" name="s"/>
          <p:cNvSpPr/>
          <p:nvPr/>
        </p:nvSpPr>
        <p:spPr>
          <a:xfrm>
            <a:off x="4699000" y="1371600"/>
            <a:ext cx="4064000" cy="2743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6" name="t"/>
          <p:cNvSpPr txBox="1"/>
          <p:nvPr/>
        </p:nvSpPr>
        <p:spPr>
          <a:xfrm>
            <a:off x="4927600" y="1549400"/>
            <a:ext cx="36068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NEXT WEEK — WORKSHOP 5</a:t>
            </a:r>
          </a:p>
        </p:txBody>
      </p:sp>
      <p:sp>
        <p:nvSpPr>
          <p:cNvPr id="307" name="s"/>
          <p:cNvSpPr/>
          <p:nvPr/>
        </p:nvSpPr>
        <p:spPr>
          <a:xfrm>
            <a:off x="4927600" y="1854200"/>
            <a:ext cx="2286000" cy="711200"/>
          </a:xfrm>
          <a:prstGeom prst="roundRect">
            <a:avLst/>
          </a:prstGeom>
          <a:solidFill>
            <a:srgbClr val="1E1E32"/>
          </a:solidFill>
        </p:spPr>
        <p:txBody>
          <a:bodyPr wrap="square" lIns="24000" rtlCol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if x &gt; 0: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while x &gt; 0:</a:t>
            </a:r>
          </a:p>
        </p:txBody>
      </p:sp>
      <p:sp>
        <p:nvSpPr>
          <p:cNvPr id="308" name="t"/>
          <p:cNvSpPr txBox="1"/>
          <p:nvPr/>
        </p:nvSpPr>
        <p:spPr>
          <a:xfrm>
            <a:off x="4927600" y="2641600"/>
            <a:ext cx="3606800" cy="558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How does a program decide what to run next?</a:t>
            </a:r>
          </a:p>
        </p:txBody>
      </p:sp>
      <p:sp>
        <p:nvSpPr>
          <p:cNvPr id="309" name="s"/>
          <p:cNvSpPr/>
          <p:nvPr/>
        </p:nvSpPr>
        <p:spPr>
          <a:xfrm>
            <a:off x="4927600" y="3657600"/>
            <a:ext cx="10922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if</a:t>
            </a:r>
          </a:p>
        </p:txBody>
      </p:sp>
      <p:sp>
        <p:nvSpPr>
          <p:cNvPr id="310" name="s"/>
          <p:cNvSpPr/>
          <p:nvPr/>
        </p:nvSpPr>
        <p:spPr>
          <a:xfrm>
            <a:off x="6121400" y="3657600"/>
            <a:ext cx="14224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while</a:t>
            </a:r>
          </a:p>
        </p:txBody>
      </p:sp>
      <p:sp>
        <p:nvSpPr>
          <p:cNvPr id="311" name="s"/>
          <p:cNvSpPr/>
          <p:nvPr/>
        </p:nvSpPr>
        <p:spPr>
          <a:xfrm>
            <a:off x="7645400" y="3657600"/>
            <a:ext cx="7874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blocks</a:t>
            </a:r>
          </a:p>
        </p:txBody>
      </p:sp>
    </p:spTree>
    <p:extLst>
      <p:ext uri="{BB962C8B-B14F-4D97-AF65-F5344CB8AC3E}">
        <p14:creationId xmlns:p14="http://schemas.microsoft.com/office/powerpoint/2010/main" val="247244923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5C163-F951-A24C-83A2-907570B7BA7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2ae08fb-fe0a-4569-b77a-71b2ca4643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3FF15707724F49A972C13B33FAAA8B" ma:contentTypeVersion="38" ma:contentTypeDescription="Create a new document." ma:contentTypeScope="" ma:versionID="851fe35329e603af911194bdcd4ec314">
  <xsd:schema xmlns:xsd="http://www.w3.org/2001/XMLSchema" xmlns:xs="http://www.w3.org/2001/XMLSchema" xmlns:p="http://schemas.microsoft.com/office/2006/metadata/properties" xmlns:ns2="a1200294-7566-47bd-bcc6-0c4e5d371f43" xmlns:ns3="babfc5af-ba08-4223-8118-2e61d2979772" targetNamespace="http://schemas.microsoft.com/office/2006/metadata/properties" ma:root="true" ma:fieldsID="0d41bec471a18ca9aab9c386c55630d7" ns2:_="" ns3:_="">
    <xsd:import namespace="a1200294-7566-47bd-bcc6-0c4e5d371f43"/>
    <xsd:import namespace="babfc5af-ba08-4223-8118-2e61d2979772"/>
    <xsd:element name="properties">
      <xsd:complexType>
        <xsd:sequence>
          <xsd:element name="documentManagement">
            <xsd:complexType>
              <xsd:all>
                <xsd:element ref="ns2:Employee" minOccurs="0"/>
                <xsd:element ref="ns2:Posting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SessionNo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0294-7566-47bd-bcc6-0c4e5d371f43" elementFormDefault="qualified">
    <xsd:import namespace="http://schemas.microsoft.com/office/2006/documentManagement/types"/>
    <xsd:import namespace="http://schemas.microsoft.com/office/infopath/2007/PartnerControls"/>
    <xsd:element name="Employee" ma:index="1" nillable="true" ma:displayName="Employee" ma:list="UserInfo" ma:SharePointGroup="0" ma:internalName="Employe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ingDate" ma:index="2" nillable="true" ma:displayName="Posting Date" ma:format="DateOnly" ma:internalName="PostingDate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4" nillable="true" ma:displayName="Tags" ma:hidden="true" ma:internalName="MediaServiceAutoTags" ma:readOnly="true">
      <xsd:simpleType>
        <xsd:restriction base="dms:Text"/>
      </xsd:simple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c01bbee-216c-4cdf-bb0c-f637e50b3b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SessionNo" ma:index="27" nillable="true" ma:displayName="Order" ma:decimals="0" ma:default="1" ma:format="Dropdown" ma:internalName="SessionNo" ma:percentage="FALSE">
      <xsd:simpleType>
        <xsd:restriction base="dms:Number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fc5af-ba08-4223-8118-2e61d29797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30907219-2b16-4918-aa31-a6d15e45b1a4}" ma:internalName="TaxCatchAll" ma:readOnly="false" ma:showField="CatchAllData" ma:web="babfc5af-ba08-4223-8118-2e61d29797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bfc5af-ba08-4223-8118-2e61d2979772" xsi:nil="true"/>
    <lcf76f155ced4ddcb4097134ff3c332f xmlns="a1200294-7566-47bd-bcc6-0c4e5d371f43">
      <Terms xmlns="http://schemas.microsoft.com/office/infopath/2007/PartnerControls"/>
    </lcf76f155ced4ddcb4097134ff3c332f>
    <SessionNo xmlns="a1200294-7566-47bd-bcc6-0c4e5d371f43">1</SessionNo>
    <PostingDate xmlns="a1200294-7566-47bd-bcc6-0c4e5d371f43" xsi:nil="true"/>
    <Employee xmlns="a1200294-7566-47bd-bcc6-0c4e5d371f43">
      <UserInfo>
        <DisplayName/>
        <AccountId xsi:nil="true"/>
        <AccountType/>
      </UserInfo>
    </Employe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A362D-1894-48CE-8E97-55D3A9BA4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00294-7566-47bd-bcc6-0c4e5d371f43"/>
    <ds:schemaRef ds:uri="babfc5af-ba08-4223-8118-2e61d2979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C38A34-1C09-44AF-A4CC-A67B6F751BAC}">
  <ds:schemaRefs>
    <ds:schemaRef ds:uri="a1200294-7566-47bd-bcc6-0c4e5d371f43"/>
    <ds:schemaRef ds:uri="babfc5af-ba08-4223-8118-2e61d297977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21C174-D453-4914-8411-DE970D7B2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64616</TotalTime>
  <Words>1612</Words>
  <Application>Microsoft Macintosh PowerPoint</Application>
  <PresentationFormat>On-screen Show (16:9)</PresentationFormat>
  <Paragraphs>377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Helvetica Neue</vt:lpstr>
      <vt:lpstr>Consolas</vt:lpstr>
      <vt:lpstr>Inter Tight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Yuwei (Vivi) Ye</cp:lastModifiedBy>
  <cp:revision>38</cp:revision>
  <cp:lastPrinted>2026-06-11T01:41:40Z</cp:lastPrinted>
  <dcterms:modified xsi:type="dcterms:W3CDTF">2026-07-04T19:45:16Z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0x010100AF3FF15707724F49A972C13B33FAAA8B</vt:lpwstr>
  </property>
  <property fmtid="{D5CDD505-2E9C-101B-9397-08002B2CF9AE}" pid="3" name="MediaServiceImageTags">
    <vt:lpwstr/>
  </property>
</Properties>
</file>