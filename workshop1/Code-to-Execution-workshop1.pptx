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18"/>
  </p:notesMasterIdLst>
  <p:sldIdLst>
    <p:sldId id="399" r:id="rId5"/>
    <p:sldId id="480" r:id="rId6"/>
    <p:sldId id="481" r:id="rId7"/>
    <p:sldId id="553" r:id="rId8"/>
    <p:sldId id="544" r:id="rId9"/>
    <p:sldId id="483" r:id="rId10"/>
    <p:sldId id="554" r:id="rId11"/>
    <p:sldId id="485" r:id="rId12"/>
    <p:sldId id="486" r:id="rId13"/>
    <p:sldId id="487" r:id="rId14"/>
    <p:sldId id="488" r:id="rId15"/>
    <p:sldId id="555" r:id="rId16"/>
    <p:sldId id="490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 Tight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87"/>
    <p:restoredTop sz="94719"/>
  </p:normalViewPr>
  <p:slideViewPr>
    <p:cSldViewPr snapToGrid="0">
      <p:cViewPr varScale="1">
        <p:scale>
          <a:sx n="140" d="100"/>
          <a:sy n="140" d="100"/>
        </p:scale>
        <p:origin x="208" y="1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a35eb75d8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a35eb75d8_0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70E6EFD6-9A58-53F7-1CFD-A600D8016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c952e11bf4_0_105:notes">
            <a:extLst>
              <a:ext uri="{FF2B5EF4-FFF2-40B4-BE49-F238E27FC236}">
                <a16:creationId xmlns:a16="http://schemas.microsoft.com/office/drawing/2014/main" id="{DC6FE8FD-D238-B230-E726-36E950D77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c952e11bf4_0_105:notes">
            <a:extLst>
              <a:ext uri="{FF2B5EF4-FFF2-40B4-BE49-F238E27FC236}">
                <a16:creationId xmlns:a16="http://schemas.microsoft.com/office/drawing/2014/main" id="{E7AABC7D-E4C3-C151-EBF5-5D528791A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43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_3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whi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0" y="4777027"/>
            <a:ext cx="1641801" cy="1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urple">
  <p:cSld name="TITLE_1_3_1_1">
    <p:bg>
      <p:bgPr>
        <a:solidFill>
          <a:srgbClr val="BE9B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TITLE_1_3_1_1_1">
    <p:bg>
      <p:bgPr>
        <a:solidFill>
          <a:srgbClr val="FAF5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">
  <p:cSld name="TITLE_1_3_1_1_1_1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TITLE_1_3_1_1_1_1_1">
    <p:bg>
      <p:bgPr>
        <a:solidFill>
          <a:srgbClr val="242385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TITLE_1_3_1_1_1_1_1_1">
    <p:bg>
      <p:bgPr>
        <a:solidFill>
          <a:srgbClr val="5370E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>
  <p:cSld name="TITLE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7" name="Google Shape;1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38" y="411392"/>
            <a:ext cx="2845117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Yellow">
  <p:cSld name="TITLE_1_2_1">
    <p:bg>
      <p:bgPr>
        <a:solidFill>
          <a:srgbClr val="5370E7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1" name="Google Shape;2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lack">
  <p:cSld name="TITLE_1_2_1_1">
    <p:bg>
      <p:bgPr>
        <a:solidFill>
          <a:srgbClr val="BE9B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5" name="Google Shape;2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light 1">
  <p:cSld name="TITLE_1_1_7">
    <p:bg>
      <p:bgPr>
        <a:solidFill>
          <a:srgbClr val="FAF5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TITLE_1_1_6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" name="Google Shape;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dark">
  <p:cSld name="TITLE_1_1_6_1_1">
    <p:bg>
      <p:bgPr>
        <a:solidFill>
          <a:srgbClr val="24238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3500"/>
              <a:buFont typeface="Inter Tight"/>
              <a:buNone/>
              <a:defRPr sz="3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9" name="Google Shape;5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ark">
  <p:cSld name="TITLE_1_1_3_1_1">
    <p:bg>
      <p:bgPr>
        <a:solidFill>
          <a:srgbClr val="24238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10000"/>
              <a:buFont typeface="Inter Tight"/>
              <a:buNone/>
              <a:defRPr sz="10000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9" name="Google Shape;10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2">
  <p:cSld name="TITLE_1_1_6_1">
    <p:bg>
      <p:bgPr>
        <a:solidFill>
          <a:srgbClr val="BE9B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2">
  <p:cSld name="TITLE_1_1_6_2_1">
    <p:bg>
      <p:bgPr>
        <a:solidFill>
          <a:srgbClr val="BE9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None/>
              <a:defRPr sz="1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3" name="Google Shape;53;p1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" name="Google Shape;5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dark">
  <p:cSld name="TITLE_1_1_6_2_1_1">
    <p:bg>
      <p:bgPr>
        <a:solidFill>
          <a:srgbClr val="24238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ter Tight"/>
              <a:buNone/>
              <a:defRPr sz="3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purple">
  <p:cSld name="TITLE_1_1_5">
    <p:bg>
      <p:bgPr>
        <a:solidFill>
          <a:srgbClr val="BE9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white">
  <p:cSld name="TITLE_1_1_5_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dark">
  <p:cSld name="TITLE_1_1_5_1">
    <p:bg>
      <p:bgPr>
        <a:solidFill>
          <a:srgbClr val="24238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blue">
  <p:cSld name="TITLE_1_1_5_1_1">
    <p:bg>
      <p:bgPr>
        <a:solidFill>
          <a:srgbClr val="5370E7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1" name="Google Shape;8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TITLE_1_1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urple">
  <p:cSld name="TITLE_1_1_4_3">
    <p:bg>
      <p:bgPr>
        <a:solidFill>
          <a:srgbClr val="BE9B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9" name="Google Shape;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lue">
  <p:cSld name="TITLE_1_1_4_2">
    <p:bg>
      <p:bgPr>
        <a:solidFill>
          <a:srgbClr val="5370E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ark">
  <p:cSld name="TITLE_1_1_4_1">
    <p:bg>
      <p:bgPr>
        <a:solidFill>
          <a:srgbClr val="24238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459600" y="536700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7" name="Google Shape;9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TITLE_1_1_3_1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29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0000"/>
              <a:buFont typeface="Inter Tight"/>
              <a:buNone/>
              <a:defRPr sz="10000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5" name="Google Shape;10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lue">
  <p:cSld name="TITLE_1_1_3_1_1_1">
    <p:bg>
      <p:bgPr>
        <a:solidFill>
          <a:srgbClr val="5370E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0"/>
              <a:buFont typeface="Inter Tight"/>
              <a:buNone/>
              <a:defRPr sz="10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13" name="Google Shape;1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TITLE_1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5370E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" name="Google Shape;116;p3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7" name="Google Shape;1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urple">
  <p:cSld name="TITLE_1_1_2_1">
    <p:bg>
      <p:bgPr>
        <a:solidFill>
          <a:srgbClr val="BE9B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1" name="Google Shape;1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TITLE_1_1_2_1_1">
    <p:bg>
      <p:bgPr>
        <a:solidFill>
          <a:srgbClr val="24238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BE9B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blue">
  <p:cSld name="TITLE_1_1_2_1_1_1">
    <p:bg>
      <p:bgPr>
        <a:solidFill>
          <a:srgbClr val="5370E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Dark">
  <p:cSld name="TITLE_1_1_1">
    <p:bg>
      <p:bgPr>
        <a:solidFill>
          <a:srgbClr val="242385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2" name="Google Shape;13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purple">
  <p:cSld name="TITLE_1_1_1_1">
    <p:bg>
      <p:bgPr>
        <a:solidFill>
          <a:srgbClr val="BE9B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blue">
  <p:cSld name="TITLE_1_1_1_1_1">
    <p:bg>
      <p:bgPr>
        <a:solidFill>
          <a:srgbClr val="5370E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8" name="Google Shape;13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48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9" r:id="rId12"/>
    <p:sldLayoutId id="2147483661" r:id="rId13"/>
    <p:sldLayoutId id="2147483664" r:id="rId14"/>
    <p:sldLayoutId id="2147483676" r:id="rId15"/>
    <p:sldLayoutId id="2147483662" r:id="rId16"/>
    <p:sldLayoutId id="2147483663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5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7200" b="1" dirty="0"/>
              <a:t>Code to Execution</a:t>
            </a:r>
          </a:p>
          <a:p>
            <a:r>
              <a:rPr lang="en" sz="2400" b="0" dirty="0"/>
              <a:t>Week 1  ·  Build Your Own Programming Language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289768-EFDB-5E4E-F3D3-B1A934C7F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633913"/>
            <a:ext cx="4743450" cy="466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E4F861-4A05-18C7-90D7-5B46B72C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74" y="4633912"/>
            <a:ext cx="4743450" cy="466725"/>
          </a:xfrm>
          <a:prstGeom prst="rect">
            <a:avLst/>
          </a:prstGeom>
        </p:spPr>
      </p:pic>
      <p:pic>
        <p:nvPicPr>
          <p:cNvPr id="195" name="Google Shape;19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019" y="4485637"/>
            <a:ext cx="1852051" cy="380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524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5ADDE-0BC3-3C4F-99DB-D0ABEC0B20F0}"/>
              </a:ext>
            </a:extLst>
          </p:cNvPr>
          <p:cNvSpPr txBox="1"/>
          <p:nvPr/>
        </p:nvSpPr>
        <p:spPr>
          <a:xfrm>
            <a:off x="457200" y="457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WORKSHOP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98706-2596-DD4E-88D2-BE0777314D34}"/>
              </a:ext>
            </a:extLst>
          </p:cNvPr>
          <p:cNvSpPr txBox="1"/>
          <p:nvPr/>
        </p:nvSpPr>
        <p:spPr>
          <a:xfrm>
            <a:off x="457200" y="7620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How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E8B24-7531-6E4E-A697-30EF583838D1}"/>
              </a:ext>
            </a:extLst>
          </p:cNvPr>
          <p:cNvSpPr txBox="1"/>
          <p:nvPr/>
        </p:nvSpPr>
        <p:spPr>
          <a:xfrm>
            <a:off x="457200" y="16510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Actually Runs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04BD4-B5FB-EC4D-B0D1-707A03325618}"/>
              </a:ext>
            </a:extLst>
          </p:cNvPr>
          <p:cNvSpPr txBox="1"/>
          <p:nvPr/>
        </p:nvSpPr>
        <p:spPr>
          <a:xfrm>
            <a:off x="457200" y="27305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Week 1 · The pipeline from source text to a working program.</a:t>
            </a:r>
          </a:p>
        </p:txBody>
      </p:sp>
    </p:spTree>
    <p:extLst>
      <p:ext uri="{BB962C8B-B14F-4D97-AF65-F5344CB8AC3E}">
        <p14:creationId xmlns:p14="http://schemas.microsoft.com/office/powerpoint/2010/main" val="19527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A5E5B-4DC1-674A-A8D1-1033B31CC898}"/>
              </a:ext>
            </a:extLst>
          </p:cNvPr>
          <p:cNvSpPr txBox="1"/>
          <p:nvPr/>
        </p:nvSpPr>
        <p:spPr>
          <a:xfrm>
            <a:off x="457200" y="1841500"/>
            <a:ext cx="381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75A71-DAAA-654C-BDE7-3B6916AFFFED}"/>
              </a:ext>
            </a:extLst>
          </p:cNvPr>
          <p:cNvSpPr txBox="1"/>
          <p:nvPr/>
        </p:nvSpPr>
        <p:spPr>
          <a:xfrm>
            <a:off x="457200" y="2540000"/>
            <a:ext cx="3683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Concepts, then code. By the end of class you'll have run your own interpreter.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6FC7F-A945-4447-88CB-392DD4C7C4DA}"/>
              </a:ext>
            </a:extLst>
          </p:cNvPr>
          <p:cNvSpPr txBox="1"/>
          <p:nvPr/>
        </p:nvSpPr>
        <p:spPr>
          <a:xfrm>
            <a:off x="4826000" y="762000"/>
            <a:ext cx="3860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1. Why code execution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46FBC-05A6-5143-BCCF-9C46E79BA22E}"/>
              </a:ext>
            </a:extLst>
          </p:cNvPr>
          <p:cNvSpPr txBox="1"/>
          <p:nvPr/>
        </p:nvSpPr>
        <p:spPr>
          <a:xfrm>
            <a:off x="4826000" y="1066800"/>
            <a:ext cx="3860800" cy="495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From characters on disk to a result on screen.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B665E-8723-624B-93FC-56441E7D4170}"/>
              </a:ext>
            </a:extLst>
          </p:cNvPr>
          <p:cNvSpPr txBox="1"/>
          <p:nvPr/>
        </p:nvSpPr>
        <p:spPr>
          <a:xfrm>
            <a:off x="4826000" y="1612900"/>
            <a:ext cx="3860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2. The big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D0EB-56F6-794F-8B9E-C5EEBD4EBB99}"/>
              </a:ext>
            </a:extLst>
          </p:cNvPr>
          <p:cNvSpPr txBox="1"/>
          <p:nvPr/>
        </p:nvSpPr>
        <p:spPr>
          <a:xfrm>
            <a:off x="4826000" y="1917700"/>
            <a:ext cx="3860800" cy="495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Source → Tokens → Parser → AST → Interpreter → Output.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22004-E765-E840-9B51-F3A7DECBD891}"/>
              </a:ext>
            </a:extLst>
          </p:cNvPr>
          <p:cNvSpPr txBox="1"/>
          <p:nvPr/>
        </p:nvSpPr>
        <p:spPr>
          <a:xfrm>
            <a:off x="4826000" y="2463800"/>
            <a:ext cx="3860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3. Interpreter vs compiler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C5E19-065E-954B-B86E-8711F6B964C5}"/>
              </a:ext>
            </a:extLst>
          </p:cNvPr>
          <p:cNvSpPr txBox="1"/>
          <p:nvPr/>
        </p:nvSpPr>
        <p:spPr>
          <a:xfrm>
            <a:off x="4826000" y="2768600"/>
            <a:ext cx="3860800" cy="495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Two strategies — and which one we'll build.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D976CB-2C9F-814B-BBEB-B6EB5B38E72B}"/>
              </a:ext>
            </a:extLst>
          </p:cNvPr>
          <p:cNvSpPr txBox="1"/>
          <p:nvPr/>
        </p:nvSpPr>
        <p:spPr>
          <a:xfrm>
            <a:off x="4826000" y="3314700"/>
            <a:ext cx="3860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4. Hands-on: a tiny REPL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8250C8-29F9-4844-B010-9F7ED711C69D}"/>
              </a:ext>
            </a:extLst>
          </p:cNvPr>
          <p:cNvSpPr txBox="1"/>
          <p:nvPr/>
        </p:nvSpPr>
        <p:spPr>
          <a:xfrm>
            <a:off x="4826000" y="3619500"/>
            <a:ext cx="3860800" cy="495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Read, eval, print, loop — your first working interpreter.</a:t>
            </a:r>
          </a:p>
        </p:txBody>
      </p:sp>
    </p:spTree>
    <p:extLst>
      <p:ext uri="{BB962C8B-B14F-4D97-AF65-F5344CB8AC3E}">
        <p14:creationId xmlns:p14="http://schemas.microsoft.com/office/powerpoint/2010/main" val="336880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C249E-9780-194C-A46C-7825925E8BA0}"/>
              </a:ext>
            </a:extLst>
          </p:cNvPr>
          <p:cNvSpPr txBox="1"/>
          <p:nvPr/>
        </p:nvSpPr>
        <p:spPr>
          <a:xfrm>
            <a:off x="457200" y="1841500"/>
            <a:ext cx="381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About 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CB902-2728-1B4D-99A3-83683358BBA5}"/>
              </a:ext>
            </a:extLst>
          </p:cNvPr>
          <p:cNvSpPr txBox="1"/>
          <p:nvPr/>
        </p:nvSpPr>
        <p:spPr>
          <a:xfrm>
            <a:off x="457200" y="2540000"/>
            <a:ext cx="3683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Quick context so you know who's guiding the next 8 weeks.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24BD8-0084-5B43-826C-A54CDAF9DA00}"/>
              </a:ext>
            </a:extLst>
          </p:cNvPr>
          <p:cNvSpPr txBox="1"/>
          <p:nvPr/>
        </p:nvSpPr>
        <p:spPr>
          <a:xfrm>
            <a:off x="4826000" y="762000"/>
            <a:ext cx="3860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1. Education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8AE78-0004-A745-BA87-47174E2695C1}"/>
              </a:ext>
            </a:extLst>
          </p:cNvPr>
          <p:cNvSpPr txBox="1"/>
          <p:nvPr/>
        </p:nvSpPr>
        <p:spPr>
          <a:xfrm>
            <a:off x="4826000" y="1066800"/>
            <a:ext cx="38608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Cornell University, Class of 2022. Spent 2 years doing programming-languages (PL) research.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E9D32-BA10-0A49-9817-BF4A478BDF98}"/>
              </a:ext>
            </a:extLst>
          </p:cNvPr>
          <p:cNvSpPr txBox="1"/>
          <p:nvPr/>
        </p:nvSpPr>
        <p:spPr>
          <a:xfrm>
            <a:off x="4826000" y="1930400"/>
            <a:ext cx="3860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2. Now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E4FA2-BED8-244B-AEFC-35A5D3045544}"/>
              </a:ext>
            </a:extLst>
          </p:cNvPr>
          <p:cNvSpPr txBox="1"/>
          <p:nvPr/>
        </p:nvSpPr>
        <p:spPr>
          <a:xfrm>
            <a:off x="4826000" y="2235200"/>
            <a:ext cx="38608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Citadel — Treasury team, building back-office systems and optimizers.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BED34-817C-C04C-863B-A15B64864EA6}"/>
              </a:ext>
            </a:extLst>
          </p:cNvPr>
          <p:cNvSpPr txBox="1"/>
          <p:nvPr/>
        </p:nvSpPr>
        <p:spPr>
          <a:xfrm>
            <a:off x="4826000" y="3098800"/>
            <a:ext cx="3860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3. What I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98EC6-5585-C54C-8DA8-DA6CAAD6453D}"/>
              </a:ext>
            </a:extLst>
          </p:cNvPr>
          <p:cNvSpPr txBox="1"/>
          <p:nvPr/>
        </p:nvSpPr>
        <p:spPr>
          <a:xfrm>
            <a:off x="4826000" y="3403600"/>
            <a:ext cx="38608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Back-office trading systems and execution optimizers that keep the desk running.</a:t>
            </a:r>
          </a:p>
        </p:txBody>
      </p:sp>
      <p:pic>
        <p:nvPicPr>
          <p:cNvPr id="13" name="Picture 12" descr="A person standing under a tree&#10;&#10;Description automatically generated">
            <a:extLst>
              <a:ext uri="{FF2B5EF4-FFF2-40B4-BE49-F238E27FC236}">
                <a16:creationId xmlns:a16="http://schemas.microsoft.com/office/drawing/2014/main" id="{26ADEB66-CD9E-750D-CCF6-3413D6BB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98" y="565885"/>
            <a:ext cx="4218167" cy="3162338"/>
          </a:xfrm>
          <a:prstGeom prst="rect">
            <a:avLst/>
          </a:prstGeom>
        </p:spPr>
      </p:pic>
      <p:pic>
        <p:nvPicPr>
          <p:cNvPr id="11" name="Picture 10" descr="A black cat lying on its back&#10;&#10;Description automatically generated">
            <a:extLst>
              <a:ext uri="{FF2B5EF4-FFF2-40B4-BE49-F238E27FC236}">
                <a16:creationId xmlns:a16="http://schemas.microsoft.com/office/drawing/2014/main" id="{42694875-AEC7-34AD-37F8-AC71245C3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481" y="2963185"/>
            <a:ext cx="2128515" cy="159762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6598EC6-5585-C54C-8DA8-DA6CAAD6453D}"/>
              </a:ext>
            </a:extLst>
          </p:cNvPr>
          <p:cNvSpPr txBox="1"/>
          <p:nvPr/>
        </p:nvSpPr>
        <p:spPr>
          <a:xfrm>
            <a:off x="2647731" y="3843420"/>
            <a:ext cx="1051910" cy="54701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Inter Tight"/>
                <a:ea typeface="Inter Tight"/>
                <a:cs typeface="Inter Tight"/>
              </a:rPr>
              <a:t>Sesame, TA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4011852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1840D269-343F-3D04-FDA3-DC3AF082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54">
            <a:extLst>
              <a:ext uri="{FF2B5EF4-FFF2-40B4-BE49-F238E27FC236}">
                <a16:creationId xmlns:a16="http://schemas.microsoft.com/office/drawing/2014/main" id="{25AA43C7-D96D-C0C1-BB02-73EBB38BDF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975" y="4632350"/>
            <a:ext cx="1852051" cy="3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T">
            <a:extLst>
              <a:ext uri="{FF2B5EF4-FFF2-40B4-BE49-F238E27FC236}">
                <a16:creationId xmlns:a16="http://schemas.microsoft.com/office/drawing/2014/main" id="{37C28967-9021-43AF-CBDF-FA522F2A73ED}"/>
              </a:ext>
            </a:extLst>
          </p:cNvPr>
          <p:cNvSpPr txBox="1"/>
          <p:nvPr/>
        </p:nvSpPr>
        <p:spPr>
          <a:xfrm>
            <a:off x="457200" y="381000"/>
            <a:ext cx="82296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2800" b="1" i="0" dirty="0">
                <a:solidFill>
                  <a:schemeClr val="bg1"/>
                </a:solidFill>
                <a:latin typeface="Inter Tight"/>
              </a:rPr>
              <a:t>Your turn — introduce yourselves</a:t>
            </a:r>
          </a:p>
        </p:txBody>
      </p:sp>
      <p:sp>
        <p:nvSpPr>
          <p:cNvPr id="1301" name="T">
            <a:extLst>
              <a:ext uri="{FF2B5EF4-FFF2-40B4-BE49-F238E27FC236}">
                <a16:creationId xmlns:a16="http://schemas.microsoft.com/office/drawing/2014/main" id="{773A9B5A-082D-BB2E-F091-158348E74412}"/>
              </a:ext>
            </a:extLst>
          </p:cNvPr>
          <p:cNvSpPr txBox="1"/>
          <p:nvPr/>
        </p:nvSpPr>
        <p:spPr>
          <a:xfrm>
            <a:off x="457200" y="939800"/>
            <a:ext cx="822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400" b="0" i="0">
                <a:solidFill>
                  <a:srgbClr val="242385"/>
                </a:solidFill>
                <a:latin typeface="Inter Tight"/>
              </a:rPr>
              <a:t>Quick round the room — share these four with the class.</a:t>
            </a:r>
          </a:p>
        </p:txBody>
      </p:sp>
      <p:sp>
        <p:nvSpPr>
          <p:cNvPr id="1302" name="PCard">
            <a:extLst>
              <a:ext uri="{FF2B5EF4-FFF2-40B4-BE49-F238E27FC236}">
                <a16:creationId xmlns:a16="http://schemas.microsoft.com/office/drawing/2014/main" id="{9D4036DC-8BC2-567C-4727-E5D45ED45ABC}"/>
              </a:ext>
            </a:extLst>
          </p:cNvPr>
          <p:cNvSpPr/>
          <p:nvPr/>
        </p:nvSpPr>
        <p:spPr>
          <a:xfrm>
            <a:off x="457200" y="1397000"/>
            <a:ext cx="4025900" cy="1206500"/>
          </a:xfrm>
          <a:prstGeom prst="roundRect">
            <a:avLst>
              <a:gd name="adj" fmla="val 8000"/>
            </a:avLst>
          </a:prstGeom>
          <a:solidFill>
            <a:srgbClr val="EEE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3" name="Badge">
            <a:extLst>
              <a:ext uri="{FF2B5EF4-FFF2-40B4-BE49-F238E27FC236}">
                <a16:creationId xmlns:a16="http://schemas.microsoft.com/office/drawing/2014/main" id="{277831A8-DBCA-44A1-3D5F-AF99DD3EDE74}"/>
              </a:ext>
            </a:extLst>
          </p:cNvPr>
          <p:cNvSpPr/>
          <p:nvPr/>
        </p:nvSpPr>
        <p:spPr>
          <a:xfrm>
            <a:off x="609600" y="1549400"/>
            <a:ext cx="355600" cy="3556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" sz="1400" b="1">
                <a:solidFill>
                  <a:srgbClr val="FFFFFF"/>
                </a:solidFill>
                <a:latin typeface="Inter Tight"/>
              </a:rPr>
              <a:t>1</a:t>
            </a:r>
          </a:p>
        </p:txBody>
      </p:sp>
      <p:sp>
        <p:nvSpPr>
          <p:cNvPr id="1304" name="T">
            <a:extLst>
              <a:ext uri="{FF2B5EF4-FFF2-40B4-BE49-F238E27FC236}">
                <a16:creationId xmlns:a16="http://schemas.microsoft.com/office/drawing/2014/main" id="{7B7168D5-D0BE-7F16-672A-B465FD2B8D7C}"/>
              </a:ext>
            </a:extLst>
          </p:cNvPr>
          <p:cNvSpPr txBox="1"/>
          <p:nvPr/>
        </p:nvSpPr>
        <p:spPr>
          <a:xfrm>
            <a:off x="1092200" y="1574800"/>
            <a:ext cx="3263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500" b="1" i="0">
                <a:solidFill>
                  <a:srgbClr val="242385"/>
                </a:solidFill>
                <a:latin typeface="Inter Tight"/>
              </a:rPr>
              <a:t>Your name</a:t>
            </a:r>
          </a:p>
        </p:txBody>
      </p:sp>
      <p:sp>
        <p:nvSpPr>
          <p:cNvPr id="1305" name="T">
            <a:extLst>
              <a:ext uri="{FF2B5EF4-FFF2-40B4-BE49-F238E27FC236}">
                <a16:creationId xmlns:a16="http://schemas.microsoft.com/office/drawing/2014/main" id="{6CC6B518-248B-9D4D-7951-61098738BC92}"/>
              </a:ext>
            </a:extLst>
          </p:cNvPr>
          <p:cNvSpPr txBox="1"/>
          <p:nvPr/>
        </p:nvSpPr>
        <p:spPr>
          <a:xfrm>
            <a:off x="1092200" y="1905000"/>
            <a:ext cx="32639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300" b="0" i="1">
                <a:solidFill>
                  <a:srgbClr val="242385"/>
                </a:solidFill>
                <a:latin typeface="Inter Tight"/>
              </a:rPr>
              <a:t>And what you'd like to be called.</a:t>
            </a:r>
          </a:p>
        </p:txBody>
      </p:sp>
      <p:sp>
        <p:nvSpPr>
          <p:cNvPr id="1306" name="PCard">
            <a:extLst>
              <a:ext uri="{FF2B5EF4-FFF2-40B4-BE49-F238E27FC236}">
                <a16:creationId xmlns:a16="http://schemas.microsoft.com/office/drawing/2014/main" id="{68F3F20B-22B7-2692-450B-8ECEBAF0CAA1}"/>
              </a:ext>
            </a:extLst>
          </p:cNvPr>
          <p:cNvSpPr/>
          <p:nvPr/>
        </p:nvSpPr>
        <p:spPr>
          <a:xfrm>
            <a:off x="4660900" y="1397000"/>
            <a:ext cx="4025900" cy="1206500"/>
          </a:xfrm>
          <a:prstGeom prst="roundRect">
            <a:avLst>
              <a:gd name="adj" fmla="val 8000"/>
            </a:avLst>
          </a:prstGeom>
          <a:solidFill>
            <a:srgbClr val="EEE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7" name="Badge">
            <a:extLst>
              <a:ext uri="{FF2B5EF4-FFF2-40B4-BE49-F238E27FC236}">
                <a16:creationId xmlns:a16="http://schemas.microsoft.com/office/drawing/2014/main" id="{28ABD7F4-3B7C-0B29-B861-8FEEEF9339A8}"/>
              </a:ext>
            </a:extLst>
          </p:cNvPr>
          <p:cNvSpPr/>
          <p:nvPr/>
        </p:nvSpPr>
        <p:spPr>
          <a:xfrm>
            <a:off x="4813300" y="1549400"/>
            <a:ext cx="355600" cy="3556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" sz="14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1308" name="T">
            <a:extLst>
              <a:ext uri="{FF2B5EF4-FFF2-40B4-BE49-F238E27FC236}">
                <a16:creationId xmlns:a16="http://schemas.microsoft.com/office/drawing/2014/main" id="{64BC1A2E-6BDF-F3FA-0A3E-0D8CED07696F}"/>
              </a:ext>
            </a:extLst>
          </p:cNvPr>
          <p:cNvSpPr txBox="1"/>
          <p:nvPr/>
        </p:nvSpPr>
        <p:spPr>
          <a:xfrm>
            <a:off x="5295900" y="1574800"/>
            <a:ext cx="3263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500" b="1" i="0">
                <a:solidFill>
                  <a:srgbClr val="242385"/>
                </a:solidFill>
                <a:latin typeface="Inter Tight"/>
              </a:rPr>
              <a:t>Major &amp; year</a:t>
            </a:r>
          </a:p>
        </p:txBody>
      </p:sp>
      <p:sp>
        <p:nvSpPr>
          <p:cNvPr id="1309" name="T">
            <a:extLst>
              <a:ext uri="{FF2B5EF4-FFF2-40B4-BE49-F238E27FC236}">
                <a16:creationId xmlns:a16="http://schemas.microsoft.com/office/drawing/2014/main" id="{4D47B132-BD5B-4D34-4207-EA32440D26CA}"/>
              </a:ext>
            </a:extLst>
          </p:cNvPr>
          <p:cNvSpPr txBox="1"/>
          <p:nvPr/>
        </p:nvSpPr>
        <p:spPr>
          <a:xfrm>
            <a:off x="5295900" y="1905000"/>
            <a:ext cx="32639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300" b="0" i="1">
                <a:solidFill>
                  <a:srgbClr val="242385"/>
                </a:solidFill>
                <a:latin typeface="Inter Tight"/>
              </a:rPr>
              <a:t>Your program, and where you are in it.</a:t>
            </a:r>
          </a:p>
        </p:txBody>
      </p:sp>
      <p:sp>
        <p:nvSpPr>
          <p:cNvPr id="1310" name="PCard">
            <a:extLst>
              <a:ext uri="{FF2B5EF4-FFF2-40B4-BE49-F238E27FC236}">
                <a16:creationId xmlns:a16="http://schemas.microsoft.com/office/drawing/2014/main" id="{A0F4B2A1-9CA3-5EF9-17A8-4BAB32A55F73}"/>
              </a:ext>
            </a:extLst>
          </p:cNvPr>
          <p:cNvSpPr/>
          <p:nvPr/>
        </p:nvSpPr>
        <p:spPr>
          <a:xfrm>
            <a:off x="457200" y="2781300"/>
            <a:ext cx="4025900" cy="1206500"/>
          </a:xfrm>
          <a:prstGeom prst="roundRect">
            <a:avLst>
              <a:gd name="adj" fmla="val 8000"/>
            </a:avLst>
          </a:prstGeom>
          <a:solidFill>
            <a:srgbClr val="EEE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1" name="Badge">
            <a:extLst>
              <a:ext uri="{FF2B5EF4-FFF2-40B4-BE49-F238E27FC236}">
                <a16:creationId xmlns:a16="http://schemas.microsoft.com/office/drawing/2014/main" id="{8B25AC44-6B16-D775-845F-BBBDCF90E2DF}"/>
              </a:ext>
            </a:extLst>
          </p:cNvPr>
          <p:cNvSpPr/>
          <p:nvPr/>
        </p:nvSpPr>
        <p:spPr>
          <a:xfrm>
            <a:off x="609600" y="2933700"/>
            <a:ext cx="355600" cy="3556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" sz="14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1312" name="T">
            <a:extLst>
              <a:ext uri="{FF2B5EF4-FFF2-40B4-BE49-F238E27FC236}">
                <a16:creationId xmlns:a16="http://schemas.microsoft.com/office/drawing/2014/main" id="{ACAAA1F6-0EBD-B84B-0B2B-5508F5AB691C}"/>
              </a:ext>
            </a:extLst>
          </p:cNvPr>
          <p:cNvSpPr txBox="1"/>
          <p:nvPr/>
        </p:nvSpPr>
        <p:spPr>
          <a:xfrm>
            <a:off x="1092200" y="2959100"/>
            <a:ext cx="3263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500" b="1" i="0">
                <a:solidFill>
                  <a:srgbClr val="242385"/>
                </a:solidFill>
                <a:latin typeface="Inter Tight"/>
              </a:rPr>
              <a:t>Why this course</a:t>
            </a:r>
          </a:p>
        </p:txBody>
      </p:sp>
      <p:sp>
        <p:nvSpPr>
          <p:cNvPr id="1313" name="T">
            <a:extLst>
              <a:ext uri="{FF2B5EF4-FFF2-40B4-BE49-F238E27FC236}">
                <a16:creationId xmlns:a16="http://schemas.microsoft.com/office/drawing/2014/main" id="{AB3FF70E-9EB6-7906-F7A4-8928A63DC634}"/>
              </a:ext>
            </a:extLst>
          </p:cNvPr>
          <p:cNvSpPr txBox="1"/>
          <p:nvPr/>
        </p:nvSpPr>
        <p:spPr>
          <a:xfrm>
            <a:off x="1092200" y="3289300"/>
            <a:ext cx="32639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300" b="0" i="1">
                <a:solidFill>
                  <a:srgbClr val="242385"/>
                </a:solidFill>
                <a:latin typeface="Inter Tight"/>
              </a:rPr>
              <a:t>What drew you in — be honest.</a:t>
            </a:r>
          </a:p>
        </p:txBody>
      </p:sp>
      <p:sp>
        <p:nvSpPr>
          <p:cNvPr id="1314" name="PCard">
            <a:extLst>
              <a:ext uri="{FF2B5EF4-FFF2-40B4-BE49-F238E27FC236}">
                <a16:creationId xmlns:a16="http://schemas.microsoft.com/office/drawing/2014/main" id="{99384A9D-1FDD-32B9-34E9-A388FE8B3CAF}"/>
              </a:ext>
            </a:extLst>
          </p:cNvPr>
          <p:cNvSpPr/>
          <p:nvPr/>
        </p:nvSpPr>
        <p:spPr>
          <a:xfrm>
            <a:off x="4660900" y="2781300"/>
            <a:ext cx="4025900" cy="1206500"/>
          </a:xfrm>
          <a:prstGeom prst="roundRect">
            <a:avLst>
              <a:gd name="adj" fmla="val 8000"/>
            </a:avLst>
          </a:prstGeom>
          <a:solidFill>
            <a:srgbClr val="EEE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5" name="Badge">
            <a:extLst>
              <a:ext uri="{FF2B5EF4-FFF2-40B4-BE49-F238E27FC236}">
                <a16:creationId xmlns:a16="http://schemas.microsoft.com/office/drawing/2014/main" id="{901D6057-7CE4-8F3B-FFFF-618FEB28F58F}"/>
              </a:ext>
            </a:extLst>
          </p:cNvPr>
          <p:cNvSpPr/>
          <p:nvPr/>
        </p:nvSpPr>
        <p:spPr>
          <a:xfrm>
            <a:off x="4813300" y="2933700"/>
            <a:ext cx="355600" cy="3556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" sz="1400" b="1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1316" name="T">
            <a:extLst>
              <a:ext uri="{FF2B5EF4-FFF2-40B4-BE49-F238E27FC236}">
                <a16:creationId xmlns:a16="http://schemas.microsoft.com/office/drawing/2014/main" id="{ACF2B476-227A-0F37-270A-B3A43699B151}"/>
              </a:ext>
            </a:extLst>
          </p:cNvPr>
          <p:cNvSpPr txBox="1"/>
          <p:nvPr/>
        </p:nvSpPr>
        <p:spPr>
          <a:xfrm>
            <a:off x="5295900" y="2959100"/>
            <a:ext cx="3263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500" b="1" i="0">
                <a:solidFill>
                  <a:srgbClr val="242385"/>
                </a:solidFill>
                <a:latin typeface="Inter Tight"/>
              </a:rPr>
              <a:t>Fun fact</a:t>
            </a:r>
          </a:p>
        </p:txBody>
      </p:sp>
      <p:sp>
        <p:nvSpPr>
          <p:cNvPr id="1317" name="T">
            <a:extLst>
              <a:ext uri="{FF2B5EF4-FFF2-40B4-BE49-F238E27FC236}">
                <a16:creationId xmlns:a16="http://schemas.microsoft.com/office/drawing/2014/main" id="{1F7AD863-36FA-C8AC-7672-9DC7FB1E9D67}"/>
              </a:ext>
            </a:extLst>
          </p:cNvPr>
          <p:cNvSpPr txBox="1"/>
          <p:nvPr/>
        </p:nvSpPr>
        <p:spPr>
          <a:xfrm>
            <a:off x="5295900" y="3289300"/>
            <a:ext cx="32639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" sz="1300" b="0" i="1">
                <a:solidFill>
                  <a:srgbClr val="242385"/>
                </a:solidFill>
                <a:latin typeface="Inter Tight"/>
              </a:rPr>
              <a:t>Something nobody here would guess about you.</a:t>
            </a:r>
          </a:p>
        </p:txBody>
      </p:sp>
    </p:spTree>
    <p:extLst>
      <p:ext uri="{BB962C8B-B14F-4D97-AF65-F5344CB8AC3E}">
        <p14:creationId xmlns:p14="http://schemas.microsoft.com/office/powerpoint/2010/main" val="42617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74847-A835-624A-84D7-6A00EE927E6A}"/>
              </a:ext>
            </a:extLst>
          </p:cNvPr>
          <p:cNvSpPr txBox="1"/>
          <p:nvPr/>
        </p:nvSpPr>
        <p:spPr>
          <a:xfrm>
            <a:off x="457200" y="457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Why This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523E2-A4B1-E049-AE7B-6C276B2BD349}"/>
              </a:ext>
            </a:extLst>
          </p:cNvPr>
          <p:cNvSpPr txBox="1"/>
          <p:nvPr/>
        </p:nvSpPr>
        <p:spPr>
          <a:xfrm>
            <a:off x="457200" y="990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Interpreters aren't academic — they're inside the tools you use every day.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AD3150-FD8D-4046-B2D8-63724B0ACAD0}"/>
              </a:ext>
            </a:extLst>
          </p:cNvPr>
          <p:cNvSpPr txBox="1"/>
          <p:nvPr/>
        </p:nvSpPr>
        <p:spPr>
          <a:xfrm>
            <a:off x="457200" y="1778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Everywhere code runs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175E4-357E-E947-BB6A-5590F3E087C3}"/>
              </a:ext>
            </a:extLst>
          </p:cNvPr>
          <p:cNvSpPr txBox="1"/>
          <p:nvPr/>
        </p:nvSpPr>
        <p:spPr>
          <a:xfrm>
            <a:off x="457200" y="2095500"/>
            <a:ext cx="3683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Apps, websites, games, APIs, databases, ML models — every one is code being executed. Understand the pipeline, debug anything.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D0F5B-EFB2-2D4E-BE78-82D975A9D9FB}"/>
              </a:ext>
            </a:extLst>
          </p:cNvPr>
          <p:cNvSpPr txBox="1"/>
          <p:nvPr/>
        </p:nvSpPr>
        <p:spPr>
          <a:xfrm>
            <a:off x="4826000" y="1778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A career skill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A16FB-C256-F34A-BE12-4E5EB03E00D5}"/>
              </a:ext>
            </a:extLst>
          </p:cNvPr>
          <p:cNvSpPr txBox="1"/>
          <p:nvPr/>
        </p:nvSpPr>
        <p:spPr>
          <a:xfrm>
            <a:off x="4826000" y="2095500"/>
            <a:ext cx="3683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Compilers, interpreters and parsers show up in browsers, trading systems, query engines, and ML pipelines. Knowing how they work makes you a stronger engineer.</a:t>
            </a:r>
          </a:p>
        </p:txBody>
      </p:sp>
    </p:spTree>
    <p:extLst>
      <p:ext uri="{BB962C8B-B14F-4D97-AF65-F5344CB8AC3E}">
        <p14:creationId xmlns:p14="http://schemas.microsoft.com/office/powerpoint/2010/main" val="80300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9C8EA-EDE5-844C-873F-CE46EE90BD9D}"/>
              </a:ext>
            </a:extLst>
          </p:cNvPr>
          <p:cNvSpPr txBox="1"/>
          <p:nvPr/>
        </p:nvSpPr>
        <p:spPr>
          <a:xfrm>
            <a:off x="457200" y="457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The Big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6313A-06AA-DC4F-9CA9-A5F06018DCEE}"/>
              </a:ext>
            </a:extLst>
          </p:cNvPr>
          <p:cNvSpPr txBox="1"/>
          <p:nvPr/>
        </p:nvSpPr>
        <p:spPr>
          <a:xfrm>
            <a:off x="457200" y="990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Every interpreter follows the same six steps from source code to output.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6CA8DD-0288-5242-AFAE-C57535DAE528}"/>
              </a:ext>
            </a:extLst>
          </p:cNvPr>
          <p:cNvSpPr/>
          <p:nvPr/>
        </p:nvSpPr>
        <p:spPr>
          <a:xfrm>
            <a:off x="1130300" y="1435100"/>
            <a:ext cx="330200" cy="3302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587DBC1-6B92-834E-AF76-5407238856D8}"/>
              </a:ext>
            </a:extLst>
          </p:cNvPr>
          <p:cNvSpPr/>
          <p:nvPr/>
        </p:nvSpPr>
        <p:spPr>
          <a:xfrm>
            <a:off x="698500" y="1841500"/>
            <a:ext cx="1206500" cy="12065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A6149-3C0A-5C4A-AD44-C63EB64D10B0}"/>
              </a:ext>
            </a:extLst>
          </p:cNvPr>
          <p:cNvSpPr txBox="1"/>
          <p:nvPr/>
        </p:nvSpPr>
        <p:spPr>
          <a:xfrm>
            <a:off x="774700" y="1993900"/>
            <a:ext cx="10541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FB198-3267-334F-BCE2-6F35EC70BA8A}"/>
              </a:ext>
            </a:extLst>
          </p:cNvPr>
          <p:cNvSpPr txBox="1"/>
          <p:nvPr/>
        </p:nvSpPr>
        <p:spPr>
          <a:xfrm>
            <a:off x="774700" y="2298700"/>
            <a:ext cx="10541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1 + 2 * 3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D0AFF14E-1FAF-F94C-88DA-5DBF89549666}"/>
              </a:ext>
            </a:extLst>
          </p:cNvPr>
          <p:cNvSpPr/>
          <p:nvPr/>
        </p:nvSpPr>
        <p:spPr>
          <a:xfrm>
            <a:off x="1879600" y="2374900"/>
            <a:ext cx="152400" cy="1270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AAFC3A-EB69-264C-9912-9AF62069F263}"/>
              </a:ext>
            </a:extLst>
          </p:cNvPr>
          <p:cNvSpPr/>
          <p:nvPr/>
        </p:nvSpPr>
        <p:spPr>
          <a:xfrm>
            <a:off x="2438400" y="1435100"/>
            <a:ext cx="330200" cy="3302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3CA175-22F2-7B41-BB5D-F20792FD7590}"/>
              </a:ext>
            </a:extLst>
          </p:cNvPr>
          <p:cNvSpPr/>
          <p:nvPr/>
        </p:nvSpPr>
        <p:spPr>
          <a:xfrm>
            <a:off x="2006600" y="1841500"/>
            <a:ext cx="1206500" cy="12065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EE1AC-2C1B-5342-AF6E-33FC5A0C08BF}"/>
              </a:ext>
            </a:extLst>
          </p:cNvPr>
          <p:cNvSpPr txBox="1"/>
          <p:nvPr/>
        </p:nvSpPr>
        <p:spPr>
          <a:xfrm>
            <a:off x="2082800" y="1993900"/>
            <a:ext cx="10541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TOKENS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3C2B87-B9EA-1A4C-B53D-C8F55BF36563}"/>
              </a:ext>
            </a:extLst>
          </p:cNvPr>
          <p:cNvSpPr txBox="1"/>
          <p:nvPr/>
        </p:nvSpPr>
        <p:spPr>
          <a:xfrm>
            <a:off x="2082800" y="2298700"/>
            <a:ext cx="10541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[1, +, 2, *, 3]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C2F2CF2-4FFF-D046-A538-2360578B5560}"/>
              </a:ext>
            </a:extLst>
          </p:cNvPr>
          <p:cNvSpPr/>
          <p:nvPr/>
        </p:nvSpPr>
        <p:spPr>
          <a:xfrm>
            <a:off x="3187700" y="2374900"/>
            <a:ext cx="152400" cy="1270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86C89D9-1F81-E04F-9826-D5A9D032B82F}"/>
              </a:ext>
            </a:extLst>
          </p:cNvPr>
          <p:cNvSpPr/>
          <p:nvPr/>
        </p:nvSpPr>
        <p:spPr>
          <a:xfrm>
            <a:off x="3746500" y="1435100"/>
            <a:ext cx="330200" cy="3302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3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50113-7A13-2F47-BC4D-BE9E117605AB}"/>
              </a:ext>
            </a:extLst>
          </p:cNvPr>
          <p:cNvSpPr/>
          <p:nvPr/>
        </p:nvSpPr>
        <p:spPr>
          <a:xfrm>
            <a:off x="3314700" y="1841500"/>
            <a:ext cx="1206500" cy="12065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C5547-977A-A54C-A804-115C28E71E4D}"/>
              </a:ext>
            </a:extLst>
          </p:cNvPr>
          <p:cNvSpPr txBox="1"/>
          <p:nvPr/>
        </p:nvSpPr>
        <p:spPr>
          <a:xfrm>
            <a:off x="3390900" y="1993900"/>
            <a:ext cx="10541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PARSER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A4302-5C12-1741-AEB9-126B8BA111F5}"/>
              </a:ext>
            </a:extLst>
          </p:cNvPr>
          <p:cNvSpPr txBox="1"/>
          <p:nvPr/>
        </p:nvSpPr>
        <p:spPr>
          <a:xfrm>
            <a:off x="3390900" y="2298700"/>
            <a:ext cx="10541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consume
tokens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C7C1C5D2-D28B-B143-973D-5E3738C04800}"/>
              </a:ext>
            </a:extLst>
          </p:cNvPr>
          <p:cNvSpPr/>
          <p:nvPr/>
        </p:nvSpPr>
        <p:spPr>
          <a:xfrm>
            <a:off x="4495800" y="2374900"/>
            <a:ext cx="152400" cy="1270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97A5D07-446B-8643-99BA-6526048F3E73}"/>
              </a:ext>
            </a:extLst>
          </p:cNvPr>
          <p:cNvSpPr/>
          <p:nvPr/>
        </p:nvSpPr>
        <p:spPr>
          <a:xfrm>
            <a:off x="5054600" y="1435100"/>
            <a:ext cx="330200" cy="3302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E37D308-A64A-8544-BDAB-C69175C4FC92}"/>
              </a:ext>
            </a:extLst>
          </p:cNvPr>
          <p:cNvSpPr/>
          <p:nvPr/>
        </p:nvSpPr>
        <p:spPr>
          <a:xfrm>
            <a:off x="4622800" y="1841500"/>
            <a:ext cx="1206500" cy="12065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82166-5903-2C44-A712-C63CC33C0217}"/>
              </a:ext>
            </a:extLst>
          </p:cNvPr>
          <p:cNvSpPr txBox="1"/>
          <p:nvPr/>
        </p:nvSpPr>
        <p:spPr>
          <a:xfrm>
            <a:off x="4699000" y="1993900"/>
            <a:ext cx="10541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AST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6869411C-9A52-4B4C-AF65-0D4912597842}"/>
              </a:ext>
            </a:extLst>
          </p:cNvPr>
          <p:cNvSpPr/>
          <p:nvPr/>
        </p:nvSpPr>
        <p:spPr>
          <a:xfrm>
            <a:off x="5803900" y="2374900"/>
            <a:ext cx="152400" cy="1270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C659B5-3E7D-C84E-9EC9-1580C7ACF87E}"/>
              </a:ext>
            </a:extLst>
          </p:cNvPr>
          <p:cNvSpPr/>
          <p:nvPr/>
        </p:nvSpPr>
        <p:spPr>
          <a:xfrm>
            <a:off x="6362700" y="1435100"/>
            <a:ext cx="330200" cy="3302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5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A57AFAF-FF22-D749-AB5C-1CDA6DB724C2}"/>
              </a:ext>
            </a:extLst>
          </p:cNvPr>
          <p:cNvSpPr/>
          <p:nvPr/>
        </p:nvSpPr>
        <p:spPr>
          <a:xfrm>
            <a:off x="5930900" y="1841500"/>
            <a:ext cx="1206500" cy="12065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2A1C12-8A20-6246-AF44-EA6C54F58AA7}"/>
              </a:ext>
            </a:extLst>
          </p:cNvPr>
          <p:cNvSpPr txBox="1"/>
          <p:nvPr/>
        </p:nvSpPr>
        <p:spPr>
          <a:xfrm>
            <a:off x="6007100" y="1993900"/>
            <a:ext cx="10541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INTERP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2FA733-992D-0C44-8614-51491EE1EFA2}"/>
              </a:ext>
            </a:extLst>
          </p:cNvPr>
          <p:cNvSpPr txBox="1"/>
          <p:nvPr/>
        </p:nvSpPr>
        <p:spPr>
          <a:xfrm>
            <a:off x="6007100" y="2298700"/>
            <a:ext cx="10541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walk the
tree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4837869B-2B1B-794C-9FC1-5E37EEC6B6E6}"/>
              </a:ext>
            </a:extLst>
          </p:cNvPr>
          <p:cNvSpPr/>
          <p:nvPr/>
        </p:nvSpPr>
        <p:spPr>
          <a:xfrm>
            <a:off x="7112000" y="2374900"/>
            <a:ext cx="152400" cy="1270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CA8FD3-F105-9C40-9401-E5D476D81E51}"/>
              </a:ext>
            </a:extLst>
          </p:cNvPr>
          <p:cNvSpPr/>
          <p:nvPr/>
        </p:nvSpPr>
        <p:spPr>
          <a:xfrm>
            <a:off x="7670800" y="1435100"/>
            <a:ext cx="330200" cy="3302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6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2A715BC-67A3-E944-9DAA-EC3845C1774D}"/>
              </a:ext>
            </a:extLst>
          </p:cNvPr>
          <p:cNvSpPr/>
          <p:nvPr/>
        </p:nvSpPr>
        <p:spPr>
          <a:xfrm>
            <a:off x="7239000" y="1841500"/>
            <a:ext cx="1206500" cy="12065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57156C-AA39-0E43-8407-AB39F7D7EDFC}"/>
              </a:ext>
            </a:extLst>
          </p:cNvPr>
          <p:cNvSpPr txBox="1"/>
          <p:nvPr/>
        </p:nvSpPr>
        <p:spPr>
          <a:xfrm>
            <a:off x="7315200" y="1993900"/>
            <a:ext cx="10541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OUTPUT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2FA747-14B2-7143-965B-2EA4A4878C22}"/>
              </a:ext>
            </a:extLst>
          </p:cNvPr>
          <p:cNvSpPr txBox="1"/>
          <p:nvPr/>
        </p:nvSpPr>
        <p:spPr>
          <a:xfrm>
            <a:off x="7315200" y="2298700"/>
            <a:ext cx="10541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A9FD94-7126-D84F-8B05-2D27226017E8}"/>
              </a:ext>
            </a:extLst>
          </p:cNvPr>
          <p:cNvSpPr txBox="1"/>
          <p:nvPr/>
        </p:nvSpPr>
        <p:spPr>
          <a:xfrm>
            <a:off x="457200" y="3429000"/>
            <a:ext cx="8229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You'll build every box from scratch over the next 8 weeks.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9877E7-A33A-5441-B9F8-38081290BD60}"/>
              </a:ext>
            </a:extLst>
          </p:cNvPr>
          <p:cNvSpPr/>
          <p:nvPr/>
        </p:nvSpPr>
        <p:spPr>
          <a:xfrm>
            <a:off x="457200" y="3810000"/>
            <a:ext cx="8229600" cy="635000"/>
          </a:xfrm>
          <a:prstGeom prst="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947FFC-B5F0-C641-81EA-F1D8D0823783}"/>
              </a:ext>
            </a:extLst>
          </p:cNvPr>
          <p:cNvSpPr txBox="1"/>
          <p:nvPr/>
        </p:nvSpPr>
        <p:spPr>
          <a:xfrm>
            <a:off x="711200" y="391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Front end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3F8550-22FA-5E46-AAAA-2559B37327B6}"/>
              </a:ext>
            </a:extLst>
          </p:cNvPr>
          <p:cNvSpPr txBox="1"/>
          <p:nvPr/>
        </p:nvSpPr>
        <p:spPr>
          <a:xfrm>
            <a:off x="711200" y="4140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Source → Tokens → AST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7955D8-4FBA-B34E-8DAC-A952198F2B22}"/>
              </a:ext>
            </a:extLst>
          </p:cNvPr>
          <p:cNvSpPr txBox="1"/>
          <p:nvPr/>
        </p:nvSpPr>
        <p:spPr>
          <a:xfrm>
            <a:off x="3556000" y="391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Middle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F61FAA-0467-4149-AF3C-3D645B522F32}"/>
              </a:ext>
            </a:extLst>
          </p:cNvPr>
          <p:cNvSpPr txBox="1"/>
          <p:nvPr/>
        </p:nvSpPr>
        <p:spPr>
          <a:xfrm>
            <a:off x="3556000" y="4140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AST is the program's structure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395849-F421-104E-9D65-A12A39800F42}"/>
              </a:ext>
            </a:extLst>
          </p:cNvPr>
          <p:cNvSpPr txBox="1"/>
          <p:nvPr/>
        </p:nvSpPr>
        <p:spPr>
          <a:xfrm>
            <a:off x="6350000" y="391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Back 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86BC96-7010-AA49-9E5C-76E8503C7AB8}"/>
              </a:ext>
            </a:extLst>
          </p:cNvPr>
          <p:cNvSpPr txBox="1"/>
          <p:nvPr/>
        </p:nvSpPr>
        <p:spPr>
          <a:xfrm>
            <a:off x="6350000" y="4140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Walk the AST → output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216586-6FB0-E32C-1C55-31231FFC1C78}"/>
              </a:ext>
            </a:extLst>
          </p:cNvPr>
          <p:cNvSpPr txBox="1"/>
          <p:nvPr/>
        </p:nvSpPr>
        <p:spPr>
          <a:xfrm>
            <a:off x="4419600" y="2009457"/>
            <a:ext cx="21082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2385"/>
                </a:solidFill>
                <a:latin typeface="Consolas"/>
                <a:cs typeface="Consolas"/>
              </a:rPr>
              <a:t>       </a:t>
            </a:r>
            <a:r>
              <a:rPr lang="en-US" sz="1100" b="1" dirty="0">
                <a:solidFill>
                  <a:srgbClr val="242385"/>
                </a:solidFill>
                <a:latin typeface="Consolas"/>
                <a:cs typeface="Consolas"/>
              </a:rPr>
              <a:t>+</a:t>
            </a:r>
          </a:p>
          <a:p>
            <a:pPr algn="l"/>
            <a:r>
              <a:rPr lang="en-US" sz="1100" b="1" dirty="0">
                <a:solidFill>
                  <a:srgbClr val="242385"/>
                </a:solidFill>
                <a:latin typeface="Consolas"/>
                <a:cs typeface="Consolas"/>
              </a:rPr>
              <a:t>        / \</a:t>
            </a:r>
            <a:br>
              <a:rPr lang="en-US" sz="1100" b="1" dirty="0">
                <a:solidFill>
                  <a:srgbClr val="242385"/>
                </a:solidFill>
                <a:latin typeface="Consolas"/>
                <a:cs typeface="Consolas"/>
              </a:rPr>
            </a:br>
            <a:r>
              <a:rPr lang="en-US" sz="1100" b="1" dirty="0">
                <a:solidFill>
                  <a:srgbClr val="242385"/>
                </a:solidFill>
                <a:latin typeface="Consolas"/>
                <a:cs typeface="Consolas"/>
              </a:rPr>
              <a:t>      1     *</a:t>
            </a:r>
          </a:p>
          <a:p>
            <a:pPr algn="l"/>
            <a:r>
              <a:rPr lang="en-US" sz="1100" b="1" dirty="0">
                <a:solidFill>
                  <a:srgbClr val="242385"/>
                </a:solidFill>
                <a:latin typeface="Consolas"/>
                <a:cs typeface="Consolas"/>
              </a:rPr>
              <a:t>           / \</a:t>
            </a:r>
            <a:br>
              <a:rPr lang="en-US" sz="1100" b="1" dirty="0">
                <a:solidFill>
                  <a:srgbClr val="242385"/>
                </a:solidFill>
                <a:latin typeface="Consolas"/>
                <a:cs typeface="Consolas"/>
              </a:rPr>
            </a:br>
            <a:r>
              <a:rPr lang="en-US" sz="1100" b="1" dirty="0">
                <a:solidFill>
                  <a:srgbClr val="242385"/>
                </a:solidFill>
                <a:latin typeface="Consolas"/>
                <a:cs typeface="Consolas"/>
              </a:rPr>
              <a:t>          2   3</a:t>
            </a:r>
            <a:endParaRPr 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78A0EC-51B2-520B-38F0-3BF67ED2B9A2}"/>
              </a:ext>
            </a:extLst>
          </p:cNvPr>
          <p:cNvSpPr txBox="1"/>
          <p:nvPr/>
        </p:nvSpPr>
        <p:spPr>
          <a:xfrm>
            <a:off x="3390900" y="3128263"/>
            <a:ext cx="10541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7030A0"/>
                </a:solidFill>
                <a:latin typeface="Inter Tight"/>
                <a:ea typeface="Inter Tight"/>
                <a:cs typeface="Inter Tight"/>
              </a:rPr>
              <a:t>(1 + 2) * 3</a:t>
            </a:r>
          </a:p>
        </p:txBody>
      </p:sp>
    </p:spTree>
    <p:extLst>
      <p:ext uri="{BB962C8B-B14F-4D97-AF65-F5344CB8AC3E}">
        <p14:creationId xmlns:p14="http://schemas.microsoft.com/office/powerpoint/2010/main" val="154117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2E91F-085C-9646-87F4-36B4BA3B85AD}"/>
              </a:ext>
            </a:extLst>
          </p:cNvPr>
          <p:cNvSpPr txBox="1"/>
          <p:nvPr/>
        </p:nvSpPr>
        <p:spPr>
          <a:xfrm>
            <a:off x="457200" y="457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Interpreter vs Compiler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BA8D5-D5C7-E94B-9541-9132B524E8B6}"/>
              </a:ext>
            </a:extLst>
          </p:cNvPr>
          <p:cNvSpPr txBox="1"/>
          <p:nvPr/>
        </p:nvSpPr>
        <p:spPr>
          <a:xfrm>
            <a:off x="457200" y="990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Two strategies to turn source code into running output. We're building the first one.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9CD4B-DFA5-8A4F-8691-4A79073CCC0E}"/>
              </a:ext>
            </a:extLst>
          </p:cNvPr>
          <p:cNvSpPr txBox="1"/>
          <p:nvPr/>
        </p:nvSpPr>
        <p:spPr>
          <a:xfrm>
            <a:off x="457200" y="147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Interpreted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BFF61D-9F2F-3E4C-BACE-AD9651C3950C}"/>
              </a:ext>
            </a:extLst>
          </p:cNvPr>
          <p:cNvSpPr/>
          <p:nvPr/>
        </p:nvSpPr>
        <p:spPr>
          <a:xfrm>
            <a:off x="1651000" y="1422400"/>
            <a:ext cx="1206500" cy="3048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D586A-D185-9348-A275-41F88ABF5E03}"/>
              </a:ext>
            </a:extLst>
          </p:cNvPr>
          <p:cNvSpPr txBox="1"/>
          <p:nvPr/>
        </p:nvSpPr>
        <p:spPr>
          <a:xfrm>
            <a:off x="1701800" y="1473200"/>
            <a:ext cx="11049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Source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4B81D4B1-1791-8A41-8335-0854C1B1D81C}"/>
              </a:ext>
            </a:extLst>
          </p:cNvPr>
          <p:cNvSpPr/>
          <p:nvPr/>
        </p:nvSpPr>
        <p:spPr>
          <a:xfrm>
            <a:off x="2895600" y="1511300"/>
            <a:ext cx="127000" cy="1016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0018F4-C514-0D40-8E1D-6D35E5DE997B}"/>
              </a:ext>
            </a:extLst>
          </p:cNvPr>
          <p:cNvSpPr/>
          <p:nvPr/>
        </p:nvSpPr>
        <p:spPr>
          <a:xfrm>
            <a:off x="3111500" y="1422400"/>
            <a:ext cx="1333500" cy="3048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3E164-782C-E043-BB88-186F1B0DCAB8}"/>
              </a:ext>
            </a:extLst>
          </p:cNvPr>
          <p:cNvSpPr txBox="1"/>
          <p:nvPr/>
        </p:nvSpPr>
        <p:spPr>
          <a:xfrm>
            <a:off x="3162300" y="1473200"/>
            <a:ext cx="12319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Interpreter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2046A82-64E2-1348-BFFA-CEE3A46DD38E}"/>
              </a:ext>
            </a:extLst>
          </p:cNvPr>
          <p:cNvSpPr/>
          <p:nvPr/>
        </p:nvSpPr>
        <p:spPr>
          <a:xfrm>
            <a:off x="4483100" y="1511300"/>
            <a:ext cx="127000" cy="1016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70441B-7F21-6C40-BF35-7D5B5C9138DF}"/>
              </a:ext>
            </a:extLst>
          </p:cNvPr>
          <p:cNvSpPr/>
          <p:nvPr/>
        </p:nvSpPr>
        <p:spPr>
          <a:xfrm>
            <a:off x="4699000" y="1422400"/>
            <a:ext cx="1206500" cy="3048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B51144-2C76-6941-9D27-FA877107010F}"/>
              </a:ext>
            </a:extLst>
          </p:cNvPr>
          <p:cNvSpPr txBox="1"/>
          <p:nvPr/>
        </p:nvSpPr>
        <p:spPr>
          <a:xfrm>
            <a:off x="4749800" y="1473200"/>
            <a:ext cx="11049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A30C0F-7ECC-A547-98DF-4514F147797F}"/>
              </a:ext>
            </a:extLst>
          </p:cNvPr>
          <p:cNvSpPr txBox="1"/>
          <p:nvPr/>
        </p:nvSpPr>
        <p:spPr>
          <a:xfrm>
            <a:off x="6096000" y="14478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One step — runs source directly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C9450-80AE-B847-B18E-162E0016FA95}"/>
              </a:ext>
            </a:extLst>
          </p:cNvPr>
          <p:cNvSpPr txBox="1"/>
          <p:nvPr/>
        </p:nvSpPr>
        <p:spPr>
          <a:xfrm>
            <a:off x="457200" y="1905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Compiled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BE32D3E-F635-DD4D-B688-87DE511D4C12}"/>
              </a:ext>
            </a:extLst>
          </p:cNvPr>
          <p:cNvSpPr/>
          <p:nvPr/>
        </p:nvSpPr>
        <p:spPr>
          <a:xfrm>
            <a:off x="1651000" y="1854200"/>
            <a:ext cx="952500" cy="3048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53988C-15F4-4346-82DB-CDA68BE8AB7D}"/>
              </a:ext>
            </a:extLst>
          </p:cNvPr>
          <p:cNvSpPr txBox="1"/>
          <p:nvPr/>
        </p:nvSpPr>
        <p:spPr>
          <a:xfrm>
            <a:off x="1701800" y="1905000"/>
            <a:ext cx="8509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Source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CB4E6070-2165-3544-AB80-A137229F9E63}"/>
              </a:ext>
            </a:extLst>
          </p:cNvPr>
          <p:cNvSpPr/>
          <p:nvPr/>
        </p:nvSpPr>
        <p:spPr>
          <a:xfrm>
            <a:off x="2641600" y="1943100"/>
            <a:ext cx="127000" cy="1016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18716EF-3942-2E41-A0B6-C62E61FCF1D1}"/>
              </a:ext>
            </a:extLst>
          </p:cNvPr>
          <p:cNvSpPr/>
          <p:nvPr/>
        </p:nvSpPr>
        <p:spPr>
          <a:xfrm>
            <a:off x="2857500" y="1854200"/>
            <a:ext cx="1079500" cy="3048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AC35FB-E8F8-304C-B147-781A02184242}"/>
              </a:ext>
            </a:extLst>
          </p:cNvPr>
          <p:cNvSpPr txBox="1"/>
          <p:nvPr/>
        </p:nvSpPr>
        <p:spPr>
          <a:xfrm>
            <a:off x="2908300" y="1905000"/>
            <a:ext cx="9779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Compiler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06438EA4-66B4-4D44-BA68-42376B659F6D}"/>
              </a:ext>
            </a:extLst>
          </p:cNvPr>
          <p:cNvSpPr/>
          <p:nvPr/>
        </p:nvSpPr>
        <p:spPr>
          <a:xfrm>
            <a:off x="3975100" y="1943100"/>
            <a:ext cx="127000" cy="1016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ADD4971-343E-AD4A-86B1-636786C61085}"/>
              </a:ext>
            </a:extLst>
          </p:cNvPr>
          <p:cNvSpPr/>
          <p:nvPr/>
        </p:nvSpPr>
        <p:spPr>
          <a:xfrm>
            <a:off x="4191000" y="1854200"/>
            <a:ext cx="1270000" cy="3048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4710CC-FE2C-144F-9AAC-6886D74B57D4}"/>
              </a:ext>
            </a:extLst>
          </p:cNvPr>
          <p:cNvSpPr txBox="1"/>
          <p:nvPr/>
        </p:nvSpPr>
        <p:spPr>
          <a:xfrm>
            <a:off x="4241800" y="1905000"/>
            <a:ext cx="1168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Machine code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8BA6599C-5534-6D48-91FC-5F8F5EA7C1F6}"/>
              </a:ext>
            </a:extLst>
          </p:cNvPr>
          <p:cNvSpPr/>
          <p:nvPr/>
        </p:nvSpPr>
        <p:spPr>
          <a:xfrm>
            <a:off x="5499100" y="1943100"/>
            <a:ext cx="127000" cy="101600"/>
          </a:xfrm>
          <a:prstGeom prst="right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74E1829-CCD8-7A49-A9B2-E5B176FF1D86}"/>
              </a:ext>
            </a:extLst>
          </p:cNvPr>
          <p:cNvSpPr/>
          <p:nvPr/>
        </p:nvSpPr>
        <p:spPr>
          <a:xfrm>
            <a:off x="5715000" y="1854200"/>
            <a:ext cx="889000" cy="3048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96C6A9-19FA-3848-A952-4F838DB3210E}"/>
              </a:ext>
            </a:extLst>
          </p:cNvPr>
          <p:cNvSpPr txBox="1"/>
          <p:nvPr/>
        </p:nvSpPr>
        <p:spPr>
          <a:xfrm>
            <a:off x="5765800" y="19050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Output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EEFCE3-5658-6444-87FF-A11F92AC4B81}"/>
              </a:ext>
            </a:extLst>
          </p:cNvPr>
          <p:cNvSpPr txBox="1"/>
          <p:nvPr/>
        </p:nvSpPr>
        <p:spPr>
          <a:xfrm>
            <a:off x="6794500" y="18796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Translate first, then run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5CA1A43-2ABD-5340-AF7F-771BE8E42842}"/>
              </a:ext>
            </a:extLst>
          </p:cNvPr>
          <p:cNvSpPr/>
          <p:nvPr/>
        </p:nvSpPr>
        <p:spPr>
          <a:xfrm>
            <a:off x="457200" y="2476500"/>
            <a:ext cx="4038600" cy="15240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957F21-ED25-8547-95AB-D89040BA85C3}"/>
              </a:ext>
            </a:extLst>
          </p:cNvPr>
          <p:cNvSpPr txBox="1"/>
          <p:nvPr/>
        </p:nvSpPr>
        <p:spPr>
          <a:xfrm>
            <a:off x="635000" y="26289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Interpreted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477977-498F-C447-BB45-28D8C814FD69}"/>
              </a:ext>
            </a:extLst>
          </p:cNvPr>
          <p:cNvSpPr txBox="1"/>
          <p:nvPr/>
        </p:nvSpPr>
        <p:spPr>
          <a:xfrm>
            <a:off x="635000" y="29464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Translation: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8F35F-77C8-7740-9CC0-75E7B8147124}"/>
              </a:ext>
            </a:extLst>
          </p:cNvPr>
          <p:cNvSpPr txBox="1"/>
          <p:nvPr/>
        </p:nvSpPr>
        <p:spPr>
          <a:xfrm>
            <a:off x="1498600" y="29464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 line-by-line, at runtime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ABF917-D180-754B-A91F-C1E871102A3B}"/>
              </a:ext>
            </a:extLst>
          </p:cNvPr>
          <p:cNvSpPr txBox="1"/>
          <p:nvPr/>
        </p:nvSpPr>
        <p:spPr>
          <a:xfrm>
            <a:off x="635000" y="312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Speed: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5CBBB7-8179-BF40-8D75-62ACD66E1112}"/>
              </a:ext>
            </a:extLst>
          </p:cNvPr>
          <p:cNvSpPr txBox="1"/>
          <p:nvPr/>
        </p:nvSpPr>
        <p:spPr>
          <a:xfrm>
            <a:off x="1498600" y="31242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 slower — source re-parsed each run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13ED55-7CBD-B641-BCC8-7DBBB50614A3}"/>
              </a:ext>
            </a:extLst>
          </p:cNvPr>
          <p:cNvSpPr txBox="1"/>
          <p:nvPr/>
        </p:nvSpPr>
        <p:spPr>
          <a:xfrm>
            <a:off x="635000" y="33020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Debugging: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FD91CF-578D-644C-AD81-A5EA5964E971}"/>
              </a:ext>
            </a:extLst>
          </p:cNvPr>
          <p:cNvSpPr txBox="1"/>
          <p:nvPr/>
        </p:nvSpPr>
        <p:spPr>
          <a:xfrm>
            <a:off x="1498600" y="33020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 easy — pause, inspect, edit, re-run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97BC12-CD20-C44A-A402-096D5E119FB5}"/>
              </a:ext>
            </a:extLst>
          </p:cNvPr>
          <p:cNvSpPr txBox="1"/>
          <p:nvPr/>
        </p:nvSpPr>
        <p:spPr>
          <a:xfrm>
            <a:off x="635000" y="34798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Distribution: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A86CFB-E4BF-A446-971A-B061F880CF89}"/>
              </a:ext>
            </a:extLst>
          </p:cNvPr>
          <p:cNvSpPr txBox="1"/>
          <p:nvPr/>
        </p:nvSpPr>
        <p:spPr>
          <a:xfrm>
            <a:off x="1498600" y="34798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 ship source + an interpreter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71F4CE-329D-C545-8D50-509889532AD1}"/>
              </a:ext>
            </a:extLst>
          </p:cNvPr>
          <p:cNvSpPr txBox="1"/>
          <p:nvPr/>
        </p:nvSpPr>
        <p:spPr>
          <a:xfrm>
            <a:off x="635000" y="3657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Examples: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F5D619-4DE7-C047-A468-6D4C14CE0C5A}"/>
              </a:ext>
            </a:extLst>
          </p:cNvPr>
          <p:cNvSpPr txBox="1"/>
          <p:nvPr/>
        </p:nvSpPr>
        <p:spPr>
          <a:xfrm>
            <a:off x="1498600" y="36576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 Python, JavaScript, Ruby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59EEB02-33F1-044F-8AB9-BF38FF1CD3CF}"/>
              </a:ext>
            </a:extLst>
          </p:cNvPr>
          <p:cNvSpPr/>
          <p:nvPr/>
        </p:nvSpPr>
        <p:spPr>
          <a:xfrm>
            <a:off x="4648200" y="2476500"/>
            <a:ext cx="4038600" cy="15240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07DF48-A27E-1841-BCAC-3EB9D26BB1BE}"/>
              </a:ext>
            </a:extLst>
          </p:cNvPr>
          <p:cNvSpPr txBox="1"/>
          <p:nvPr/>
        </p:nvSpPr>
        <p:spPr>
          <a:xfrm>
            <a:off x="4826000" y="26289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Compiled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86F086-6A53-6644-BB57-208237F27DA8}"/>
              </a:ext>
            </a:extLst>
          </p:cNvPr>
          <p:cNvSpPr txBox="1"/>
          <p:nvPr/>
        </p:nvSpPr>
        <p:spPr>
          <a:xfrm>
            <a:off x="4826000" y="29464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Translation: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092076-6633-5249-BA4A-9D667BE26386}"/>
              </a:ext>
            </a:extLst>
          </p:cNvPr>
          <p:cNvSpPr txBox="1"/>
          <p:nvPr/>
        </p:nvSpPr>
        <p:spPr>
          <a:xfrm>
            <a:off x="5689600" y="29464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 once, ahead of time (AOT)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B61704-434E-A24E-AFBE-AC562992CE56}"/>
              </a:ext>
            </a:extLst>
          </p:cNvPr>
          <p:cNvSpPr txBox="1"/>
          <p:nvPr/>
        </p:nvSpPr>
        <p:spPr>
          <a:xfrm>
            <a:off x="4826000" y="312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Speed: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8BBEA9-CBF3-7A42-AFE7-A2FD61465C5D}"/>
              </a:ext>
            </a:extLst>
          </p:cNvPr>
          <p:cNvSpPr txBox="1"/>
          <p:nvPr/>
        </p:nvSpPr>
        <p:spPr>
          <a:xfrm>
            <a:off x="5689600" y="31242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 faster — machine code runs natively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6D6034-3705-1D41-B293-537A75EC781E}"/>
              </a:ext>
            </a:extLst>
          </p:cNvPr>
          <p:cNvSpPr txBox="1"/>
          <p:nvPr/>
        </p:nvSpPr>
        <p:spPr>
          <a:xfrm>
            <a:off x="4826000" y="33020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Debugging: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BE0111-E8D7-364D-A40C-AD0258212E81}"/>
              </a:ext>
            </a:extLst>
          </p:cNvPr>
          <p:cNvSpPr txBox="1"/>
          <p:nvPr/>
        </p:nvSpPr>
        <p:spPr>
          <a:xfrm>
            <a:off x="5689600" y="33020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 harder — needs debugger + symbols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699CE9-E8BA-4E44-BA95-C14BB914A3F1}"/>
              </a:ext>
            </a:extLst>
          </p:cNvPr>
          <p:cNvSpPr txBox="1"/>
          <p:nvPr/>
        </p:nvSpPr>
        <p:spPr>
          <a:xfrm>
            <a:off x="4826000" y="34798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Distribution: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146775-8346-0342-A201-368415164FA5}"/>
              </a:ext>
            </a:extLst>
          </p:cNvPr>
          <p:cNvSpPr txBox="1"/>
          <p:nvPr/>
        </p:nvSpPr>
        <p:spPr>
          <a:xfrm>
            <a:off x="5689600" y="34798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 ship a single compiled binary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28A9E7-0932-E740-AC23-21E2407E9847}"/>
              </a:ext>
            </a:extLst>
          </p:cNvPr>
          <p:cNvSpPr txBox="1"/>
          <p:nvPr/>
        </p:nvSpPr>
        <p:spPr>
          <a:xfrm>
            <a:off x="4826000" y="3657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Examples: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41ED50-9A07-1E41-BB5D-FBCF7DAAAA51}"/>
              </a:ext>
            </a:extLst>
          </p:cNvPr>
          <p:cNvSpPr txBox="1"/>
          <p:nvPr/>
        </p:nvSpPr>
        <p:spPr>
          <a:xfrm>
            <a:off x="5689600" y="3657600"/>
            <a:ext cx="2921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 C, C++, Rust, Go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2DE1DE-F500-7D47-9B37-21612A7C6FEB}"/>
              </a:ext>
            </a:extLst>
          </p:cNvPr>
          <p:cNvSpPr txBox="1"/>
          <p:nvPr/>
        </p:nvSpPr>
        <p:spPr>
          <a:xfrm>
            <a:off x="457200" y="4127500"/>
            <a:ext cx="8229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We're building an interpreter — next slide shows its pipeline, end to end.</a:t>
            </a:r>
          </a:p>
        </p:txBody>
      </p:sp>
    </p:spTree>
    <p:extLst>
      <p:ext uri="{BB962C8B-B14F-4D97-AF65-F5344CB8AC3E}">
        <p14:creationId xmlns:p14="http://schemas.microsoft.com/office/powerpoint/2010/main" val="1777218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4DE2D-0C19-ED4A-BE63-61D5B5A055D2}"/>
              </a:ext>
            </a:extLst>
          </p:cNvPr>
          <p:cNvSpPr txBox="1"/>
          <p:nvPr/>
        </p:nvSpPr>
        <p:spPr>
          <a:xfrm>
            <a:off x="457200" y="457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What You'll Build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97B46-8C10-BA4C-8251-57FD84AD3312}"/>
              </a:ext>
            </a:extLst>
          </p:cNvPr>
          <p:cNvSpPr txBox="1"/>
          <p:nvPr/>
        </p:nvSpPr>
        <p:spPr>
          <a:xfrm>
            <a:off x="457200" y="990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By week 8 your MiniLang will have everything below — and it'll be entirely yours.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6274F13-DD4E-4643-9D46-F672378BBA5C}"/>
              </a:ext>
            </a:extLst>
          </p:cNvPr>
          <p:cNvSpPr/>
          <p:nvPr/>
        </p:nvSpPr>
        <p:spPr>
          <a:xfrm>
            <a:off x="457200" y="1587500"/>
            <a:ext cx="4038600" cy="1206500"/>
          </a:xfrm>
          <a:prstGeom prst="roundRect">
            <a:avLst/>
          </a:prstGeom>
          <a:solidFill>
            <a:srgbClr val="E0DEF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72F5B6-98CC-6E40-BF80-C260C2493AE9}"/>
              </a:ext>
            </a:extLst>
          </p:cNvPr>
          <p:cNvSpPr/>
          <p:nvPr/>
        </p:nvSpPr>
        <p:spPr>
          <a:xfrm>
            <a:off x="635000" y="1765300"/>
            <a:ext cx="355600" cy="3556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2EB14-BEB6-FA49-A0D6-EC9D13351E4D}"/>
              </a:ext>
            </a:extLst>
          </p:cNvPr>
          <p:cNvSpPr txBox="1"/>
          <p:nvPr/>
        </p:nvSpPr>
        <p:spPr>
          <a:xfrm>
            <a:off x="1143000" y="17653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Arithmetic + parens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802C2-CCC7-A643-AE34-F8DDCE432B1F}"/>
              </a:ext>
            </a:extLst>
          </p:cNvPr>
          <p:cNvSpPr txBox="1"/>
          <p:nvPr/>
        </p:nvSpPr>
        <p:spPr>
          <a:xfrm>
            <a:off x="1143000" y="2070100"/>
            <a:ext cx="3149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(3 + 4) * 2 → 14. Operator precedence, grouping.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6CF006-5453-1E40-AE0E-136B1DAEF36D}"/>
              </a:ext>
            </a:extLst>
          </p:cNvPr>
          <p:cNvSpPr/>
          <p:nvPr/>
        </p:nvSpPr>
        <p:spPr>
          <a:xfrm>
            <a:off x="4648200" y="1587500"/>
            <a:ext cx="4038600" cy="1206500"/>
          </a:xfrm>
          <a:prstGeom prst="roundRect">
            <a:avLst/>
          </a:prstGeom>
          <a:solidFill>
            <a:srgbClr val="E0DEF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BE7BF4-1838-AD4A-9AF9-E4AAA373D3E2}"/>
              </a:ext>
            </a:extLst>
          </p:cNvPr>
          <p:cNvSpPr/>
          <p:nvPr/>
        </p:nvSpPr>
        <p:spPr>
          <a:xfrm>
            <a:off x="4826000" y="1765300"/>
            <a:ext cx="355600" cy="3556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B33B9-4762-D543-82DB-CFBD0D26C54E}"/>
              </a:ext>
            </a:extLst>
          </p:cNvPr>
          <p:cNvSpPr txBox="1"/>
          <p:nvPr/>
        </p:nvSpPr>
        <p:spPr>
          <a:xfrm>
            <a:off x="5334000" y="17653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A5DB5-F257-1241-ACC6-EB6795EF3F1B}"/>
              </a:ext>
            </a:extLst>
          </p:cNvPr>
          <p:cNvSpPr txBox="1"/>
          <p:nvPr/>
        </p:nvSpPr>
        <p:spPr>
          <a:xfrm>
            <a:off x="5334000" y="2070100"/>
            <a:ext cx="3149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x = 10; y = x + 5. Names that hold values.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0D7D706-10A7-9B45-BAB6-0F4B367ACD30}"/>
              </a:ext>
            </a:extLst>
          </p:cNvPr>
          <p:cNvSpPr/>
          <p:nvPr/>
        </p:nvSpPr>
        <p:spPr>
          <a:xfrm>
            <a:off x="457200" y="2946400"/>
            <a:ext cx="4038600" cy="1206500"/>
          </a:xfrm>
          <a:prstGeom prst="roundRect">
            <a:avLst/>
          </a:prstGeom>
          <a:solidFill>
            <a:srgbClr val="E0DEF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E10F3C-D0DE-3B4C-B49C-4A3E27541860}"/>
              </a:ext>
            </a:extLst>
          </p:cNvPr>
          <p:cNvSpPr/>
          <p:nvPr/>
        </p:nvSpPr>
        <p:spPr>
          <a:xfrm>
            <a:off x="635000" y="3124200"/>
            <a:ext cx="355600" cy="3556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21A672-EB0F-9F41-9BFA-5F5DE2034519}"/>
              </a:ext>
            </a:extLst>
          </p:cNvPr>
          <p:cNvSpPr txBox="1"/>
          <p:nvPr/>
        </p:nvSpPr>
        <p:spPr>
          <a:xfrm>
            <a:off x="1143000" y="31242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Functions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4CC25-7C8B-D94A-9216-4E9D8D5ACEA9}"/>
              </a:ext>
            </a:extLst>
          </p:cNvPr>
          <p:cNvSpPr txBox="1"/>
          <p:nvPr/>
        </p:nvSpPr>
        <p:spPr>
          <a:xfrm>
            <a:off x="1143000" y="3429000"/>
            <a:ext cx="3149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fn double(n) { return n * 2 }. Reuse and abstraction.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C24C12C-8E22-A146-91CF-8C1162CD5700}"/>
              </a:ext>
            </a:extLst>
          </p:cNvPr>
          <p:cNvSpPr/>
          <p:nvPr/>
        </p:nvSpPr>
        <p:spPr>
          <a:xfrm>
            <a:off x="4648200" y="2946400"/>
            <a:ext cx="4038600" cy="1206500"/>
          </a:xfrm>
          <a:prstGeom prst="roundRect">
            <a:avLst/>
          </a:prstGeom>
          <a:solidFill>
            <a:srgbClr val="E0DEF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658CE6-C9D8-DC4D-A9B7-1058CB6EB722}"/>
              </a:ext>
            </a:extLst>
          </p:cNvPr>
          <p:cNvSpPr/>
          <p:nvPr/>
        </p:nvSpPr>
        <p:spPr>
          <a:xfrm>
            <a:off x="4826000" y="3124200"/>
            <a:ext cx="355600" cy="355600"/>
          </a:xfrm>
          <a:prstGeom prst="ellipse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8D6C80-713F-5C43-B78B-53D436995CB8}"/>
              </a:ext>
            </a:extLst>
          </p:cNvPr>
          <p:cNvSpPr txBox="1"/>
          <p:nvPr/>
        </p:nvSpPr>
        <p:spPr>
          <a:xfrm>
            <a:off x="5334000" y="31242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Your own feature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C1ECC-E5E4-D045-B9DF-01F8DF7DFCCD}"/>
              </a:ext>
            </a:extLst>
          </p:cNvPr>
          <p:cNvSpPr txBox="1"/>
          <p:nvPr/>
        </p:nvSpPr>
        <p:spPr>
          <a:xfrm>
            <a:off x="5334000" y="3429000"/>
            <a:ext cx="3149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Strings, loops, lists — you choose what to add.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CC393A-606F-7647-A9C1-30872E345121}"/>
              </a:ext>
            </a:extLst>
          </p:cNvPr>
          <p:cNvSpPr txBox="1"/>
          <p:nvPr/>
        </p:nvSpPr>
        <p:spPr>
          <a:xfrm>
            <a:off x="457200" y="4216400"/>
            <a:ext cx="82296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Same architecture as Python, JavaScript and Ruby — just smaller.</a:t>
            </a:r>
          </a:p>
        </p:txBody>
      </p:sp>
    </p:spTree>
    <p:extLst>
      <p:ext uri="{BB962C8B-B14F-4D97-AF65-F5344CB8AC3E}">
        <p14:creationId xmlns:p14="http://schemas.microsoft.com/office/powerpoint/2010/main" val="214106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3B544-BB93-7648-9592-9D971D18A905}"/>
              </a:ext>
            </a:extLst>
          </p:cNvPr>
          <p:cNvSpPr txBox="1"/>
          <p:nvPr/>
        </p:nvSpPr>
        <p:spPr>
          <a:xfrm>
            <a:off x="457200" y="457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Hands-On: eval()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FB74A-F424-AD44-AB6E-1015E6393DE2}"/>
              </a:ext>
            </a:extLst>
          </p:cNvPr>
          <p:cNvSpPr txBox="1"/>
          <p:nvPr/>
        </p:nvSpPr>
        <p:spPr>
          <a:xfrm>
            <a:off x="457200" y="990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Python's built-in eval() does what we'll build from scratch over the next 7 weeks.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92C704-ECBB-134B-8729-A8181CD747CB}"/>
              </a:ext>
            </a:extLst>
          </p:cNvPr>
          <p:cNvSpPr/>
          <p:nvPr/>
        </p:nvSpPr>
        <p:spPr>
          <a:xfrm>
            <a:off x="457200" y="1524000"/>
            <a:ext cx="4064000" cy="17780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B2D0B-DDA9-5541-8855-637F4901FD15}"/>
              </a:ext>
            </a:extLst>
          </p:cNvPr>
          <p:cNvSpPr txBox="1"/>
          <p:nvPr/>
        </p:nvSpPr>
        <p:spPr>
          <a:xfrm>
            <a:off x="711200" y="1752600"/>
            <a:ext cx="3683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&gt;&gt;&gt; eval("1 + 2 * 3")
     → 7
&gt;&gt;&gt; eval("(1 + 2) * 3")
     →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C2599-3A6A-A94E-901C-1F56B6310236}"/>
              </a:ext>
            </a:extLst>
          </p:cNvPr>
          <p:cNvSpPr txBox="1"/>
          <p:nvPr/>
        </p:nvSpPr>
        <p:spPr>
          <a:xfrm>
            <a:off x="5080000" y="1524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What eval() does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EA4C1D-21B2-B747-8FB7-EF299B297C21}"/>
              </a:ext>
            </a:extLst>
          </p:cNvPr>
          <p:cNvSpPr/>
          <p:nvPr/>
        </p:nvSpPr>
        <p:spPr>
          <a:xfrm>
            <a:off x="5080000" y="1841500"/>
            <a:ext cx="3175000" cy="3556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A06C4-75BC-B045-BDCD-9BBBB3452698}"/>
              </a:ext>
            </a:extLst>
          </p:cNvPr>
          <p:cNvSpPr txBox="1"/>
          <p:nvPr/>
        </p:nvSpPr>
        <p:spPr>
          <a:xfrm>
            <a:off x="5181600" y="191770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2385"/>
                </a:solidFill>
                <a:latin typeface="Consolas"/>
                <a:cs typeface="Consolas"/>
              </a:rPr>
              <a:t>"1 + 2 * 3"   (string)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73CDE90-2DFE-ED41-93E2-CB7ADEF63F9A}"/>
              </a:ext>
            </a:extLst>
          </p:cNvPr>
          <p:cNvSpPr/>
          <p:nvPr/>
        </p:nvSpPr>
        <p:spPr>
          <a:xfrm>
            <a:off x="6604000" y="2222500"/>
            <a:ext cx="127000" cy="127000"/>
          </a:xfrm>
          <a:prstGeom prst="down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4EDBA27-A754-1E40-9A94-B5BB7137FA28}"/>
              </a:ext>
            </a:extLst>
          </p:cNvPr>
          <p:cNvSpPr/>
          <p:nvPr/>
        </p:nvSpPr>
        <p:spPr>
          <a:xfrm>
            <a:off x="5080000" y="2374900"/>
            <a:ext cx="3175000" cy="3556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48EAAE-CA91-0F4C-B35D-B20C1DB12C91}"/>
              </a:ext>
            </a:extLst>
          </p:cNvPr>
          <p:cNvSpPr txBox="1"/>
          <p:nvPr/>
        </p:nvSpPr>
        <p:spPr>
          <a:xfrm>
            <a:off x="5181600" y="245110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eval()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4E29EF38-41B8-DD49-8A78-407E4194423B}"/>
              </a:ext>
            </a:extLst>
          </p:cNvPr>
          <p:cNvSpPr/>
          <p:nvPr/>
        </p:nvSpPr>
        <p:spPr>
          <a:xfrm>
            <a:off x="6604000" y="2755900"/>
            <a:ext cx="127000" cy="127000"/>
          </a:xfrm>
          <a:prstGeom prst="downArrow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831FCFD-1EBC-2642-8B14-281018DE2622}"/>
              </a:ext>
            </a:extLst>
          </p:cNvPr>
          <p:cNvSpPr/>
          <p:nvPr/>
        </p:nvSpPr>
        <p:spPr>
          <a:xfrm>
            <a:off x="5080000" y="2908300"/>
            <a:ext cx="3175000" cy="3556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B79CF2-50B6-9243-AB0D-471AC07579E7}"/>
              </a:ext>
            </a:extLst>
          </p:cNvPr>
          <p:cNvSpPr txBox="1"/>
          <p:nvPr/>
        </p:nvSpPr>
        <p:spPr>
          <a:xfrm>
            <a:off x="5181600" y="298450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2385"/>
                </a:solidFill>
                <a:latin typeface="Consolas"/>
                <a:cs typeface="Consolas"/>
              </a:rPr>
              <a:t>7   (number)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17A88-C256-AA4C-A4A4-E086523858A5}"/>
              </a:ext>
            </a:extLst>
          </p:cNvPr>
          <p:cNvSpPr txBox="1"/>
          <p:nvPr/>
        </p:nvSpPr>
        <p:spPr>
          <a:xfrm>
            <a:off x="457200" y="355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We'll replace eval() over the next 7 weeks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6455ACB-49AE-0343-AA6E-47ED9B3457FB}"/>
              </a:ext>
            </a:extLst>
          </p:cNvPr>
          <p:cNvSpPr/>
          <p:nvPr/>
        </p:nvSpPr>
        <p:spPr>
          <a:xfrm>
            <a:off x="457200" y="3835400"/>
            <a:ext cx="1981200" cy="6985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EF089-AD06-2647-902D-F6131B090E1D}"/>
              </a:ext>
            </a:extLst>
          </p:cNvPr>
          <p:cNvSpPr txBox="1"/>
          <p:nvPr/>
        </p:nvSpPr>
        <p:spPr>
          <a:xfrm>
            <a:off x="558800" y="39116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b="1">
                <a:solidFill>
                  <a:srgbClr val="A6A6F5"/>
                </a:solidFill>
                <a:latin typeface="Inter Tight"/>
                <a:ea typeface="Inter Tight"/>
                <a:cs typeface="Inter Tight"/>
              </a:rPr>
              <a:t>WK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D0B97D-B792-D54A-90D5-7C7D23A97B18}"/>
              </a:ext>
            </a:extLst>
          </p:cNvPr>
          <p:cNvSpPr txBox="1"/>
          <p:nvPr/>
        </p:nvSpPr>
        <p:spPr>
          <a:xfrm>
            <a:off x="558800" y="406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Recursion + AST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47225B-42FE-024A-BF73-E98B6FF5EC7C}"/>
              </a:ext>
            </a:extLst>
          </p:cNvPr>
          <p:cNvSpPr txBox="1"/>
          <p:nvPr/>
        </p:nvSpPr>
        <p:spPr>
          <a:xfrm>
            <a:off x="558800" y="4267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Evaluate trees instead of strings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2B60DED-C30F-B043-AB4D-584D37C3DBA0}"/>
              </a:ext>
            </a:extLst>
          </p:cNvPr>
          <p:cNvSpPr/>
          <p:nvPr/>
        </p:nvSpPr>
        <p:spPr>
          <a:xfrm>
            <a:off x="2540000" y="3835400"/>
            <a:ext cx="1981200" cy="6985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16E249-8F04-774A-8648-FE0123CB3518}"/>
              </a:ext>
            </a:extLst>
          </p:cNvPr>
          <p:cNvSpPr txBox="1"/>
          <p:nvPr/>
        </p:nvSpPr>
        <p:spPr>
          <a:xfrm>
            <a:off x="2641600" y="39116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b="1">
                <a:solidFill>
                  <a:srgbClr val="A6A6F5"/>
                </a:solidFill>
                <a:latin typeface="Inter Tight"/>
                <a:ea typeface="Inter Tight"/>
                <a:cs typeface="Inter Tight"/>
              </a:rPr>
              <a:t>WK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61DB26-2265-EC43-A648-7D6AE09F2775}"/>
              </a:ext>
            </a:extLst>
          </p:cNvPr>
          <p:cNvSpPr txBox="1"/>
          <p:nvPr/>
        </p:nvSpPr>
        <p:spPr>
          <a:xfrm>
            <a:off x="2641600" y="406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Tokenizer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7E5735-8A71-AD40-B8DF-5E34D371D90E}"/>
              </a:ext>
            </a:extLst>
          </p:cNvPr>
          <p:cNvSpPr txBox="1"/>
          <p:nvPr/>
        </p:nvSpPr>
        <p:spPr>
          <a:xfrm>
            <a:off x="2641600" y="4267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Text → token stream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82BB664-B250-FF43-88A5-05A34C88C74B}"/>
              </a:ext>
            </a:extLst>
          </p:cNvPr>
          <p:cNvSpPr/>
          <p:nvPr/>
        </p:nvSpPr>
        <p:spPr>
          <a:xfrm>
            <a:off x="4622800" y="3835400"/>
            <a:ext cx="1981200" cy="6985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04333B-0D39-8744-8F05-9F16024E1DCE}"/>
              </a:ext>
            </a:extLst>
          </p:cNvPr>
          <p:cNvSpPr txBox="1"/>
          <p:nvPr/>
        </p:nvSpPr>
        <p:spPr>
          <a:xfrm>
            <a:off x="4724400" y="39116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b="1">
                <a:solidFill>
                  <a:srgbClr val="A6A6F5"/>
                </a:solidFill>
                <a:latin typeface="Inter Tight"/>
                <a:ea typeface="Inter Tight"/>
                <a:cs typeface="Inter Tight"/>
              </a:rPr>
              <a:t>WK 4-7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60B118-F8C2-8D48-9281-91B8B64112E0}"/>
              </a:ext>
            </a:extLst>
          </p:cNvPr>
          <p:cNvSpPr txBox="1"/>
          <p:nvPr/>
        </p:nvSpPr>
        <p:spPr>
          <a:xfrm>
            <a:off x="4724400" y="406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Parser + interpreter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3E3ED2-25F3-E147-B75D-A90BBA19876B}"/>
              </a:ext>
            </a:extLst>
          </p:cNvPr>
          <p:cNvSpPr txBox="1"/>
          <p:nvPr/>
        </p:nvSpPr>
        <p:spPr>
          <a:xfrm>
            <a:off x="4724400" y="4267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Build the full pipeline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B51BB50-0239-B34B-B640-87EA7C67A0B1}"/>
              </a:ext>
            </a:extLst>
          </p:cNvPr>
          <p:cNvSpPr/>
          <p:nvPr/>
        </p:nvSpPr>
        <p:spPr>
          <a:xfrm>
            <a:off x="6705600" y="3835400"/>
            <a:ext cx="1981200" cy="6985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0E6F32-6B1D-1C4B-B36C-C83A162020A9}"/>
              </a:ext>
            </a:extLst>
          </p:cNvPr>
          <p:cNvSpPr txBox="1"/>
          <p:nvPr/>
        </p:nvSpPr>
        <p:spPr>
          <a:xfrm>
            <a:off x="6807200" y="39116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b="1">
                <a:solidFill>
                  <a:srgbClr val="A6A6F5"/>
                </a:solidFill>
                <a:latin typeface="Inter Tight"/>
                <a:ea typeface="Inter Tight"/>
                <a:cs typeface="Inter Tight"/>
              </a:rPr>
              <a:t>WK 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4F23CF-2286-654C-94FD-0F0152A50957}"/>
              </a:ext>
            </a:extLst>
          </p:cNvPr>
          <p:cNvSpPr txBox="1"/>
          <p:nvPr/>
        </p:nvSpPr>
        <p:spPr>
          <a:xfrm>
            <a:off x="6807200" y="4064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Your feature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CD7D24-61F8-974B-BF37-2410C8F56256}"/>
              </a:ext>
            </a:extLst>
          </p:cNvPr>
          <p:cNvSpPr txBox="1"/>
          <p:nvPr/>
        </p:nvSpPr>
        <p:spPr>
          <a:xfrm>
            <a:off x="6807200" y="4267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Add an extension of your own</a:t>
            </a:r>
          </a:p>
        </p:txBody>
      </p:sp>
    </p:spTree>
    <p:extLst>
      <p:ext uri="{BB962C8B-B14F-4D97-AF65-F5344CB8AC3E}">
        <p14:creationId xmlns:p14="http://schemas.microsoft.com/office/powerpoint/2010/main" val="2053730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D2B02-1621-284A-8C6E-B38F4589B306}"/>
              </a:ext>
            </a:extLst>
          </p:cNvPr>
          <p:cNvSpPr txBox="1"/>
          <p:nvPr/>
        </p:nvSpPr>
        <p:spPr>
          <a:xfrm>
            <a:off x="457200" y="1651000"/>
            <a:ext cx="4064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4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Building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499D6-6396-2840-9D6F-D4BF73E5ADA5}"/>
              </a:ext>
            </a:extLst>
          </p:cNvPr>
          <p:cNvSpPr txBox="1"/>
          <p:nvPr/>
        </p:nvSpPr>
        <p:spPr>
          <a:xfrm>
            <a:off x="457200" y="2286000"/>
            <a:ext cx="4064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4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a Tiny REPL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91B5D-BE0E-1E42-928B-46B83A11CB97}"/>
              </a:ext>
            </a:extLst>
          </p:cNvPr>
          <p:cNvSpPr txBox="1"/>
          <p:nvPr/>
        </p:nvSpPr>
        <p:spPr>
          <a:xfrm>
            <a:off x="457200" y="3048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Hands-on · 10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67BB8-1B9E-2C46-8D86-E23F90CCE1A4}"/>
              </a:ext>
            </a:extLst>
          </p:cNvPr>
          <p:cNvSpPr txBox="1"/>
          <p:nvPr/>
        </p:nvSpPr>
        <p:spPr>
          <a:xfrm>
            <a:off x="5080000" y="889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AC0D4-6C88-BF4B-BB05-F7A4BAE9FC13}"/>
              </a:ext>
            </a:extLst>
          </p:cNvPr>
          <p:cNvSpPr txBox="1"/>
          <p:nvPr/>
        </p:nvSpPr>
        <p:spPr>
          <a:xfrm>
            <a:off x="5080000" y="12192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Get a line from the user with input().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1586A0-4AC8-1D4F-B451-7AFFC7E9B354}"/>
              </a:ext>
            </a:extLst>
          </p:cNvPr>
          <p:cNvSpPr txBox="1"/>
          <p:nvPr/>
        </p:nvSpPr>
        <p:spPr>
          <a:xfrm>
            <a:off x="5080000" y="2057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Eval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385080-72E4-974A-8CDF-C97952B7969B}"/>
              </a:ext>
            </a:extLst>
          </p:cNvPr>
          <p:cNvSpPr txBox="1"/>
          <p:nvPr/>
        </p:nvSpPr>
        <p:spPr>
          <a:xfrm>
            <a:off x="5080000" y="23876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Run eval() on the string — for now, this is our interpreter.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1442C-D434-6941-96B6-D1AA3434B912}"/>
              </a:ext>
            </a:extLst>
          </p:cNvPr>
          <p:cNvSpPr txBox="1"/>
          <p:nvPr/>
        </p:nvSpPr>
        <p:spPr>
          <a:xfrm>
            <a:off x="5080000" y="32258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Print + Loop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1A380-081D-FC46-B84B-C0D990EB6E40}"/>
              </a:ext>
            </a:extLst>
          </p:cNvPr>
          <p:cNvSpPr txBox="1"/>
          <p:nvPr/>
        </p:nvSpPr>
        <p:spPr>
          <a:xfrm>
            <a:off x="5080000" y="35560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Print the result. Then loop forever.</a:t>
            </a:r>
          </a:p>
        </p:txBody>
      </p:sp>
    </p:spTree>
    <p:extLst>
      <p:ext uri="{BB962C8B-B14F-4D97-AF65-F5344CB8AC3E}">
        <p14:creationId xmlns:p14="http://schemas.microsoft.com/office/powerpoint/2010/main" val="346107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47FF8-DC8D-6F49-8B09-68404FDC6149}"/>
              </a:ext>
            </a:extLst>
          </p:cNvPr>
          <p:cNvSpPr txBox="1"/>
          <p:nvPr/>
        </p:nvSpPr>
        <p:spPr>
          <a:xfrm>
            <a:off x="457200" y="457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Coming Next: Nested Structures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DC58B-3D71-C44C-8ACA-35E80956027A}"/>
              </a:ext>
            </a:extLst>
          </p:cNvPr>
          <p:cNvSpPr txBox="1"/>
          <p:nvPr/>
        </p:nvSpPr>
        <p:spPr>
          <a:xfrm>
            <a:off x="457200" y="990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Recursion is the key — and it's everywhere in real programs.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26A74CD-1570-1A47-89DB-0D197ACDA8AB}"/>
              </a:ext>
            </a:extLst>
          </p:cNvPr>
          <p:cNvSpPr/>
          <p:nvPr/>
        </p:nvSpPr>
        <p:spPr>
          <a:xfrm>
            <a:off x="457200" y="1651000"/>
            <a:ext cx="4064000" cy="2413000"/>
          </a:xfrm>
          <a:prstGeom prst="roundRect">
            <a:avLst/>
          </a:prstGeom>
          <a:solidFill>
            <a:srgbClr val="C5C3F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55361-6187-FB4D-8729-4C7C378BA302}"/>
              </a:ext>
            </a:extLst>
          </p:cNvPr>
          <p:cNvSpPr txBox="1"/>
          <p:nvPr/>
        </p:nvSpPr>
        <p:spPr>
          <a:xfrm>
            <a:off x="635000" y="184150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"3 + 4 * 2"   becomes: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7FF91-CEB9-8041-8E53-CA4091760189}"/>
              </a:ext>
            </a:extLst>
          </p:cNvPr>
          <p:cNvSpPr txBox="1"/>
          <p:nvPr/>
        </p:nvSpPr>
        <p:spPr>
          <a:xfrm>
            <a:off x="762000" y="2222500"/>
            <a:ext cx="3429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242385"/>
                </a:solidFill>
                <a:latin typeface="Consolas"/>
                <a:cs typeface="Consolas"/>
              </a:rPr>
              <a:t>         +</a:t>
            </a:r>
          </a:p>
          <a:p>
            <a:pPr algn="l"/>
            <a:r>
              <a:rPr lang="en-US" sz="1600" b="1" dirty="0">
                <a:solidFill>
                  <a:srgbClr val="242385"/>
                </a:solidFill>
                <a:latin typeface="Consolas"/>
                <a:cs typeface="Consolas"/>
              </a:rPr>
              <a:t>        / \</a:t>
            </a:r>
            <a:br>
              <a:rPr lang="en-US" sz="1600" b="1" dirty="0">
                <a:solidFill>
                  <a:srgbClr val="242385"/>
                </a:solidFill>
                <a:latin typeface="Consolas"/>
                <a:cs typeface="Consolas"/>
              </a:rPr>
            </a:br>
            <a:r>
              <a:rPr lang="en-US" sz="1600" b="1" dirty="0">
                <a:solidFill>
                  <a:srgbClr val="242385"/>
                </a:solidFill>
                <a:latin typeface="Consolas"/>
                <a:cs typeface="Consolas"/>
              </a:rPr>
              <a:t>      3    *</a:t>
            </a:r>
          </a:p>
          <a:p>
            <a:pPr algn="l"/>
            <a:r>
              <a:rPr lang="en-US" sz="1600" b="1" dirty="0">
                <a:solidFill>
                  <a:srgbClr val="242385"/>
                </a:solidFill>
                <a:latin typeface="Consolas"/>
                <a:cs typeface="Consolas"/>
              </a:rPr>
              <a:t>           / \</a:t>
            </a:r>
            <a:br>
              <a:rPr lang="en-US" sz="1600" b="1" dirty="0">
                <a:solidFill>
                  <a:srgbClr val="242385"/>
                </a:solidFill>
                <a:latin typeface="Consolas"/>
                <a:cs typeface="Consolas"/>
              </a:rPr>
            </a:br>
            <a:r>
              <a:rPr lang="en-US" sz="1600" b="1" dirty="0">
                <a:solidFill>
                  <a:srgbClr val="242385"/>
                </a:solidFill>
                <a:latin typeface="Consolas"/>
                <a:cs typeface="Consolas"/>
              </a:rPr>
              <a:t>          4   2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F6400B-8A8E-2C49-8912-0BB3F6F83142}"/>
              </a:ext>
            </a:extLst>
          </p:cNvPr>
          <p:cNvSpPr/>
          <p:nvPr/>
        </p:nvSpPr>
        <p:spPr>
          <a:xfrm>
            <a:off x="4927600" y="1778000"/>
            <a:ext cx="101600" cy="1016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38CFD-DFED-DA4D-817C-F22FE36E89BE}"/>
              </a:ext>
            </a:extLst>
          </p:cNvPr>
          <p:cNvSpPr txBox="1"/>
          <p:nvPr/>
        </p:nvSpPr>
        <p:spPr>
          <a:xfrm>
            <a:off x="5143500" y="17145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Same idea, different shapes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BAD70-E150-1A47-A147-4ACC1F2B09B3}"/>
              </a:ext>
            </a:extLst>
          </p:cNvPr>
          <p:cNvSpPr txBox="1"/>
          <p:nvPr/>
        </p:nvSpPr>
        <p:spPr>
          <a:xfrm>
            <a:off x="5143500" y="19431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HTML, JSON, file systems — all trees of nested things.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4210F5-2450-E34C-98C8-3DDF0DC15213}"/>
              </a:ext>
            </a:extLst>
          </p:cNvPr>
          <p:cNvSpPr/>
          <p:nvPr/>
        </p:nvSpPr>
        <p:spPr>
          <a:xfrm>
            <a:off x="4927600" y="2565400"/>
            <a:ext cx="101600" cy="1016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AD036-1E63-3745-83D3-FC5572C5420C}"/>
              </a:ext>
            </a:extLst>
          </p:cNvPr>
          <p:cNvSpPr txBox="1"/>
          <p:nvPr/>
        </p:nvSpPr>
        <p:spPr>
          <a:xfrm>
            <a:off x="5143500" y="25019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Trees demand recursion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F6760-78D4-3144-8FAB-E17783399A88}"/>
              </a:ext>
            </a:extLst>
          </p:cNvPr>
          <p:cNvSpPr txBox="1"/>
          <p:nvPr/>
        </p:nvSpPr>
        <p:spPr>
          <a:xfrm>
            <a:off x="5143500" y="27305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Walk down, then back up. One function calls itself on each child.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48391E4-6D45-A249-AEF2-1E2C9E70AEC6}"/>
              </a:ext>
            </a:extLst>
          </p:cNvPr>
          <p:cNvSpPr/>
          <p:nvPr/>
        </p:nvSpPr>
        <p:spPr>
          <a:xfrm>
            <a:off x="4927600" y="3352800"/>
            <a:ext cx="101600" cy="1016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048D5-1E81-1045-9C27-6342438772C8}"/>
              </a:ext>
            </a:extLst>
          </p:cNvPr>
          <p:cNvSpPr txBox="1"/>
          <p:nvPr/>
        </p:nvSpPr>
        <p:spPr>
          <a:xfrm>
            <a:off x="5143500" y="32893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Next week we build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2E4E1-BE2B-CC4C-84C3-7B64A6B40D16}"/>
              </a:ext>
            </a:extLst>
          </p:cNvPr>
          <p:cNvSpPr txBox="1"/>
          <p:nvPr/>
        </p:nvSpPr>
        <p:spPr>
          <a:xfrm>
            <a:off x="5143500" y="35179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Define tree nodes, write evaluate(node), run real expressions.</a:t>
            </a:r>
          </a:p>
        </p:txBody>
      </p:sp>
    </p:spTree>
    <p:extLst>
      <p:ext uri="{BB962C8B-B14F-4D97-AF65-F5344CB8AC3E}">
        <p14:creationId xmlns:p14="http://schemas.microsoft.com/office/powerpoint/2010/main" val="356644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33D25D-BDAB-CC41-BEC7-B4BBB9A6D734}"/>
              </a:ext>
            </a:extLst>
          </p:cNvPr>
          <p:cNvSpPr txBox="1"/>
          <p:nvPr/>
        </p:nvSpPr>
        <p:spPr>
          <a:xfrm>
            <a:off x="457200" y="457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C36E7-F5BE-164C-9C7D-27D9DEB6D15E}"/>
              </a:ext>
            </a:extLst>
          </p:cNvPr>
          <p:cNvSpPr txBox="1"/>
          <p:nvPr/>
        </p:nvSpPr>
        <p:spPr>
          <a:xfrm>
            <a:off x="457200" y="990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What we covered today, and what to do before Workshop 2.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4AC5C-46A5-C94C-A80E-18CE2EEA03FE}"/>
              </a:ext>
            </a:extLst>
          </p:cNvPr>
          <p:cNvSpPr txBox="1"/>
          <p:nvPr/>
        </p:nvSpPr>
        <p:spPr>
          <a:xfrm>
            <a:off x="457200" y="1651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What you can now do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D8E3C3-85ED-4F4D-8C8B-CB0CA8D0FCFE}"/>
              </a:ext>
            </a:extLst>
          </p:cNvPr>
          <p:cNvSpPr/>
          <p:nvPr/>
        </p:nvSpPr>
        <p:spPr>
          <a:xfrm>
            <a:off x="457200" y="2082800"/>
            <a:ext cx="88900" cy="889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8669B-806E-1746-A14C-70BE578E8097}"/>
              </a:ext>
            </a:extLst>
          </p:cNvPr>
          <p:cNvSpPr txBox="1"/>
          <p:nvPr/>
        </p:nvSpPr>
        <p:spPr>
          <a:xfrm>
            <a:off x="635000" y="20066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Explain the source → output pipeline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6193FF-7AD2-444A-8321-04843545CDF4}"/>
              </a:ext>
            </a:extLst>
          </p:cNvPr>
          <p:cNvSpPr/>
          <p:nvPr/>
        </p:nvSpPr>
        <p:spPr>
          <a:xfrm>
            <a:off x="457200" y="2413000"/>
            <a:ext cx="88900" cy="889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32FBF-2595-A245-A15E-14268BD2E637}"/>
              </a:ext>
            </a:extLst>
          </p:cNvPr>
          <p:cNvSpPr txBox="1"/>
          <p:nvPr/>
        </p:nvSpPr>
        <p:spPr>
          <a:xfrm>
            <a:off x="635000" y="23368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Distinguish interpreters from compilers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EA5648-C531-1142-AC46-5B387896BA16}"/>
              </a:ext>
            </a:extLst>
          </p:cNvPr>
          <p:cNvSpPr/>
          <p:nvPr/>
        </p:nvSpPr>
        <p:spPr>
          <a:xfrm>
            <a:off x="457200" y="2743200"/>
            <a:ext cx="88900" cy="889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6568C-3012-BB45-8633-72E8FA286CDA}"/>
              </a:ext>
            </a:extLst>
          </p:cNvPr>
          <p:cNvSpPr txBox="1"/>
          <p:nvPr/>
        </p:nvSpPr>
        <p:spPr>
          <a:xfrm>
            <a:off x="635000" y="26670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Run Python's eval() and predict outputs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85F48A-BE16-D149-90A8-A797D0BD8621}"/>
              </a:ext>
            </a:extLst>
          </p:cNvPr>
          <p:cNvSpPr/>
          <p:nvPr/>
        </p:nvSpPr>
        <p:spPr>
          <a:xfrm>
            <a:off x="457200" y="3073400"/>
            <a:ext cx="88900" cy="889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70AB3-B343-8242-ADBE-2E4D73945607}"/>
              </a:ext>
            </a:extLst>
          </p:cNvPr>
          <p:cNvSpPr txBox="1"/>
          <p:nvPr/>
        </p:nvSpPr>
        <p:spPr>
          <a:xfrm>
            <a:off x="635000" y="29972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Use a REPL as a thinking tool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1B644-0590-0946-B34A-199AA26A8C03}"/>
              </a:ext>
            </a:extLst>
          </p:cNvPr>
          <p:cNvSpPr txBox="1"/>
          <p:nvPr/>
        </p:nvSpPr>
        <p:spPr>
          <a:xfrm>
            <a:off x="4826000" y="1651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Homework before Week 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FEF62B-D037-704B-83D3-03760F3CF090}"/>
              </a:ext>
            </a:extLst>
          </p:cNvPr>
          <p:cNvSpPr/>
          <p:nvPr/>
        </p:nvSpPr>
        <p:spPr>
          <a:xfrm>
            <a:off x="4826000" y="2082800"/>
            <a:ext cx="88900" cy="889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1C034-D581-8842-8310-380A9B07FC83}"/>
              </a:ext>
            </a:extLst>
          </p:cNvPr>
          <p:cNvSpPr txBox="1"/>
          <p:nvPr/>
        </p:nvSpPr>
        <p:spPr>
          <a:xfrm>
            <a:off x="5003800" y="20066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Install python and </a:t>
            </a:r>
            <a:r>
              <a:rPr lang="en-US" sz="1200" dirty="0" err="1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jupyter</a:t>
            </a:r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 notebook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4F833FE-35B1-564E-AAE1-94BEA898F6C9}"/>
              </a:ext>
            </a:extLst>
          </p:cNvPr>
          <p:cNvSpPr/>
          <p:nvPr/>
        </p:nvSpPr>
        <p:spPr>
          <a:xfrm>
            <a:off x="4826000" y="2413000"/>
            <a:ext cx="88900" cy="889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3723B5-59C3-164B-AA96-FB3183E9271B}"/>
              </a:ext>
            </a:extLst>
          </p:cNvPr>
          <p:cNvSpPr txBox="1"/>
          <p:nvPr/>
        </p:nvSpPr>
        <p:spPr>
          <a:xfrm>
            <a:off x="5003800" y="23368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Create your workshop repo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21D4BB-4A3F-724E-9514-42B54F572AFB}"/>
              </a:ext>
            </a:extLst>
          </p:cNvPr>
          <p:cNvSpPr/>
          <p:nvPr/>
        </p:nvSpPr>
        <p:spPr>
          <a:xfrm>
            <a:off x="4826000" y="2743200"/>
            <a:ext cx="88900" cy="88900"/>
          </a:xfrm>
          <a:prstGeom prst="ellipse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03A08-3277-3549-91B6-BB30136B15D8}"/>
              </a:ext>
            </a:extLst>
          </p:cNvPr>
          <p:cNvSpPr txBox="1"/>
          <p:nvPr/>
        </p:nvSpPr>
        <p:spPr>
          <a:xfrm>
            <a:off x="5003800" y="26670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Follow along the workshop1 </a:t>
            </a:r>
            <a:r>
              <a:rPr lang="en-US" sz="1200" dirty="0" err="1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jupyter</a:t>
            </a:r>
            <a:r>
              <a:rPr lang="en-US" sz="1200" dirty="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 notebook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C5FEC9C-593A-5244-A687-F27E7C861B9E}"/>
              </a:ext>
            </a:extLst>
          </p:cNvPr>
          <p:cNvSpPr/>
          <p:nvPr/>
        </p:nvSpPr>
        <p:spPr>
          <a:xfrm>
            <a:off x="457200" y="3746500"/>
            <a:ext cx="8229600" cy="6350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C00C8F-D7FB-2649-BE73-588B3272B670}"/>
              </a:ext>
            </a:extLst>
          </p:cNvPr>
          <p:cNvSpPr txBox="1"/>
          <p:nvPr/>
        </p:nvSpPr>
        <p:spPr>
          <a:xfrm>
            <a:off x="711200" y="3911600"/>
            <a:ext cx="7721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Next week: recursion + your first tree evaluator.</a:t>
            </a:r>
          </a:p>
        </p:txBody>
      </p:sp>
    </p:spTree>
    <p:extLst>
      <p:ext uri="{BB962C8B-B14F-4D97-AF65-F5344CB8AC3E}">
        <p14:creationId xmlns:p14="http://schemas.microsoft.com/office/powerpoint/2010/main" val="40577679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5C163-F951-A24C-83A2-907570B7BA7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2ae08fb-fe0a-4569-b77a-71b2ca4643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bfc5af-ba08-4223-8118-2e61d2979772" xsi:nil="true"/>
    <lcf76f155ced4ddcb4097134ff3c332f xmlns="a1200294-7566-47bd-bcc6-0c4e5d371f43">
      <Terms xmlns="http://schemas.microsoft.com/office/infopath/2007/PartnerControls"/>
    </lcf76f155ced4ddcb4097134ff3c332f>
    <SessionNo xmlns="a1200294-7566-47bd-bcc6-0c4e5d371f43">1</SessionNo>
    <PostingDate xmlns="a1200294-7566-47bd-bcc6-0c4e5d371f43" xsi:nil="true"/>
    <Employee xmlns="a1200294-7566-47bd-bcc6-0c4e5d371f43">
      <UserInfo>
        <DisplayName/>
        <AccountId xsi:nil="true"/>
        <AccountType/>
      </UserInfo>
    </Employe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3FF15707724F49A972C13B33FAAA8B" ma:contentTypeVersion="38" ma:contentTypeDescription="Create a new document." ma:contentTypeScope="" ma:versionID="851fe35329e603af911194bdcd4ec314">
  <xsd:schema xmlns:xsd="http://www.w3.org/2001/XMLSchema" xmlns:xs="http://www.w3.org/2001/XMLSchema" xmlns:p="http://schemas.microsoft.com/office/2006/metadata/properties" xmlns:ns2="a1200294-7566-47bd-bcc6-0c4e5d371f43" xmlns:ns3="babfc5af-ba08-4223-8118-2e61d2979772" targetNamespace="http://schemas.microsoft.com/office/2006/metadata/properties" ma:root="true" ma:fieldsID="0d41bec471a18ca9aab9c386c55630d7" ns2:_="" ns3:_="">
    <xsd:import namespace="a1200294-7566-47bd-bcc6-0c4e5d371f43"/>
    <xsd:import namespace="babfc5af-ba08-4223-8118-2e61d2979772"/>
    <xsd:element name="properties">
      <xsd:complexType>
        <xsd:sequence>
          <xsd:element name="documentManagement">
            <xsd:complexType>
              <xsd:all>
                <xsd:element ref="ns2:Employee" minOccurs="0"/>
                <xsd:element ref="ns2:Posting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SessionNo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0294-7566-47bd-bcc6-0c4e5d371f43" elementFormDefault="qualified">
    <xsd:import namespace="http://schemas.microsoft.com/office/2006/documentManagement/types"/>
    <xsd:import namespace="http://schemas.microsoft.com/office/infopath/2007/PartnerControls"/>
    <xsd:element name="Employee" ma:index="1" nillable="true" ma:displayName="Employee" ma:list="UserInfo" ma:SharePointGroup="0" ma:internalName="Employe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ingDate" ma:index="2" nillable="true" ma:displayName="Posting Date" ma:format="DateOnly" ma:internalName="PostingDate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4" nillable="true" ma:displayName="Tags" ma:hidden="true" ma:internalName="MediaServiceAutoTags" ma:readOnly="true">
      <xsd:simpleType>
        <xsd:restriction base="dms:Text"/>
      </xsd:simple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c01bbee-216c-4cdf-bb0c-f637e50b3b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SessionNo" ma:index="27" nillable="true" ma:displayName="Order" ma:decimals="0" ma:default="1" ma:format="Dropdown" ma:internalName="SessionNo" ma:percentage="FALSE">
      <xsd:simpleType>
        <xsd:restriction base="dms:Number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fc5af-ba08-4223-8118-2e61d29797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30907219-2b16-4918-aa31-a6d15e45b1a4}" ma:internalName="TaxCatchAll" ma:readOnly="false" ma:showField="CatchAllData" ma:web="babfc5af-ba08-4223-8118-2e61d29797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C38A34-1C09-44AF-A4CC-A67B6F751BAC}">
  <ds:schemaRefs>
    <ds:schemaRef ds:uri="a1200294-7566-47bd-bcc6-0c4e5d371f43"/>
    <ds:schemaRef ds:uri="babfc5af-ba08-4223-8118-2e61d297977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57A362D-1894-48CE-8E97-55D3A9BA4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00294-7566-47bd-bcc6-0c4e5d371f43"/>
    <ds:schemaRef ds:uri="babfc5af-ba08-4223-8118-2e61d2979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21C174-D453-4914-8411-DE970D7B2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38290</TotalTime>
  <Words>1010</Words>
  <Application>Microsoft Macintosh PowerPoint</Application>
  <PresentationFormat>On-screen Show (16:9)</PresentationFormat>
  <Paragraphs>179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Inter Tight</vt:lpstr>
      <vt:lpstr>Consolas</vt:lpstr>
      <vt:lpstr>Arial</vt:lpstr>
      <vt:lpstr>Helvetica Neue</vt:lpstr>
      <vt:lpstr>Simple Light</vt:lpstr>
      <vt:lpstr>Code to Execution Week 1  ·  Build Your Own Programming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Yuwei (Vivi) Ye</cp:lastModifiedBy>
  <cp:revision>24</cp:revision>
  <dcterms:modified xsi:type="dcterms:W3CDTF">2026-06-10T04:12:34Z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0x010100AF3FF15707724F49A972C13B33FAAA8B</vt:lpwstr>
  </property>
  <property fmtid="{D5CDD505-2E9C-101B-9397-08002B2CF9AE}" pid="3" name="MediaServiceImageTags">
    <vt:lpwstr/>
  </property>
</Properties>
</file>