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4"/>
  </p:sldMasterIdLst>
  <p:notesMasterIdLst>
    <p:notesMasterId r:id="rId35"/>
  </p:notesMasterIdLst>
  <p:sldIdLst>
    <p:sldId id="672" r:id="rId5"/>
    <p:sldId id="674" r:id="rId6"/>
    <p:sldId id="677" r:id="rId7"/>
    <p:sldId id="679" r:id="rId8"/>
    <p:sldId id="681" r:id="rId9"/>
    <p:sldId id="683" r:id="rId10"/>
    <p:sldId id="685" r:id="rId11"/>
    <p:sldId id="687" r:id="rId12"/>
    <p:sldId id="689" r:id="rId13"/>
    <p:sldId id="691" r:id="rId14"/>
    <p:sldId id="693" r:id="rId15"/>
    <p:sldId id="704" r:id="rId16"/>
    <p:sldId id="705" r:id="rId17"/>
    <p:sldId id="706" r:id="rId18"/>
    <p:sldId id="707" r:id="rId19"/>
    <p:sldId id="708" r:id="rId20"/>
    <p:sldId id="732" r:id="rId21"/>
    <p:sldId id="733" r:id="rId22"/>
    <p:sldId id="734" r:id="rId23"/>
    <p:sldId id="735" r:id="rId24"/>
    <p:sldId id="736" r:id="rId25"/>
    <p:sldId id="737" r:id="rId26"/>
    <p:sldId id="740" r:id="rId27"/>
    <p:sldId id="742" r:id="rId28"/>
    <p:sldId id="738" r:id="rId29"/>
    <p:sldId id="744" r:id="rId30"/>
    <p:sldId id="724" r:id="rId31"/>
    <p:sldId id="726" r:id="rId32"/>
    <p:sldId id="728" r:id="rId33"/>
    <p:sldId id="731" r:id="rId3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Inter Tight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06"/>
    <p:restoredTop sz="74726"/>
  </p:normalViewPr>
  <p:slideViewPr>
    <p:cSldViewPr snapToGrid="0">
      <p:cViewPr varScale="1">
        <p:scale>
          <a:sx n="115" d="100"/>
          <a:sy n="115" d="100"/>
        </p:scale>
        <p:origin x="208" y="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TITLE_1_3_1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white">
  <p:cSld name="TITLE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8" name="Google Shape;2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9600" y="4777027"/>
            <a:ext cx="1641801" cy="17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purple">
  <p:cSld name="TITLE_1_3_1_1">
    <p:bg>
      <p:bgPr>
        <a:solidFill>
          <a:srgbClr val="BE9B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>
  <p:cSld name="TITLE_1_3_1_1_1">
    <p:bg>
      <p:bgPr>
        <a:solidFill>
          <a:srgbClr val="FAF5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TITLE_1_3_1_1_1_1_1">
    <p:bg>
      <p:bgPr>
        <a:solidFill>
          <a:srgbClr val="242385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">
  <p:cSld name="TITLE_1_3_1_1_1_1_1_1">
    <p:bg>
      <p:bgPr>
        <a:solidFill>
          <a:srgbClr val="5370E7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>
  <p:cSld name="TITLE_1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7" name="Google Shape;1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38" y="411392"/>
            <a:ext cx="2845117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Yellow">
  <p:cSld name="TITLE_1_2_1">
    <p:bg>
      <p:bgPr>
        <a:solidFill>
          <a:srgbClr val="5370E7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1" name="Google Shape;2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Black">
  <p:cSld name="TITLE_1_2_1_1">
    <p:bg>
      <p:bgPr>
        <a:solidFill>
          <a:srgbClr val="BE9B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5" name="Google Shape;2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light 1">
  <p:cSld name="TITLE_1_1_7">
    <p:bg>
      <p:bgPr>
        <a:solidFill>
          <a:srgbClr val="FAF5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32" name="Google Shape;3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">
  <p:cSld name="TITLE_1_1_6_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3" name="Google Shape;4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dark">
  <p:cSld name="TITLE_1_1_6_1_1">
    <p:bg>
      <p:bgPr>
        <a:solidFill>
          <a:srgbClr val="242385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3500"/>
              <a:buFont typeface="Inter Tight"/>
              <a:buNone/>
              <a:defRPr sz="3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8" name="Google Shape;58;p1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9" name="Google Shape;5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dark">
  <p:cSld name="TITLE_1_1_3_1_1">
    <p:bg>
      <p:bgPr>
        <a:solidFill>
          <a:srgbClr val="24238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8" name="Google Shape;108;p30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10000"/>
              <a:buFont typeface="Inter Tight"/>
              <a:buNone/>
              <a:defRPr sz="10000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9" name="Google Shape;10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2">
  <p:cSld name="TITLE_1_1_6_1">
    <p:bg>
      <p:bgPr>
        <a:solidFill>
          <a:srgbClr val="BE9BFF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8" name="Google Shape;4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2">
  <p:cSld name="TITLE_1_1_6_2_1">
    <p:bg>
      <p:bgPr>
        <a:solidFill>
          <a:srgbClr val="BE9B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None/>
              <a:defRPr sz="1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3" name="Google Shape;53;p1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4" name="Google Shape;5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dark">
  <p:cSld name="TITLE_1_1_6_2_1_1">
    <p:bg>
      <p:bgPr>
        <a:solidFill>
          <a:srgbClr val="242385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ter Tight"/>
              <a:buNone/>
              <a:defRPr sz="3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4" name="Google Shape;64;p1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5" name="Google Shape;6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purple">
  <p:cSld name="TITLE_1_1_5">
    <p:bg>
      <p:bgPr>
        <a:solidFill>
          <a:srgbClr val="BE9B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9" name="Google Shape;6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white">
  <p:cSld name="TITLE_1_1_5_2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3" name="Google Shape;7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dark">
  <p:cSld name="TITLE_1_1_5_1">
    <p:bg>
      <p:bgPr>
        <a:solidFill>
          <a:srgbClr val="24238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7" name="Google Shape;7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blue">
  <p:cSld name="TITLE_1_1_5_1_1">
    <p:bg>
      <p:bgPr>
        <a:solidFill>
          <a:srgbClr val="5370E7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1" name="Google Shape;8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">
  <p:cSld name="TITLE_1_1_4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5" name="Google Shape;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urple">
  <p:cSld name="TITLE_1_1_4_3">
    <p:bg>
      <p:bgPr>
        <a:solidFill>
          <a:srgbClr val="BE9B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9" name="Google Shape;8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lue">
  <p:cSld name="TITLE_1_1_4_2">
    <p:bg>
      <p:bgPr>
        <a:solidFill>
          <a:srgbClr val="5370E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3" name="Google Shape;9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dark">
  <p:cSld name="TITLE_1_1_4_1">
    <p:bg>
      <p:bgPr>
        <a:solidFill>
          <a:srgbClr val="242385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>
            <a:spLocks noGrp="1"/>
          </p:cNvSpPr>
          <p:nvPr>
            <p:ph type="pic" idx="2"/>
          </p:nvPr>
        </p:nvSpPr>
        <p:spPr>
          <a:xfrm>
            <a:off x="459600" y="536700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7" name="Google Shape;9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hite">
  <p:cSld name="TITLE_1_1_3_1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4" name="Google Shape;104;p29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0000"/>
              <a:buFont typeface="Inter Tight"/>
              <a:buNone/>
              <a:defRPr sz="10000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5" name="Google Shape;10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blue">
  <p:cSld name="TITLE_1_1_3_1_1_1">
    <p:bg>
      <p:bgPr>
        <a:solidFill>
          <a:srgbClr val="5370E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2" name="Google Shape;112;p31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0"/>
              <a:buFont typeface="Inter Tight"/>
              <a:buNone/>
              <a:defRPr sz="10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13" name="Google Shape;11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TITLE_1_1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5370E7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6" name="Google Shape;116;p3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17" name="Google Shape;11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purple">
  <p:cSld name="TITLE_1_1_2_1">
    <p:bg>
      <p:bgPr>
        <a:solidFill>
          <a:srgbClr val="BE9B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3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0" name="Google Shape;120;p3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1" name="Google Shape;12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ark">
  <p:cSld name="TITLE_1_1_2_1_1">
    <p:bg>
      <p:bgPr>
        <a:solidFill>
          <a:srgbClr val="24238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4" name="Google Shape;124;p34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BE9B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5" name="Google Shape;12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blue">
  <p:cSld name="TITLE_1_1_2_1_1_1">
    <p:bg>
      <p:bgPr>
        <a:solidFill>
          <a:srgbClr val="5370E7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8" name="Google Shape;128;p35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9" name="Google Shape;12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purple">
  <p:cSld name="TITLE_1_1_1_1">
    <p:bg>
      <p:bgPr>
        <a:solidFill>
          <a:srgbClr val="BE9B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5" name="Google Shape;13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blue">
  <p:cSld name="TITLE_1_1_1_1_1">
    <p:bg>
      <p:bgPr>
        <a:solidFill>
          <a:srgbClr val="5370E7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8" name="Google Shape;138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hite">
  <p:cSld name="Blank whit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01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48" r:id="rId3"/>
    <p:sldLayoutId id="2147483650" r:id="rId4"/>
    <p:sldLayoutId id="2147483651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1" r:id="rId12"/>
    <p:sldLayoutId id="2147483664" r:id="rId13"/>
    <p:sldLayoutId id="2147483676" r:id="rId14"/>
    <p:sldLayoutId id="2147483662" r:id="rId15"/>
    <p:sldLayoutId id="2147483663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3" r:id="rId32"/>
    <p:sldLayoutId id="2147483684" r:id="rId33"/>
    <p:sldLayoutId id="2147483686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"/>
          <p:cNvSpPr txBox="1"/>
          <p:nvPr/>
        </p:nvSpPr>
        <p:spPr>
          <a:xfrm>
            <a:off x="508000" y="584200"/>
            <a:ext cx="5080000" cy="279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 b="1" spc="200">
                <a:solidFill>
                  <a:srgbClr val="FFFFFF"/>
                </a:solidFill>
                <a:latin typeface="Inter Tight"/>
              </a:rPr>
              <a:t>WORKSHOP 4</a:t>
            </a:r>
          </a:p>
        </p:txBody>
      </p:sp>
      <p:sp>
        <p:nvSpPr>
          <p:cNvPr id="201" name="t"/>
          <p:cNvSpPr txBox="1"/>
          <p:nvPr/>
        </p:nvSpPr>
        <p:spPr>
          <a:xfrm>
            <a:off x="482600" y="914400"/>
            <a:ext cx="5842000" cy="1092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6000" b="1">
                <a:solidFill>
                  <a:srgbClr val="FFFFFF"/>
                </a:solidFill>
                <a:latin typeface="Inter Tight"/>
              </a:rPr>
              <a:t>From Trees</a:t>
            </a:r>
          </a:p>
        </p:txBody>
      </p:sp>
      <p:sp>
        <p:nvSpPr>
          <p:cNvPr id="202" name="t"/>
          <p:cNvSpPr txBox="1"/>
          <p:nvPr/>
        </p:nvSpPr>
        <p:spPr>
          <a:xfrm>
            <a:off x="482600" y="1930400"/>
            <a:ext cx="5842000" cy="1092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6000" b="1">
                <a:solidFill>
                  <a:srgbClr val="FFFFFF"/>
                </a:solidFill>
                <a:latin typeface="Inter Tight"/>
              </a:rPr>
              <a:t>to Execution</a:t>
            </a:r>
          </a:p>
        </p:txBody>
      </p:sp>
      <p:sp>
        <p:nvSpPr>
          <p:cNvPr id="203" name="t"/>
          <p:cNvSpPr txBox="1"/>
          <p:nvPr/>
        </p:nvSpPr>
        <p:spPr>
          <a:xfrm>
            <a:off x="508000" y="3276600"/>
            <a:ext cx="5334000" cy="381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latin typeface="Inter Tight"/>
              </a:rPr>
              <a:t>How do we execute it?</a:t>
            </a:r>
          </a:p>
        </p:txBody>
      </p:sp>
      <p:sp>
        <p:nvSpPr>
          <p:cNvPr id="204" name="pl"/>
          <p:cNvSpPr/>
          <p:nvPr/>
        </p:nvSpPr>
        <p:spPr>
          <a:xfrm>
            <a:off x="6604000" y="7366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Source Code</a:t>
            </a:r>
          </a:p>
        </p:txBody>
      </p:sp>
      <p:sp>
        <p:nvSpPr>
          <p:cNvPr id="205" name="ar"/>
          <p:cNvSpPr txBox="1"/>
          <p:nvPr/>
        </p:nvSpPr>
        <p:spPr>
          <a:xfrm>
            <a:off x="6604000" y="10922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06" name="pl"/>
          <p:cNvSpPr/>
          <p:nvPr/>
        </p:nvSpPr>
        <p:spPr>
          <a:xfrm>
            <a:off x="6604000" y="14478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Characters</a:t>
            </a:r>
          </a:p>
        </p:txBody>
      </p:sp>
      <p:sp>
        <p:nvSpPr>
          <p:cNvPr id="207" name="ar"/>
          <p:cNvSpPr txBox="1"/>
          <p:nvPr/>
        </p:nvSpPr>
        <p:spPr>
          <a:xfrm>
            <a:off x="6604000" y="18034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08" name="pl"/>
          <p:cNvSpPr/>
          <p:nvPr/>
        </p:nvSpPr>
        <p:spPr>
          <a:xfrm>
            <a:off x="6604000" y="21590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Tokens</a:t>
            </a:r>
          </a:p>
        </p:txBody>
      </p:sp>
      <p:sp>
        <p:nvSpPr>
          <p:cNvPr id="209" name="ar"/>
          <p:cNvSpPr txBox="1"/>
          <p:nvPr/>
        </p:nvSpPr>
        <p:spPr>
          <a:xfrm>
            <a:off x="6604000" y="25146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0" name="pl"/>
          <p:cNvSpPr/>
          <p:nvPr/>
        </p:nvSpPr>
        <p:spPr>
          <a:xfrm>
            <a:off x="6604000" y="28702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211" name="ar"/>
          <p:cNvSpPr txBox="1"/>
          <p:nvPr/>
        </p:nvSpPr>
        <p:spPr>
          <a:xfrm>
            <a:off x="6604000" y="32258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2" name="pl"/>
          <p:cNvSpPr/>
          <p:nvPr/>
        </p:nvSpPr>
        <p:spPr>
          <a:xfrm>
            <a:off x="6604000" y="35814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AST</a:t>
            </a:r>
          </a:p>
        </p:txBody>
      </p:sp>
      <p:sp>
        <p:nvSpPr>
          <p:cNvPr id="213" name="ar"/>
          <p:cNvSpPr txBox="1"/>
          <p:nvPr/>
        </p:nvSpPr>
        <p:spPr>
          <a:xfrm>
            <a:off x="6604000" y="39370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4" name="pl"/>
          <p:cNvSpPr/>
          <p:nvPr/>
        </p:nvSpPr>
        <p:spPr>
          <a:xfrm>
            <a:off x="6604000" y="4292600"/>
            <a:ext cx="2286000" cy="381000"/>
          </a:xfrm>
          <a:prstGeom prst="roundRect">
            <a:avLst/>
          </a:prstGeom>
          <a:solidFill>
            <a:srgbClr val="FFFFFF"/>
          </a:solidFill>
          <a:ln w="12700"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3B2C8F"/>
                </a:solidFill>
                <a:latin typeface="Consolas"/>
                <a:cs typeface="Consolas"/>
              </a:rPr>
              <a:t>Evaluator</a:t>
            </a:r>
          </a:p>
        </p:txBody>
      </p:sp>
    </p:spTree>
    <p:extLst>
      <p:ext uri="{BB962C8B-B14F-4D97-AF65-F5344CB8AC3E}">
        <p14:creationId xmlns:p14="http://schemas.microsoft.com/office/powerpoint/2010/main" val="3351251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What We Built Last Week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Characters became tokens, tokens became a tree.</a:t>
            </a:r>
          </a:p>
        </p:txBody>
      </p:sp>
      <p:sp>
        <p:nvSpPr>
          <p:cNvPr id="302" name="t"/>
          <p:cNvSpPr txBox="1"/>
          <p:nvPr/>
        </p:nvSpPr>
        <p:spPr>
          <a:xfrm>
            <a:off x="508000" y="1346200"/>
            <a:ext cx="40640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Expression tree from  1 + 2 * 3</a:t>
            </a:r>
          </a:p>
        </p:txBody>
      </p:sp>
      <p:cxnSp>
        <p:nvCxnSpPr>
          <p:cNvPr id="303" name="ln"/>
          <p:cNvCxnSpPr/>
          <p:nvPr/>
        </p:nvCxnSpPr>
        <p:spPr>
          <a:xfrm flipH="1">
            <a:off x="1524000" y="1930400"/>
            <a:ext cx="635000" cy="8128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4" name="ln"/>
          <p:cNvCxnSpPr/>
          <p:nvPr/>
        </p:nvCxnSpPr>
        <p:spPr>
          <a:xfrm>
            <a:off x="2159000" y="1930400"/>
            <a:ext cx="762000" cy="8128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5" name="ln"/>
          <p:cNvCxnSpPr/>
          <p:nvPr/>
        </p:nvCxnSpPr>
        <p:spPr>
          <a:xfrm flipH="1">
            <a:off x="2489200" y="2743200"/>
            <a:ext cx="431800" cy="8001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6" name="ln"/>
          <p:cNvCxnSpPr/>
          <p:nvPr/>
        </p:nvCxnSpPr>
        <p:spPr>
          <a:xfrm>
            <a:off x="2921000" y="2743200"/>
            <a:ext cx="533400" cy="8001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sp>
        <p:nvSpPr>
          <p:cNvPr id="307" name="s"/>
          <p:cNvSpPr/>
          <p:nvPr/>
        </p:nvSpPr>
        <p:spPr>
          <a:xfrm>
            <a:off x="1892300" y="16637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08" name="s"/>
          <p:cNvSpPr/>
          <p:nvPr/>
        </p:nvSpPr>
        <p:spPr>
          <a:xfrm>
            <a:off x="1257300" y="24765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09" name="s"/>
          <p:cNvSpPr/>
          <p:nvPr/>
        </p:nvSpPr>
        <p:spPr>
          <a:xfrm>
            <a:off x="2654300" y="24765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10" name="s"/>
          <p:cNvSpPr/>
          <p:nvPr/>
        </p:nvSpPr>
        <p:spPr>
          <a:xfrm>
            <a:off x="2235200" y="32893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11" name="s"/>
          <p:cNvSpPr/>
          <p:nvPr/>
        </p:nvSpPr>
        <p:spPr>
          <a:xfrm>
            <a:off x="3200400" y="32893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12" name="s"/>
          <p:cNvSpPr/>
          <p:nvPr/>
        </p:nvSpPr>
        <p:spPr>
          <a:xfrm>
            <a:off x="4826000" y="1371600"/>
            <a:ext cx="3962400" cy="26670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3" name="t"/>
          <p:cNvSpPr txBox="1"/>
          <p:nvPr/>
        </p:nvSpPr>
        <p:spPr>
          <a:xfrm>
            <a:off x="5105400" y="1625600"/>
            <a:ext cx="3454400" cy="355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Consolas"/>
                <a:cs typeface="Consolas"/>
              </a:rPr>
              <a:t>Text → AST</a:t>
            </a:r>
          </a:p>
        </p:txBody>
      </p:sp>
      <p:sp>
        <p:nvSpPr>
          <p:cNvPr id="314" name="s"/>
          <p:cNvSpPr/>
          <p:nvPr/>
        </p:nvSpPr>
        <p:spPr>
          <a:xfrm>
            <a:off x="5105400" y="2108200"/>
            <a:ext cx="3403600" cy="25400"/>
          </a:xfrm>
          <a:prstGeom prst="rect">
            <a:avLst/>
          </a:prstGeom>
          <a:solidFill>
            <a:srgbClr val="D9D9F0"/>
          </a:solidFill>
        </p:spPr>
        <p:txBody>
          <a:bodyPr wrap="square" rtlCol="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5" name="t"/>
          <p:cNvSpPr txBox="1"/>
          <p:nvPr/>
        </p:nvSpPr>
        <p:spPr>
          <a:xfrm>
            <a:off x="5105400" y="2260600"/>
            <a:ext cx="34544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THE PIPELINE</a:t>
            </a:r>
          </a:p>
        </p:txBody>
      </p:sp>
      <p:sp>
        <p:nvSpPr>
          <p:cNvPr id="316" name="t"/>
          <p:cNvSpPr txBox="1"/>
          <p:nvPr/>
        </p:nvSpPr>
        <p:spPr>
          <a:xfrm>
            <a:off x="5105400" y="2489200"/>
            <a:ext cx="34544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1A1A2E"/>
                </a:solidFill>
                <a:latin typeface="Consolas"/>
                <a:cs typeface="Consolas"/>
              </a:rPr>
              <a:t>Chars → Tokens</a:t>
            </a:r>
          </a:p>
        </p:txBody>
      </p:sp>
      <p:sp>
        <p:nvSpPr>
          <p:cNvPr id="317" name="t"/>
          <p:cNvSpPr txBox="1"/>
          <p:nvPr/>
        </p:nvSpPr>
        <p:spPr>
          <a:xfrm>
            <a:off x="5105400" y="3048000"/>
            <a:ext cx="34544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THE PAYOFF</a:t>
            </a:r>
          </a:p>
        </p:txBody>
      </p:sp>
      <p:sp>
        <p:nvSpPr>
          <p:cNvPr id="318" name="t"/>
          <p:cNvSpPr txBox="1"/>
          <p:nvPr/>
        </p:nvSpPr>
        <p:spPr>
          <a:xfrm>
            <a:off x="5105400" y="3276600"/>
            <a:ext cx="34544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Parser → AST</a:t>
            </a:r>
          </a:p>
        </p:txBody>
      </p:sp>
    </p:spTree>
    <p:extLst>
      <p:ext uri="{BB962C8B-B14F-4D97-AF65-F5344CB8AC3E}">
        <p14:creationId xmlns:p14="http://schemas.microsoft.com/office/powerpoint/2010/main" val="373590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Homework Solution: Lexer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finished tokenizer — read, classify, emit.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def </a:t>
            </a: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tokenize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(text):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tokens, i = [], 0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    while 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i &lt; len(text):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    c = text[i]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        if 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c.isdigit():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        num, i = read_number(text, i)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        tokens.append(Number(num))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        else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        tokens.append(Symbol(c)); i += 1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    return 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tokens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651000"/>
            <a:ext cx="24892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DESIGN DECISIONS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133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while → scan to end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641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index → track position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149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loop → multi-digit</a:t>
            </a:r>
          </a:p>
        </p:txBody>
      </p:sp>
    </p:spTree>
    <p:extLst>
      <p:ext uri="{BB962C8B-B14F-4D97-AF65-F5344CB8AC3E}">
        <p14:creationId xmlns:p14="http://schemas.microsoft.com/office/powerpoint/2010/main" val="320940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Homework Solution: Parser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Recursive descent — grammar becomes code.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def </a:t>
            </a: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parse_expression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():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node = parse_term()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    while 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peek() in ("+", "-"):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    op = advance()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    node = BinOp(node, op, parse_term())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    return 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node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def </a:t>
            </a: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parse_term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():</a:t>
            </a:r>
            <a:r>
              <a:rPr lang="en-US" sz="1300">
                <a:solidFill>
                  <a:srgbClr val="8A90A6"/>
                </a:solidFill>
                <a:latin typeface="Consolas"/>
                <a:cs typeface="Consolas"/>
              </a:rPr>
              <a:t>     # * and /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def </a:t>
            </a: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parse_factor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():</a:t>
            </a:r>
            <a:r>
              <a:rPr lang="en-US" sz="1300">
                <a:solidFill>
                  <a:srgbClr val="8A90A6"/>
                </a:solidFill>
                <a:latin typeface="Consolas"/>
                <a:cs typeface="Consolas"/>
              </a:rPr>
              <a:t>   # number | (expr)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651000"/>
            <a:ext cx="24892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HOW IT WORKS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159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recursive descent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667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precedence → nesting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175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grammar = code</a:t>
            </a:r>
          </a:p>
        </p:txBody>
      </p:sp>
    </p:spTree>
    <p:extLst>
      <p:ext uri="{BB962C8B-B14F-4D97-AF65-F5344CB8AC3E}">
        <p14:creationId xmlns:p14="http://schemas.microsoft.com/office/powerpoint/2010/main" val="2009616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Project Architecture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project grows every week — two new files today.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TinyLang/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lexer.py 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parser.py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ast_nodes.py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tokens.py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evaluator.py       </a:t>
            </a:r>
            <a:r>
              <a:rPr lang="en-US" sz="1400">
                <a:solidFill>
                  <a:srgbClr val="FFAB40"/>
                </a:solidFill>
                <a:latin typeface="Consolas"/>
                <a:cs typeface="Consolas"/>
              </a:rPr>
              <a:t>★ Today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environment.py     </a:t>
            </a:r>
            <a:r>
              <a:rPr lang="en-US" sz="1400">
                <a:solidFill>
                  <a:srgbClr val="FFAB40"/>
                </a:solidFill>
                <a:latin typeface="Consolas"/>
                <a:cs typeface="Consolas"/>
              </a:rPr>
              <a:t>★ Today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custom_language.py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tests/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LEGEND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✓  shipped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8194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★  today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2893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grows weekly</a:t>
            </a:r>
          </a:p>
        </p:txBody>
      </p:sp>
    </p:spTree>
    <p:extLst>
      <p:ext uri="{BB962C8B-B14F-4D97-AF65-F5344CB8AC3E}">
        <p14:creationId xmlns:p14="http://schemas.microsoft.com/office/powerpoint/2010/main" val="168645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Parser vs Interpreter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Two machines, with one tree between them.</a:t>
            </a:r>
          </a:p>
        </p:txBody>
      </p:sp>
      <p:sp>
        <p:nvSpPr>
          <p:cNvPr id="302" name="s"/>
          <p:cNvSpPr/>
          <p:nvPr/>
        </p:nvSpPr>
        <p:spPr>
          <a:xfrm>
            <a:off x="1397000" y="15240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303" name="t"/>
          <p:cNvSpPr txBox="1"/>
          <p:nvPr/>
        </p:nvSpPr>
        <p:spPr>
          <a:xfrm>
            <a:off x="2286000" y="20828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1397000" y="2438400"/>
            <a:ext cx="2286000" cy="5588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onsolas"/>
                <a:cs typeface="Consolas"/>
              </a:rPr>
              <a:t>AST</a:t>
            </a:r>
          </a:p>
        </p:txBody>
      </p:sp>
      <p:sp>
        <p:nvSpPr>
          <p:cNvPr id="305" name="t"/>
          <p:cNvSpPr txBox="1"/>
          <p:nvPr/>
        </p:nvSpPr>
        <p:spPr>
          <a:xfrm>
            <a:off x="2286000" y="29972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6" name="s"/>
          <p:cNvSpPr/>
          <p:nvPr/>
        </p:nvSpPr>
        <p:spPr>
          <a:xfrm>
            <a:off x="1397000" y="33528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Interpreter</a:t>
            </a:r>
          </a:p>
        </p:txBody>
      </p:sp>
      <p:sp>
        <p:nvSpPr>
          <p:cNvPr id="307" name="s"/>
          <p:cNvSpPr/>
          <p:nvPr/>
        </p:nvSpPr>
        <p:spPr>
          <a:xfrm>
            <a:off x="4826000" y="1524000"/>
            <a:ext cx="3937000" cy="2463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8" name="t"/>
          <p:cNvSpPr txBox="1"/>
          <p:nvPr/>
        </p:nvSpPr>
        <p:spPr>
          <a:xfrm>
            <a:off x="5080000" y="1701800"/>
            <a:ext cx="3429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TWO MACHINES</a:t>
            </a:r>
          </a:p>
        </p:txBody>
      </p:sp>
      <p:sp>
        <p:nvSpPr>
          <p:cNvPr id="309" name="s"/>
          <p:cNvSpPr/>
          <p:nvPr/>
        </p:nvSpPr>
        <p:spPr>
          <a:xfrm>
            <a:off x="5080000" y="20828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1</a:t>
            </a:r>
          </a:p>
        </p:txBody>
      </p:sp>
      <p:sp>
        <p:nvSpPr>
          <p:cNvPr id="310" name="t"/>
          <p:cNvSpPr txBox="1"/>
          <p:nvPr/>
        </p:nvSpPr>
        <p:spPr>
          <a:xfrm>
            <a:off x="5537200" y="21209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Parser: text → tree</a:t>
            </a:r>
          </a:p>
        </p:txBody>
      </p:sp>
      <p:sp>
        <p:nvSpPr>
          <p:cNvPr id="311" name="s"/>
          <p:cNvSpPr/>
          <p:nvPr/>
        </p:nvSpPr>
        <p:spPr>
          <a:xfrm>
            <a:off x="5080000" y="25400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2</a:t>
            </a:r>
          </a:p>
        </p:txBody>
      </p:sp>
      <p:sp>
        <p:nvSpPr>
          <p:cNvPr id="312" name="t"/>
          <p:cNvSpPr txBox="1"/>
          <p:nvPr/>
        </p:nvSpPr>
        <p:spPr>
          <a:xfrm>
            <a:off x="5537200" y="25781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Interpreter: tree → value</a:t>
            </a:r>
          </a:p>
        </p:txBody>
      </p:sp>
      <p:sp>
        <p:nvSpPr>
          <p:cNvPr id="313" name="s"/>
          <p:cNvSpPr/>
          <p:nvPr/>
        </p:nvSpPr>
        <p:spPr>
          <a:xfrm>
            <a:off x="5080000" y="29972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3</a:t>
            </a:r>
          </a:p>
        </p:txBody>
      </p:sp>
      <p:sp>
        <p:nvSpPr>
          <p:cNvPr id="314" name="t"/>
          <p:cNvSpPr txBox="1"/>
          <p:nvPr/>
        </p:nvSpPr>
        <p:spPr>
          <a:xfrm>
            <a:off x="5537200" y="30353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The AST is the handoff</a:t>
            </a:r>
          </a:p>
        </p:txBody>
      </p:sp>
      <p:sp>
        <p:nvSpPr>
          <p:cNvPr id="315" name="s"/>
          <p:cNvSpPr/>
          <p:nvPr/>
        </p:nvSpPr>
        <p:spPr>
          <a:xfrm>
            <a:off x="5080000" y="34544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4</a:t>
            </a:r>
          </a:p>
        </p:txBody>
      </p:sp>
      <p:sp>
        <p:nvSpPr>
          <p:cNvPr id="316" name="t"/>
          <p:cNvSpPr txBox="1"/>
          <p:nvPr/>
        </p:nvSpPr>
        <p:spPr>
          <a:xfrm>
            <a:off x="5537200" y="34925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Output: a single value</a:t>
            </a:r>
          </a:p>
        </p:txBody>
      </p:sp>
    </p:spTree>
    <p:extLst>
      <p:ext uri="{BB962C8B-B14F-4D97-AF65-F5344CB8AC3E}">
        <p14:creationId xmlns:p14="http://schemas.microsoft.com/office/powerpoint/2010/main" val="1820366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The Interpreter Algorithm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One function, called on every node.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def </a:t>
            </a:r>
            <a:r>
              <a:rPr lang="en-US" sz="1400" b="1">
                <a:solidFill>
                  <a:srgbClr val="FFFFFF"/>
                </a:solidFill>
                <a:latin typeface="Consolas"/>
              </a:rPr>
              <a:t>evaluate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(node):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isinstance(node, Number):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node.value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isinstance(node, BinOp):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left  = evaluate(node.left)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right = evaluate(node.right)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apply(node.op, left, right)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TWO CASES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413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base → a leaf node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895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recursive → a branch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3782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recurse, then combine</a:t>
            </a:r>
          </a:p>
        </p:txBody>
      </p:sp>
    </p:spTree>
    <p:extLst>
      <p:ext uri="{BB962C8B-B14F-4D97-AF65-F5344CB8AC3E}">
        <p14:creationId xmlns:p14="http://schemas.microsoft.com/office/powerpoint/2010/main" val="415180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Tree Walking Revisited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Evaluation is just a postorder traversal.</a:t>
            </a:r>
          </a:p>
        </p:txBody>
      </p:sp>
      <p:sp>
        <p:nvSpPr>
          <p:cNvPr id="302" name="t"/>
          <p:cNvSpPr txBox="1"/>
          <p:nvPr/>
        </p:nvSpPr>
        <p:spPr>
          <a:xfrm>
            <a:off x="508000" y="1346200"/>
            <a:ext cx="40640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Walking 1 + 2 * 3</a:t>
            </a:r>
          </a:p>
        </p:txBody>
      </p:sp>
      <p:cxnSp>
        <p:nvCxnSpPr>
          <p:cNvPr id="303" name="ln"/>
          <p:cNvCxnSpPr/>
          <p:nvPr/>
        </p:nvCxnSpPr>
        <p:spPr>
          <a:xfrm flipH="1">
            <a:off x="1524000" y="1930400"/>
            <a:ext cx="635000" cy="8128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4" name="ln"/>
          <p:cNvCxnSpPr/>
          <p:nvPr/>
        </p:nvCxnSpPr>
        <p:spPr>
          <a:xfrm>
            <a:off x="2159000" y="1930400"/>
            <a:ext cx="762000" cy="8128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5" name="ln"/>
          <p:cNvCxnSpPr/>
          <p:nvPr/>
        </p:nvCxnSpPr>
        <p:spPr>
          <a:xfrm flipH="1">
            <a:off x="2489200" y="2743200"/>
            <a:ext cx="431800" cy="8001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cxnSp>
        <p:nvCxnSpPr>
          <p:cNvPr id="306" name="ln"/>
          <p:cNvCxnSpPr/>
          <p:nvPr/>
        </p:nvCxnSpPr>
        <p:spPr>
          <a:xfrm>
            <a:off x="2921000" y="2743200"/>
            <a:ext cx="533400" cy="800100"/>
          </a:xfrm>
          <a:prstGeom prst="line">
            <a:avLst/>
          </a:prstGeom>
          <a:ln w="19050">
            <a:solidFill>
              <a:srgbClr val="5B5BD6"/>
            </a:solidFill>
          </a:ln>
        </p:spPr>
      </p:cxnSp>
      <p:sp>
        <p:nvSpPr>
          <p:cNvPr id="307" name="s"/>
          <p:cNvSpPr/>
          <p:nvPr/>
        </p:nvSpPr>
        <p:spPr>
          <a:xfrm>
            <a:off x="1892300" y="16637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308" name="s"/>
          <p:cNvSpPr/>
          <p:nvPr/>
        </p:nvSpPr>
        <p:spPr>
          <a:xfrm>
            <a:off x="1257300" y="24765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09" name="s"/>
          <p:cNvSpPr/>
          <p:nvPr/>
        </p:nvSpPr>
        <p:spPr>
          <a:xfrm>
            <a:off x="2654300" y="2476500"/>
            <a:ext cx="533400" cy="5334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*</a:t>
            </a:r>
          </a:p>
        </p:txBody>
      </p:sp>
      <p:sp>
        <p:nvSpPr>
          <p:cNvPr id="310" name="s"/>
          <p:cNvSpPr/>
          <p:nvPr/>
        </p:nvSpPr>
        <p:spPr>
          <a:xfrm>
            <a:off x="2235200" y="32893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11" name="s"/>
          <p:cNvSpPr/>
          <p:nvPr/>
        </p:nvSpPr>
        <p:spPr>
          <a:xfrm>
            <a:off x="3200400" y="3289300"/>
            <a:ext cx="508000" cy="5080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12" name="s"/>
          <p:cNvSpPr/>
          <p:nvPr/>
        </p:nvSpPr>
        <p:spPr>
          <a:xfrm>
            <a:off x="4826000" y="1371600"/>
            <a:ext cx="3962400" cy="26670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3" name="t"/>
          <p:cNvSpPr txBox="1"/>
          <p:nvPr/>
        </p:nvSpPr>
        <p:spPr>
          <a:xfrm>
            <a:off x="5105400" y="1625600"/>
            <a:ext cx="3454400" cy="355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Consolas"/>
                <a:cs typeface="Consolas"/>
              </a:rPr>
              <a:t>POSTORDER</a:t>
            </a:r>
          </a:p>
        </p:txBody>
      </p:sp>
      <p:sp>
        <p:nvSpPr>
          <p:cNvPr id="314" name="s"/>
          <p:cNvSpPr/>
          <p:nvPr/>
        </p:nvSpPr>
        <p:spPr>
          <a:xfrm>
            <a:off x="5105400" y="2108200"/>
            <a:ext cx="3403600" cy="25400"/>
          </a:xfrm>
          <a:prstGeom prst="rect">
            <a:avLst/>
          </a:prstGeom>
          <a:solidFill>
            <a:srgbClr val="D9D9F0"/>
          </a:solidFill>
        </p:spPr>
        <p:txBody>
          <a:bodyPr wrap="square" rtlCol="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5" name="t"/>
          <p:cNvSpPr txBox="1"/>
          <p:nvPr/>
        </p:nvSpPr>
        <p:spPr>
          <a:xfrm>
            <a:off x="5105400" y="2260600"/>
            <a:ext cx="34544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STEP 1</a:t>
            </a:r>
          </a:p>
        </p:txBody>
      </p:sp>
      <p:sp>
        <p:nvSpPr>
          <p:cNvPr id="316" name="t"/>
          <p:cNvSpPr txBox="1"/>
          <p:nvPr/>
        </p:nvSpPr>
        <p:spPr>
          <a:xfrm>
            <a:off x="5105400" y="2489200"/>
            <a:ext cx="34544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1A1A2E"/>
                </a:solidFill>
                <a:latin typeface="Consolas"/>
                <a:cs typeface="Consolas"/>
              </a:rPr>
              <a:t>Evaluate the children</a:t>
            </a:r>
          </a:p>
        </p:txBody>
      </p:sp>
      <p:sp>
        <p:nvSpPr>
          <p:cNvPr id="317" name="t"/>
          <p:cNvSpPr txBox="1"/>
          <p:nvPr/>
        </p:nvSpPr>
        <p:spPr>
          <a:xfrm>
            <a:off x="5105400" y="3048000"/>
            <a:ext cx="34544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STEP 2</a:t>
            </a:r>
          </a:p>
        </p:txBody>
      </p:sp>
      <p:sp>
        <p:nvSpPr>
          <p:cNvPr id="318" name="t"/>
          <p:cNvSpPr txBox="1"/>
          <p:nvPr/>
        </p:nvSpPr>
        <p:spPr>
          <a:xfrm>
            <a:off x="5105400" y="3276600"/>
            <a:ext cx="3454400" cy="330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Combine at the parent</a:t>
            </a:r>
          </a:p>
        </p:txBody>
      </p:sp>
    </p:spTree>
    <p:extLst>
      <p:ext uri="{BB962C8B-B14F-4D97-AF65-F5344CB8AC3E}">
        <p14:creationId xmlns:p14="http://schemas.microsoft.com/office/powerpoint/2010/main" val="371016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Tracing One Evaluation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Walk the call stack for 1 + 2 * 3.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evaluate(+)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evaluate(1)</a:t>
            </a:r>
            <a:r>
              <a:rPr lang="en-US" sz="1400">
                <a:solidFill>
                  <a:srgbClr val="8A90A6"/>
                </a:solidFill>
                <a:latin typeface="Consolas"/>
              </a:rPr>
              <a:t>        → 1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evaluate(*)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evaluate(2)</a:t>
            </a:r>
            <a:r>
              <a:rPr lang="en-US" sz="1400">
                <a:solidFill>
                  <a:srgbClr val="8A90A6"/>
                </a:solidFill>
                <a:latin typeface="Consolas"/>
              </a:rPr>
              <a:t>      → 2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evaluate(3)</a:t>
            </a:r>
            <a:r>
              <a:rPr lang="en-US" sz="1400">
                <a:solidFill>
                  <a:srgbClr val="8A90A6"/>
                </a:solidFill>
                <a:latin typeface="Consolas"/>
              </a:rPr>
              <a:t>      → 3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*  2 * 3</a:t>
            </a:r>
            <a:r>
              <a:rPr lang="en-US" sz="1400">
                <a:solidFill>
                  <a:srgbClr val="8A90A6"/>
                </a:solidFill>
                <a:latin typeface="Consolas"/>
              </a:rPr>
              <a:t>       → 6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+  1 + 6</a:t>
            </a:r>
            <a:r>
              <a:rPr lang="en-US" sz="1400">
                <a:solidFill>
                  <a:srgbClr val="8A90A6"/>
                </a:solidFill>
                <a:latin typeface="Consolas"/>
              </a:rPr>
              <a:t>         → </a:t>
            </a:r>
            <a:r>
              <a:rPr lang="en-US" sz="1400" b="1">
                <a:solidFill>
                  <a:srgbClr val="A9A4F5"/>
                </a:solidFill>
                <a:latin typeface="Consolas"/>
              </a:rPr>
              <a:t>7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RESULT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413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1 + 2 * 3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895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 7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3782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leaves return first</a:t>
            </a:r>
          </a:p>
        </p:txBody>
      </p:sp>
    </p:spTree>
    <p:extLst>
      <p:ext uri="{BB962C8B-B14F-4D97-AF65-F5344CB8AC3E}">
        <p14:creationId xmlns:p14="http://schemas.microsoft.com/office/powerpoint/2010/main" val="515195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Live Demo: Implement evaluate()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Fill in evaluator.py, then run it.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def </a:t>
            </a:r>
            <a:r>
              <a:rPr lang="en-US" sz="1400" b="1">
                <a:solidFill>
                  <a:srgbClr val="FFFFFF"/>
                </a:solidFill>
                <a:latin typeface="Consolas"/>
              </a:rPr>
              <a:t>evaluate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(node):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isinstance(node, Number):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node.value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isinstance(node, BinaryOp):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a = evaluate(node.left)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b = evaluate(node.right)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op == "+": </a:t>
            </a:r>
            <a:r>
              <a:rPr lang="en-US" sz="1400" b="1">
                <a:solidFill>
                  <a:srgbClr val="A9A4F5"/>
                </a:solidFill>
                <a:latin typeface="Consolas"/>
              </a:rPr>
              <a:t>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a + b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if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op == "*": </a:t>
            </a:r>
            <a:r>
              <a:rPr lang="en-US" sz="1400" b="1">
                <a:solidFill>
                  <a:srgbClr val="A9A4F5"/>
                </a:solidFill>
                <a:latin typeface="Consolas"/>
              </a:rPr>
              <a:t>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a * b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254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RUN IT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413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evaluate(ast)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8956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 7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3782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it works!</a:t>
            </a:r>
          </a:p>
        </p:txBody>
      </p:sp>
    </p:spTree>
    <p:extLst>
      <p:ext uri="{BB962C8B-B14F-4D97-AF65-F5344CB8AC3E}">
        <p14:creationId xmlns:p14="http://schemas.microsoft.com/office/powerpoint/2010/main" val="662983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Meet CustomLanguage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One class that ties everything together.</a:t>
            </a:r>
          </a:p>
        </p:txBody>
      </p:sp>
      <p:sp>
        <p:nvSpPr>
          <p:cNvPr id="302" name="s"/>
          <p:cNvSpPr/>
          <p:nvPr/>
        </p:nvSpPr>
        <p:spPr>
          <a:xfrm>
            <a:off x="1397000" y="15240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parse()</a:t>
            </a:r>
          </a:p>
        </p:txBody>
      </p:sp>
      <p:sp>
        <p:nvSpPr>
          <p:cNvPr id="303" name="t"/>
          <p:cNvSpPr txBox="1"/>
          <p:nvPr/>
        </p:nvSpPr>
        <p:spPr>
          <a:xfrm>
            <a:off x="2286000" y="20828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1397000" y="2438400"/>
            <a:ext cx="2286000" cy="558800"/>
          </a:xfrm>
          <a:prstGeom prst="roundRect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Consolas"/>
                <a:cs typeface="Consolas"/>
              </a:rPr>
              <a:t>evaluate()</a:t>
            </a:r>
          </a:p>
        </p:txBody>
      </p:sp>
      <p:sp>
        <p:nvSpPr>
          <p:cNvPr id="305" name="t"/>
          <p:cNvSpPr txBox="1"/>
          <p:nvPr/>
        </p:nvSpPr>
        <p:spPr>
          <a:xfrm>
            <a:off x="2286000" y="2997200"/>
            <a:ext cx="5080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6" name="s"/>
          <p:cNvSpPr/>
          <p:nvPr/>
        </p:nvSpPr>
        <p:spPr>
          <a:xfrm>
            <a:off x="1397000" y="3352800"/>
            <a:ext cx="2286000" cy="558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run()</a:t>
            </a:r>
          </a:p>
        </p:txBody>
      </p:sp>
      <p:sp>
        <p:nvSpPr>
          <p:cNvPr id="307" name="s"/>
          <p:cNvSpPr/>
          <p:nvPr/>
        </p:nvSpPr>
        <p:spPr>
          <a:xfrm>
            <a:off x="4826000" y="1524000"/>
            <a:ext cx="3937000" cy="24638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8" name="t"/>
          <p:cNvSpPr txBox="1"/>
          <p:nvPr/>
        </p:nvSpPr>
        <p:spPr>
          <a:xfrm>
            <a:off x="5080000" y="1701800"/>
            <a:ext cx="34290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CustomLanguage</a:t>
            </a:r>
          </a:p>
        </p:txBody>
      </p:sp>
      <p:sp>
        <p:nvSpPr>
          <p:cNvPr id="309" name="s"/>
          <p:cNvSpPr/>
          <p:nvPr/>
        </p:nvSpPr>
        <p:spPr>
          <a:xfrm>
            <a:off x="5080000" y="20828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1</a:t>
            </a:r>
          </a:p>
        </p:txBody>
      </p:sp>
      <p:sp>
        <p:nvSpPr>
          <p:cNvPr id="310" name="t"/>
          <p:cNvSpPr txBox="1"/>
          <p:nvPr/>
        </p:nvSpPr>
        <p:spPr>
          <a:xfrm>
            <a:off x="5537200" y="21209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parse() → build the AST</a:t>
            </a:r>
          </a:p>
        </p:txBody>
      </p:sp>
      <p:sp>
        <p:nvSpPr>
          <p:cNvPr id="311" name="s"/>
          <p:cNvSpPr/>
          <p:nvPr/>
        </p:nvSpPr>
        <p:spPr>
          <a:xfrm>
            <a:off x="5080000" y="25400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2</a:t>
            </a:r>
          </a:p>
        </p:txBody>
      </p:sp>
      <p:sp>
        <p:nvSpPr>
          <p:cNvPr id="312" name="t"/>
          <p:cNvSpPr txBox="1"/>
          <p:nvPr/>
        </p:nvSpPr>
        <p:spPr>
          <a:xfrm>
            <a:off x="5537200" y="25781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evaluate() → get a value</a:t>
            </a:r>
          </a:p>
        </p:txBody>
      </p:sp>
      <p:sp>
        <p:nvSpPr>
          <p:cNvPr id="313" name="s"/>
          <p:cNvSpPr/>
          <p:nvPr/>
        </p:nvSpPr>
        <p:spPr>
          <a:xfrm>
            <a:off x="5080000" y="29972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3</a:t>
            </a:r>
          </a:p>
        </p:txBody>
      </p:sp>
      <p:sp>
        <p:nvSpPr>
          <p:cNvPr id="314" name="t"/>
          <p:cNvSpPr txBox="1"/>
          <p:nvPr/>
        </p:nvSpPr>
        <p:spPr>
          <a:xfrm>
            <a:off x="5537200" y="30353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run() → do both at once</a:t>
            </a:r>
          </a:p>
        </p:txBody>
      </p:sp>
      <p:sp>
        <p:nvSpPr>
          <p:cNvPr id="315" name="s"/>
          <p:cNvSpPr/>
          <p:nvPr/>
        </p:nvSpPr>
        <p:spPr>
          <a:xfrm>
            <a:off x="5080000" y="3454400"/>
            <a:ext cx="330200" cy="330200"/>
          </a:xfrm>
          <a:prstGeom prst="ellipse">
            <a:avLst/>
          </a:prstGeom>
          <a:solidFill>
            <a:srgbClr val="5B5BD6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Inter Tight"/>
                <a:cs typeface="Inter Tight"/>
              </a:rPr>
              <a:t>4</a:t>
            </a:r>
          </a:p>
        </p:txBody>
      </p:sp>
      <p:sp>
        <p:nvSpPr>
          <p:cNvPr id="316" name="t"/>
          <p:cNvSpPr txBox="1"/>
          <p:nvPr/>
        </p:nvSpPr>
        <p:spPr>
          <a:xfrm>
            <a:off x="5537200" y="3492500"/>
            <a:ext cx="29972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repl() → interactive loop</a:t>
            </a:r>
          </a:p>
        </p:txBody>
      </p:sp>
    </p:spTree>
    <p:extLst>
      <p:ext uri="{BB962C8B-B14F-4D97-AF65-F5344CB8AC3E}">
        <p14:creationId xmlns:p14="http://schemas.microsoft.com/office/powerpoint/2010/main" val="1310822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The REPL Loop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Read, Evaluate, Print — then do it again.</a:t>
            </a:r>
          </a:p>
        </p:txBody>
      </p:sp>
      <p:sp>
        <p:nvSpPr>
          <p:cNvPr id="302" name="s"/>
          <p:cNvSpPr/>
          <p:nvPr/>
        </p:nvSpPr>
        <p:spPr>
          <a:xfrm>
            <a:off x="3683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Read</a:t>
            </a:r>
          </a:p>
        </p:txBody>
      </p:sp>
      <p:sp>
        <p:nvSpPr>
          <p:cNvPr id="303" name="t"/>
          <p:cNvSpPr txBox="1"/>
          <p:nvPr/>
        </p:nvSpPr>
        <p:spPr>
          <a:xfrm>
            <a:off x="18669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4" name="s"/>
          <p:cNvSpPr/>
          <p:nvPr/>
        </p:nvSpPr>
        <p:spPr>
          <a:xfrm>
            <a:off x="20955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Parse</a:t>
            </a:r>
          </a:p>
        </p:txBody>
      </p:sp>
      <p:sp>
        <p:nvSpPr>
          <p:cNvPr id="305" name="t"/>
          <p:cNvSpPr txBox="1"/>
          <p:nvPr/>
        </p:nvSpPr>
        <p:spPr>
          <a:xfrm>
            <a:off x="35941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6" name="s"/>
          <p:cNvSpPr/>
          <p:nvPr/>
        </p:nvSpPr>
        <p:spPr>
          <a:xfrm>
            <a:off x="3822700" y="1879600"/>
            <a:ext cx="1498600" cy="7366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Evaluate</a:t>
            </a:r>
          </a:p>
        </p:txBody>
      </p:sp>
      <p:sp>
        <p:nvSpPr>
          <p:cNvPr id="307" name="t"/>
          <p:cNvSpPr txBox="1"/>
          <p:nvPr/>
        </p:nvSpPr>
        <p:spPr>
          <a:xfrm>
            <a:off x="53213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8" name="s"/>
          <p:cNvSpPr/>
          <p:nvPr/>
        </p:nvSpPr>
        <p:spPr>
          <a:xfrm>
            <a:off x="55499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Print</a:t>
            </a:r>
          </a:p>
        </p:txBody>
      </p:sp>
      <p:sp>
        <p:nvSpPr>
          <p:cNvPr id="309" name="t"/>
          <p:cNvSpPr txBox="1"/>
          <p:nvPr/>
        </p:nvSpPr>
        <p:spPr>
          <a:xfrm>
            <a:off x="70485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10" name="s"/>
          <p:cNvSpPr/>
          <p:nvPr/>
        </p:nvSpPr>
        <p:spPr>
          <a:xfrm>
            <a:off x="7277100" y="1879600"/>
            <a:ext cx="1498600" cy="7366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Repeat</a:t>
            </a:r>
          </a:p>
        </p:txBody>
      </p:sp>
      <p:sp>
        <p:nvSpPr>
          <p:cNvPr id="311" name="s"/>
          <p:cNvSpPr/>
          <p:nvPr/>
        </p:nvSpPr>
        <p:spPr>
          <a:xfrm>
            <a:off x="1143000" y="3098800"/>
            <a:ext cx="6858000" cy="1092200"/>
          </a:xfrm>
          <a:prstGeom prst="round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Inter Tight"/>
                <a:cs typeface="Inter Tight"/>
              </a:rPr>
              <a:t>REPL — the loop behind every interactive shell.</a:t>
            </a:r>
          </a:p>
        </p:txBody>
      </p:sp>
    </p:spTree>
    <p:extLst>
      <p:ext uri="{BB962C8B-B14F-4D97-AF65-F5344CB8AC3E}">
        <p14:creationId xmlns:p14="http://schemas.microsoft.com/office/powerpoint/2010/main" val="3490647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Live Demo: Connect Everything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CustomLanguage.eval() wires the stages together.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class </a:t>
            </a:r>
            <a:r>
              <a:rPr lang="en-US" sz="1400" b="1">
                <a:solidFill>
                  <a:srgbClr val="FFFFFF"/>
                </a:solidFill>
                <a:latin typeface="Consolas"/>
              </a:rPr>
              <a:t>CustomLanguage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def </a:t>
            </a:r>
            <a:r>
              <a:rPr lang="en-US" sz="1400" b="1">
                <a:solidFill>
                  <a:srgbClr val="FFFFFF"/>
                </a:solidFill>
                <a:latin typeface="Consolas"/>
              </a:rPr>
              <a:t>eval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(self, source):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tokens = tokenize(source)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</a:rPr>
              <a:t>        ast    = Parser(tokens).parse()</a:t>
            </a:r>
          </a:p>
          <a:p>
            <a:pPr algn="l">
              <a:buNone/>
            </a:pPr>
            <a:r>
              <a:rPr lang="en-US" sz="1400" b="1">
                <a:solidFill>
                  <a:srgbClr val="A9A4F5"/>
                </a:solidFill>
                <a:latin typeface="Consolas"/>
              </a:rPr>
              <a:t>        return </a:t>
            </a:r>
            <a:r>
              <a:rPr lang="en-US" sz="1400">
                <a:solidFill>
                  <a:srgbClr val="FFFFFF"/>
                </a:solidFill>
                <a:latin typeface="Consolas"/>
              </a:rPr>
              <a:t>evaluate(ast)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PIPELINE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Lexer → tokens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Parser → AST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Evaluator → value</a:t>
            </a:r>
          </a:p>
        </p:txBody>
      </p:sp>
    </p:spTree>
    <p:extLst>
      <p:ext uri="{BB962C8B-B14F-4D97-AF65-F5344CB8AC3E}">
        <p14:creationId xmlns:p14="http://schemas.microsoft.com/office/powerpoint/2010/main" val="866907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Running Programs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Type an expression, get a value back.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</a:rPr>
              <a:t>1 + 2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</a:rPr>
              <a:t>3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</a:rPr>
              <a:t>2 * 5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</a:rPr>
              <a:t>10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</a:rPr>
              <a:t>(3 + 4) * 2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</a:rPr>
              <a:t>14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IT RUNS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a real language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math works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try your own</a:t>
            </a:r>
          </a:p>
        </p:txBody>
      </p:sp>
    </p:spTree>
    <p:extLst>
      <p:ext uri="{BB962C8B-B14F-4D97-AF65-F5344CB8AC3E}">
        <p14:creationId xmlns:p14="http://schemas.microsoft.com/office/powerpoint/2010/main" val="269825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Testing the Interpreter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Run python -m unittest to check every case.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</a:rPr>
              <a:t>import </a:t>
            </a:r>
            <a:r>
              <a:rPr lang="en-US" sz="1300">
                <a:solidFill>
                  <a:srgbClr val="FFFFFF"/>
                </a:solidFill>
                <a:latin typeface="Consolas"/>
              </a:rPr>
              <a:t>unittest</a:t>
            </a:r>
          </a:p>
          <a:p>
            <a:pPr algn="l">
              <a:buNone/>
            </a:pPr>
            <a:endParaRPr lang="en-US" sz="1300"/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</a:rPr>
              <a:t>class </a:t>
            </a:r>
            <a:r>
              <a:rPr lang="en-US" sz="1300" b="1">
                <a:solidFill>
                  <a:srgbClr val="FFFFFF"/>
                </a:solidFill>
                <a:latin typeface="Consolas"/>
              </a:rPr>
              <a:t>TestEval</a:t>
            </a:r>
            <a:r>
              <a:rPr lang="en-US" sz="1300">
                <a:solidFill>
                  <a:srgbClr val="FFFFFF"/>
                </a:solidFill>
                <a:latin typeface="Consolas"/>
              </a:rPr>
              <a:t>(TestCase):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</a:rPr>
              <a:t>    def </a:t>
            </a:r>
            <a:r>
              <a:rPr lang="en-US" sz="1300" b="1">
                <a:solidFill>
                  <a:srgbClr val="FFFFFF"/>
                </a:solidFill>
                <a:latin typeface="Consolas"/>
              </a:rPr>
              <a:t>test_add</a:t>
            </a:r>
            <a:r>
              <a:rPr lang="en-US" sz="1300">
                <a:solidFill>
                  <a:srgbClr val="FFFFFF"/>
                </a:solidFill>
                <a:latin typeface="Consolas"/>
              </a:rPr>
              <a:t>(self):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</a:rPr>
              <a:t>        assertEqual(run("1+2"), 3)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</a:rPr>
              <a:t>    def </a:t>
            </a:r>
            <a:r>
              <a:rPr lang="en-US" sz="1300" b="1">
                <a:solidFill>
                  <a:srgbClr val="FFFFFF"/>
                </a:solidFill>
                <a:latin typeface="Consolas"/>
              </a:rPr>
              <a:t>test_prec</a:t>
            </a:r>
            <a:r>
              <a:rPr lang="en-US" sz="1300">
                <a:solidFill>
                  <a:srgbClr val="FFFFFF"/>
                </a:solidFill>
                <a:latin typeface="Consolas"/>
              </a:rPr>
              <a:t>(self):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</a:rPr>
              <a:t>        assertEqual(run("1+2*3"), 7)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</a:rPr>
              <a:t>    def </a:t>
            </a:r>
            <a:r>
              <a:rPr lang="en-US" sz="1300" b="1">
                <a:solidFill>
                  <a:srgbClr val="FFFFFF"/>
                </a:solidFill>
                <a:latin typeface="Consolas"/>
              </a:rPr>
              <a:t>test_paren</a:t>
            </a:r>
            <a:r>
              <a:rPr lang="en-US" sz="1300">
                <a:solidFill>
                  <a:srgbClr val="FFFFFF"/>
                </a:solidFill>
                <a:latin typeface="Consolas"/>
              </a:rPr>
              <a:t>(self):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</a:rPr>
              <a:t>        assertEqual(run("(3+4)*2"), 14)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WHY TEST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catch breaks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trust edits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run anytime</a:t>
            </a:r>
          </a:p>
        </p:txBody>
      </p:sp>
    </p:spTree>
    <p:extLst>
      <p:ext uri="{BB962C8B-B14F-4D97-AF65-F5344CB8AC3E}">
        <p14:creationId xmlns:p14="http://schemas.microsoft.com/office/powerpoint/2010/main" val="1145426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Limitations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Our language can compute — but it can't remember.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</a:rPr>
              <a:t>1 + 2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</a:rPr>
              <a:t>3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</a:rPr>
              <a:t>x + 1</a:t>
            </a:r>
          </a:p>
          <a:p>
            <a:pPr algn="l">
              <a:buNone/>
            </a:pPr>
            <a:endParaRPr lang="en-US" sz="1600"/>
          </a:p>
          <a:p>
            <a:pPr algn="l">
              <a:buNone/>
            </a:pPr>
            <a:r>
              <a:rPr lang="en-US" sz="1600" b="1">
                <a:solidFill>
                  <a:srgbClr val="FF6B6B"/>
                </a:solidFill>
                <a:latin typeface="Consolas"/>
              </a:rPr>
              <a:t>NameError:</a:t>
            </a:r>
          </a:p>
          <a:p>
            <a:pPr algn="l">
              <a:buNone/>
            </a:pPr>
            <a:r>
              <a:rPr lang="en-US" sz="1600" b="1">
                <a:solidFill>
                  <a:srgbClr val="FF6B6B"/>
                </a:solidFill>
                <a:latin typeface="Consolas"/>
              </a:rPr>
              <a:t>'x' is not defined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WHY?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no value for x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never stored it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need memory</a:t>
            </a:r>
          </a:p>
        </p:txBody>
      </p:sp>
    </p:spTree>
    <p:extLst>
      <p:ext uri="{BB962C8B-B14F-4D97-AF65-F5344CB8AC3E}">
        <p14:creationId xmlns:p14="http://schemas.microsoft.com/office/powerpoint/2010/main" val="2724202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The Problem: Programs Forget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Every expression is computed — then immediately lost.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  <a:cs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2 + 3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  <a:cs typeface="Consolas"/>
              </a:rPr>
              <a:t>5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  <a:cs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4 + 8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  <a:cs typeface="Consolas"/>
              </a:rPr>
              <a:t>12</a:t>
            </a:r>
          </a:p>
          <a:p>
            <a:pPr algn="l"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600">
                <a:solidFill>
                  <a:srgbClr val="8A90A6"/>
                </a:solidFill>
                <a:latin typeface="Consolas"/>
                <a:cs typeface="Consolas"/>
              </a:rPr>
              <a:t># where did the 5 go?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NO MEMORY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expression in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value out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nothing kept</a:t>
            </a:r>
          </a:p>
        </p:txBody>
      </p:sp>
    </p:spTree>
    <p:extLst>
      <p:ext uri="{BB962C8B-B14F-4D97-AF65-F5344CB8AC3E}">
        <p14:creationId xmlns:p14="http://schemas.microsoft.com/office/powerpoint/2010/main" val="3086810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"/>
          <p:cNvSpPr txBox="1"/>
          <p:nvPr/>
        </p:nvSpPr>
        <p:spPr>
          <a:xfrm>
            <a:off x="457200" y="539531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242385"/>
                </a:solidFill>
                <a:latin typeface="Inter Tight"/>
                <a:cs typeface="Inter Tight"/>
              </a:rPr>
              <a:t>Variables Give Programs Memory</a:t>
            </a:r>
          </a:p>
        </p:txBody>
      </p:sp>
      <p:sp>
        <p:nvSpPr>
          <p:cNvPr id="302" name="t"/>
          <p:cNvSpPr txBox="1"/>
          <p:nvPr/>
        </p:nvSpPr>
        <p:spPr>
          <a:xfrm>
            <a:off x="457200" y="1574800"/>
            <a:ext cx="82296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600" b="1">
                <a:solidFill>
                  <a:srgbClr val="242385"/>
                </a:solidFill>
                <a:latin typeface="Consolas"/>
                <a:cs typeface="Consolas"/>
              </a:rPr>
              <a:t>x = 5</a:t>
            </a:r>
          </a:p>
        </p:txBody>
      </p:sp>
      <p:sp>
        <p:nvSpPr>
          <p:cNvPr id="303" name="t"/>
          <p:cNvSpPr txBox="1"/>
          <p:nvPr/>
        </p:nvSpPr>
        <p:spPr>
          <a:xfrm>
            <a:off x="4267200" y="2438400"/>
            <a:ext cx="6096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25654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x</a:t>
            </a:r>
          </a:p>
        </p:txBody>
      </p:sp>
      <p:sp>
        <p:nvSpPr>
          <p:cNvPr id="305" name="s"/>
          <p:cNvSpPr/>
          <p:nvPr/>
        </p:nvSpPr>
        <p:spPr>
          <a:xfrm>
            <a:off x="4114800" y="2921000"/>
            <a:ext cx="9144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↦</a:t>
            </a:r>
          </a:p>
        </p:txBody>
      </p:sp>
      <p:sp>
        <p:nvSpPr>
          <p:cNvPr id="306" name="s"/>
          <p:cNvSpPr/>
          <p:nvPr/>
        </p:nvSpPr>
        <p:spPr>
          <a:xfrm>
            <a:off x="51816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307" name="s"/>
          <p:cNvSpPr/>
          <p:nvPr/>
        </p:nvSpPr>
        <p:spPr>
          <a:xfrm>
            <a:off x="2032000" y="3810000"/>
            <a:ext cx="5080000" cy="482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1A1A2E"/>
                </a:solidFill>
                <a:latin typeface="Inter Tight"/>
                <a:cs typeface="Inter Tight"/>
              </a:rPr>
              <a:t>A variable is a label on a storage box — so where does 5 live?</a:t>
            </a:r>
          </a:p>
        </p:txBody>
      </p:sp>
    </p:spTree>
    <p:extLst>
      <p:ext uri="{BB962C8B-B14F-4D97-AF65-F5344CB8AC3E}">
        <p14:creationId xmlns:p14="http://schemas.microsoft.com/office/powerpoint/2010/main" val="3931821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"/>
          <p:cNvSpPr txBox="1"/>
          <p:nvPr/>
        </p:nvSpPr>
        <p:spPr>
          <a:xfrm>
            <a:off x="457200" y="539531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242385"/>
                </a:solidFill>
                <a:latin typeface="Inter Tight"/>
                <a:cs typeface="Inter Tight"/>
              </a:rPr>
              <a:t>Names vs Values</a:t>
            </a:r>
          </a:p>
        </p:txBody>
      </p:sp>
      <p:sp>
        <p:nvSpPr>
          <p:cNvPr id="302" name="t"/>
          <p:cNvSpPr txBox="1"/>
          <p:nvPr/>
        </p:nvSpPr>
        <p:spPr>
          <a:xfrm>
            <a:off x="457200" y="1574800"/>
            <a:ext cx="82296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600" b="1">
                <a:solidFill>
                  <a:srgbClr val="242385"/>
                </a:solidFill>
                <a:latin typeface="Consolas"/>
                <a:cs typeface="Consolas"/>
              </a:rPr>
              <a:t>x = 5,   y = x</a:t>
            </a:r>
          </a:p>
        </p:txBody>
      </p:sp>
      <p:sp>
        <p:nvSpPr>
          <p:cNvPr id="303" name="t"/>
          <p:cNvSpPr txBox="1"/>
          <p:nvPr/>
        </p:nvSpPr>
        <p:spPr>
          <a:xfrm>
            <a:off x="4267200" y="2438400"/>
            <a:ext cx="6096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25654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x → 5</a:t>
            </a:r>
          </a:p>
        </p:txBody>
      </p:sp>
      <p:sp>
        <p:nvSpPr>
          <p:cNvPr id="305" name="s"/>
          <p:cNvSpPr/>
          <p:nvPr/>
        </p:nvSpPr>
        <p:spPr>
          <a:xfrm>
            <a:off x="4114800" y="2921000"/>
            <a:ext cx="9144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&amp;</a:t>
            </a:r>
          </a:p>
        </p:txBody>
      </p:sp>
      <p:sp>
        <p:nvSpPr>
          <p:cNvPr id="306" name="s"/>
          <p:cNvSpPr/>
          <p:nvPr/>
        </p:nvSpPr>
        <p:spPr>
          <a:xfrm>
            <a:off x="51816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y → 5</a:t>
            </a:r>
          </a:p>
        </p:txBody>
      </p:sp>
      <p:sp>
        <p:nvSpPr>
          <p:cNvPr id="307" name="s"/>
          <p:cNvSpPr/>
          <p:nvPr/>
        </p:nvSpPr>
        <p:spPr>
          <a:xfrm>
            <a:off x="2032000" y="3810000"/>
            <a:ext cx="5080000" cy="482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1A1A2E"/>
                </a:solidFill>
                <a:latin typeface="Inter Tight"/>
                <a:cs typeface="Inter Tight"/>
              </a:rPr>
              <a:t>A name isn't the value — it points to one. Here x and y both point to 5.</a:t>
            </a:r>
          </a:p>
        </p:txBody>
      </p:sp>
    </p:spTree>
    <p:extLst>
      <p:ext uri="{BB962C8B-B14F-4D97-AF65-F5344CB8AC3E}">
        <p14:creationId xmlns:p14="http://schemas.microsoft.com/office/powerpoint/2010/main" val="4271965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Introducing the Environment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Where every name → value binding lives.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env = {}</a:t>
            </a:r>
          </a:p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env[</a:t>
            </a:r>
            <a:r>
              <a:rPr lang="en-US" sz="1500">
                <a:solidFill>
                  <a:srgbClr val="6FCF97"/>
                </a:solidFill>
                <a:latin typeface="Consolas"/>
                <a:cs typeface="Consolas"/>
              </a:rPr>
              <a:t>"x"</a:t>
            </a: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] = 5</a:t>
            </a:r>
          </a:p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env[</a:t>
            </a:r>
            <a:r>
              <a:rPr lang="en-US" sz="1500">
                <a:solidFill>
                  <a:srgbClr val="6FCF97"/>
                </a:solidFill>
                <a:latin typeface="Consolas"/>
                <a:cs typeface="Consolas"/>
              </a:rPr>
              <a:t>"y"</a:t>
            </a: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] = 8</a:t>
            </a:r>
          </a:p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env → {</a:t>
            </a:r>
            <a:r>
              <a:rPr lang="en-US" sz="1500">
                <a:solidFill>
                  <a:srgbClr val="6FCF97"/>
                </a:solidFill>
                <a:latin typeface="Consolas"/>
                <a:cs typeface="Consolas"/>
              </a:rPr>
              <a:t>"x"</a:t>
            </a: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: 5, </a:t>
            </a:r>
            <a:r>
              <a:rPr lang="en-US" sz="1500">
                <a:solidFill>
                  <a:srgbClr val="6FCF97"/>
                </a:solidFill>
                <a:latin typeface="Consolas"/>
                <a:cs typeface="Consolas"/>
              </a:rPr>
              <a:t>"y"</a:t>
            </a:r>
            <a:r>
              <a:rPr lang="en-US" sz="1500">
                <a:solidFill>
                  <a:srgbClr val="FFFFFF"/>
                </a:solidFill>
                <a:latin typeface="Consolas"/>
                <a:cs typeface="Consolas"/>
              </a:rPr>
              <a:t>: 8}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ENVIRONMENT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a dictionary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names → values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like a phonebook</a:t>
            </a:r>
          </a:p>
        </p:txBody>
      </p:sp>
    </p:spTree>
    <p:extLst>
      <p:ext uri="{BB962C8B-B14F-4D97-AF65-F5344CB8AC3E}">
        <p14:creationId xmlns:p14="http://schemas.microsoft.com/office/powerpoint/2010/main" val="4014382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"/>
          <p:cNvSpPr txBox="1"/>
          <p:nvPr/>
        </p:nvSpPr>
        <p:spPr>
          <a:xfrm>
            <a:off x="457200" y="539531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242385"/>
                </a:solidFill>
                <a:latin typeface="Inter Tight"/>
                <a:cs typeface="Inter Tight"/>
              </a:rPr>
              <a:t>Variable Assignment</a:t>
            </a:r>
          </a:p>
        </p:txBody>
      </p:sp>
      <p:sp>
        <p:nvSpPr>
          <p:cNvPr id="302" name="t"/>
          <p:cNvSpPr txBox="1"/>
          <p:nvPr/>
        </p:nvSpPr>
        <p:spPr>
          <a:xfrm>
            <a:off x="457200" y="1574800"/>
            <a:ext cx="82296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600" b="1">
                <a:solidFill>
                  <a:srgbClr val="242385"/>
                </a:solidFill>
                <a:latin typeface="Consolas"/>
                <a:cs typeface="Consolas"/>
              </a:rPr>
              <a:t>x = 5</a:t>
            </a:r>
          </a:p>
        </p:txBody>
      </p:sp>
      <p:sp>
        <p:nvSpPr>
          <p:cNvPr id="303" name="t"/>
          <p:cNvSpPr txBox="1"/>
          <p:nvPr/>
        </p:nvSpPr>
        <p:spPr>
          <a:xfrm>
            <a:off x="4267200" y="2438400"/>
            <a:ext cx="6096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25654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{ }</a:t>
            </a:r>
          </a:p>
        </p:txBody>
      </p:sp>
      <p:sp>
        <p:nvSpPr>
          <p:cNvPr id="305" name="s"/>
          <p:cNvSpPr/>
          <p:nvPr/>
        </p:nvSpPr>
        <p:spPr>
          <a:xfrm>
            <a:off x="4114800" y="2921000"/>
            <a:ext cx="9144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→</a:t>
            </a:r>
          </a:p>
        </p:txBody>
      </p:sp>
      <p:sp>
        <p:nvSpPr>
          <p:cNvPr id="306" name="s"/>
          <p:cNvSpPr/>
          <p:nvPr/>
        </p:nvSpPr>
        <p:spPr>
          <a:xfrm>
            <a:off x="51816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{ x: 5 }</a:t>
            </a:r>
          </a:p>
        </p:txBody>
      </p:sp>
      <p:sp>
        <p:nvSpPr>
          <p:cNvPr id="307" name="s"/>
          <p:cNvSpPr/>
          <p:nvPr/>
        </p:nvSpPr>
        <p:spPr>
          <a:xfrm>
            <a:off x="2032000" y="3810000"/>
            <a:ext cx="5080000" cy="482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1A1A2E"/>
                </a:solidFill>
                <a:latin typeface="Inter Tight"/>
                <a:cs typeface="Inter Tight"/>
              </a:rPr>
              <a:t>Assignment changes the environment — internally: env["x"] = 5.</a:t>
            </a:r>
          </a:p>
        </p:txBody>
      </p:sp>
    </p:spTree>
    <p:extLst>
      <p:ext uri="{BB962C8B-B14F-4D97-AF65-F5344CB8AC3E}">
        <p14:creationId xmlns:p14="http://schemas.microsoft.com/office/powerpoint/2010/main" val="1053152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"/>
          <p:cNvSpPr txBox="1"/>
          <p:nvPr/>
        </p:nvSpPr>
        <p:spPr>
          <a:xfrm>
            <a:off x="457200" y="539531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242385"/>
                </a:solidFill>
                <a:latin typeface="Inter Tight"/>
                <a:cs typeface="Inter Tight"/>
              </a:rPr>
              <a:t>Variable Lookup</a:t>
            </a:r>
          </a:p>
        </p:txBody>
      </p:sp>
      <p:sp>
        <p:nvSpPr>
          <p:cNvPr id="302" name="t"/>
          <p:cNvSpPr txBox="1"/>
          <p:nvPr/>
        </p:nvSpPr>
        <p:spPr>
          <a:xfrm>
            <a:off x="457200" y="1574800"/>
            <a:ext cx="8229600" cy="7620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3600" b="1">
                <a:solidFill>
                  <a:srgbClr val="242385"/>
                </a:solidFill>
                <a:latin typeface="Consolas"/>
                <a:cs typeface="Consolas"/>
              </a:rPr>
              <a:t>x + 2</a:t>
            </a:r>
          </a:p>
        </p:txBody>
      </p:sp>
      <p:sp>
        <p:nvSpPr>
          <p:cNvPr id="303" name="t"/>
          <p:cNvSpPr txBox="1"/>
          <p:nvPr/>
        </p:nvSpPr>
        <p:spPr>
          <a:xfrm>
            <a:off x="4267200" y="2438400"/>
            <a:ext cx="609600" cy="330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304" name="s"/>
          <p:cNvSpPr/>
          <p:nvPr/>
        </p:nvSpPr>
        <p:spPr>
          <a:xfrm>
            <a:off x="25654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look up x</a:t>
            </a:r>
          </a:p>
        </p:txBody>
      </p:sp>
      <p:sp>
        <p:nvSpPr>
          <p:cNvPr id="305" name="s"/>
          <p:cNvSpPr/>
          <p:nvPr/>
        </p:nvSpPr>
        <p:spPr>
          <a:xfrm>
            <a:off x="4114800" y="2921000"/>
            <a:ext cx="914400" cy="50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→</a:t>
            </a:r>
          </a:p>
        </p:txBody>
      </p:sp>
      <p:sp>
        <p:nvSpPr>
          <p:cNvPr id="306" name="s"/>
          <p:cNvSpPr/>
          <p:nvPr/>
        </p:nvSpPr>
        <p:spPr>
          <a:xfrm>
            <a:off x="5181600" y="2921000"/>
            <a:ext cx="1397000" cy="508000"/>
          </a:xfrm>
          <a:prstGeom prst="roundRect">
            <a:avLst/>
          </a:prstGeom>
          <a:solidFill>
            <a:srgbClr val="5B5BD6"/>
          </a:solidFill>
          <a:ln w="1905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5 + 2</a:t>
            </a:r>
          </a:p>
        </p:txBody>
      </p:sp>
      <p:sp>
        <p:nvSpPr>
          <p:cNvPr id="307" name="s"/>
          <p:cNvSpPr/>
          <p:nvPr/>
        </p:nvSpPr>
        <p:spPr>
          <a:xfrm>
            <a:off x="2032000" y="3810000"/>
            <a:ext cx="5080000" cy="482600"/>
          </a:xfrm>
          <a:prstGeom prst="roundRect">
            <a:avLst/>
          </a:prstGeom>
          <a:solidFill>
            <a:srgbClr val="EEEEFA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1A1A2E"/>
                </a:solidFill>
                <a:latin typeface="Inter Tight"/>
                <a:cs typeface="Inter Tight"/>
              </a:rPr>
              <a:t>The name is replaced by its value before evaluating — result: 7.</a:t>
            </a:r>
          </a:p>
        </p:txBody>
      </p:sp>
    </p:spTree>
    <p:extLst>
      <p:ext uri="{BB962C8B-B14F-4D97-AF65-F5344CB8AC3E}">
        <p14:creationId xmlns:p14="http://schemas.microsoft.com/office/powerpoint/2010/main" val="1394456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The Environment Changes Over Time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Each assignment updates the program's state.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&gt;&gt;&gt; x = 5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  env → {x: 5}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&gt;&gt;&gt; y = 8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  env → {x: 5, y: 8}</a:t>
            </a:r>
          </a:p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&gt;&gt;&gt; x = 10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  env → {x: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10</a:t>
            </a: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, y: 8}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STATE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grows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changes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persists</a:t>
            </a:r>
          </a:p>
        </p:txBody>
      </p:sp>
    </p:spTree>
    <p:extLst>
      <p:ext uri="{BB962C8B-B14F-4D97-AF65-F5344CB8AC3E}">
        <p14:creationId xmlns:p14="http://schemas.microsoft.com/office/powerpoint/2010/main" val="1999843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Evaluating Variables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7874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Numbers carry their value; variables look one up.</a:t>
            </a:r>
          </a:p>
        </p:txBody>
      </p:sp>
      <p:sp>
        <p:nvSpPr>
          <p:cNvPr id="302" name="s"/>
          <p:cNvSpPr/>
          <p:nvPr/>
        </p:nvSpPr>
        <p:spPr>
          <a:xfrm>
            <a:off x="457200" y="1168400"/>
            <a:ext cx="8229600" cy="2692400"/>
          </a:xfrm>
          <a:prstGeom prst="roundRect">
            <a:avLst>
              <a:gd name="adj" fmla="val 4000"/>
            </a:avLst>
          </a:prstGeom>
          <a:solidFill>
            <a:srgbClr val="EEEEFA"/>
          </a:solidFill>
          <a:ln>
            <a:noFill/>
          </a:ln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305" name="t"/>
          <p:cNvSpPr txBox="1"/>
          <p:nvPr/>
        </p:nvSpPr>
        <p:spPr>
          <a:xfrm>
            <a:off x="711200" y="1320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NUMBER NODE</a:t>
            </a:r>
          </a:p>
        </p:txBody>
      </p:sp>
      <p:sp>
        <p:nvSpPr>
          <p:cNvPr id="306" name="t"/>
          <p:cNvSpPr txBox="1"/>
          <p:nvPr/>
        </p:nvSpPr>
        <p:spPr>
          <a:xfrm>
            <a:off x="4876800" y="13208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VARIABLE NODE</a:t>
            </a:r>
          </a:p>
        </p:txBody>
      </p:sp>
      <p:sp>
        <p:nvSpPr>
          <p:cNvPr id="307" name="s"/>
          <p:cNvSpPr/>
          <p:nvPr/>
        </p:nvSpPr>
        <p:spPr>
          <a:xfrm>
            <a:off x="4648200" y="1701800"/>
            <a:ext cx="25400" cy="2032000"/>
          </a:xfrm>
          <a:prstGeom prst="rect">
            <a:avLst/>
          </a:prstGeom>
          <a:solidFill>
            <a:srgbClr val="C9C9EC"/>
          </a:solidFill>
          <a:ln>
            <a:noFill/>
          </a:ln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310" name="t"/>
          <p:cNvSpPr txBox="1"/>
          <p:nvPr/>
        </p:nvSpPr>
        <p:spPr>
          <a:xfrm>
            <a:off x="711200" y="1778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evaluate(Number)</a:t>
            </a:r>
          </a:p>
        </p:txBody>
      </p:sp>
      <p:sp>
        <p:nvSpPr>
          <p:cNvPr id="311" name="t"/>
          <p:cNvSpPr txBox="1"/>
          <p:nvPr/>
        </p:nvSpPr>
        <p:spPr>
          <a:xfrm>
            <a:off x="4876800" y="17780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evaluate(Variable)</a:t>
            </a:r>
          </a:p>
        </p:txBody>
      </p:sp>
      <p:sp>
        <p:nvSpPr>
          <p:cNvPr id="312" name="t"/>
          <p:cNvSpPr txBox="1"/>
          <p:nvPr/>
        </p:nvSpPr>
        <p:spPr>
          <a:xfrm>
            <a:off x="711200" y="23622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return node.value</a:t>
            </a:r>
          </a:p>
        </p:txBody>
      </p:sp>
      <p:sp>
        <p:nvSpPr>
          <p:cNvPr id="313" name="t"/>
          <p:cNvSpPr txBox="1"/>
          <p:nvPr/>
        </p:nvSpPr>
        <p:spPr>
          <a:xfrm>
            <a:off x="4876800" y="23622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return env[node.name]</a:t>
            </a:r>
          </a:p>
        </p:txBody>
      </p:sp>
      <p:sp>
        <p:nvSpPr>
          <p:cNvPr id="314" name="t"/>
          <p:cNvSpPr txBox="1"/>
          <p:nvPr/>
        </p:nvSpPr>
        <p:spPr>
          <a:xfrm>
            <a:off x="711200" y="29464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Consolas"/>
                <a:cs typeface="Consolas"/>
              </a:rPr>
              <a:t>always the same value</a:t>
            </a:r>
          </a:p>
        </p:txBody>
      </p:sp>
      <p:sp>
        <p:nvSpPr>
          <p:cNvPr id="315" name="t"/>
          <p:cNvSpPr txBox="1"/>
          <p:nvPr/>
        </p:nvSpPr>
        <p:spPr>
          <a:xfrm>
            <a:off x="4876800" y="29464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depends on the environment</a:t>
            </a:r>
          </a:p>
        </p:txBody>
      </p:sp>
      <p:sp>
        <p:nvSpPr>
          <p:cNvPr id="304" name="s"/>
          <p:cNvSpPr/>
          <p:nvPr/>
        </p:nvSpPr>
        <p:spPr>
          <a:xfrm>
            <a:off x="457200" y="4064000"/>
            <a:ext cx="8229600" cy="533400"/>
          </a:xfrm>
          <a:prstGeom prst="roundRect">
            <a:avLst>
              <a:gd name="adj" fmla="val 10000"/>
            </a:avLst>
          </a:prstGeom>
          <a:solidFill>
            <a:srgbClr val="24238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en-US" sz="1250">
                <a:solidFill>
                  <a:srgbClr val="FFFFFF"/>
                </a:solidFill>
                <a:latin typeface="Inter Tight"/>
                <a:cs typeface="Inter Tight"/>
              </a:rPr>
              <a:t>Same recursion — a variable just asks the environment for its value.</a:t>
            </a:r>
          </a:p>
        </p:txBody>
      </p:sp>
    </p:spTree>
    <p:extLst>
      <p:ext uri="{BB962C8B-B14F-4D97-AF65-F5344CB8AC3E}">
        <p14:creationId xmlns:p14="http://schemas.microsoft.com/office/powerpoint/2010/main" val="3179612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Live Coding: Add Variables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Add Variable and Assignment nodes, then handle them in evaluate().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class </a:t>
            </a: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Variable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:  name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class </a:t>
            </a: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Assignment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:  name, value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elif 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isinstance(node, Variable):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    return 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env[node.name]</a:t>
            </a:r>
          </a:p>
          <a:p>
            <a:pPr algn="l">
              <a:buNone/>
            </a:pPr>
            <a:r>
              <a:rPr lang="en-US" sz="1300" b="1">
                <a:solidFill>
                  <a:srgbClr val="A9A4F5"/>
                </a:solidFill>
                <a:latin typeface="Consolas"/>
                <a:cs typeface="Consolas"/>
              </a:rPr>
              <a:t>elif </a:t>
            </a: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isinstance(node, Assignment):</a:t>
            </a:r>
          </a:p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latin typeface="Consolas"/>
                <a:cs typeface="Consolas"/>
              </a:rPr>
              <a:t>    env[node.name] = evaluate(node.value, env)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TWO NODES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Variable: read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Assignment: write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env threads through</a:t>
            </a:r>
          </a:p>
        </p:txBody>
      </p:sp>
    </p:spTree>
    <p:extLst>
      <p:ext uri="{BB962C8B-B14F-4D97-AF65-F5344CB8AC3E}">
        <p14:creationId xmlns:p14="http://schemas.microsoft.com/office/powerpoint/2010/main" val="703559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Our Interpreter Has State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Now each line can affect the lines that come after it.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  <a:cs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x = 5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  <a:cs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y = x + 2</a:t>
            </a:r>
          </a:p>
          <a:p>
            <a:pPr algn="l">
              <a:buNone/>
            </a:pPr>
            <a:r>
              <a:rPr lang="en-US" sz="1600" b="1">
                <a:solidFill>
                  <a:srgbClr val="A9A4F5"/>
                </a:solidFill>
                <a:latin typeface="Consolas"/>
                <a:cs typeface="Consolas"/>
              </a:rPr>
              <a:t>&gt;&gt;&gt; </a:t>
            </a: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y * 3</a:t>
            </a:r>
          </a:p>
          <a:p>
            <a:pPr algn="l">
              <a:buNone/>
            </a:pPr>
            <a:r>
              <a:rPr lang="en-US" sz="1600">
                <a:solidFill>
                  <a:srgbClr val="6FCF97"/>
                </a:solidFill>
                <a:latin typeface="Consolas"/>
                <a:cs typeface="Consolas"/>
              </a:rPr>
              <a:t>21</a:t>
            </a:r>
          </a:p>
          <a:p>
            <a:pPr algn="l"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600">
                <a:solidFill>
                  <a:srgbClr val="8A90A6"/>
                </a:solidFill>
                <a:latin typeface="Consolas"/>
                <a:cs typeface="Consolas"/>
              </a:rPr>
              <a:t># x and y are remembered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BEFORE → AFTER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was: stateless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9210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now: remembers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492500"/>
            <a:ext cx="2489200" cy="381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state persists</a:t>
            </a:r>
          </a:p>
        </p:txBody>
      </p:sp>
    </p:spTree>
    <p:extLst>
      <p:ext uri="{BB962C8B-B14F-4D97-AF65-F5344CB8AC3E}">
        <p14:creationId xmlns:p14="http://schemas.microsoft.com/office/powerpoint/2010/main" val="2778712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The Complete Interpreter Pipeline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Source code goes in, a result comes out — every stage you built.</a:t>
            </a:r>
          </a:p>
        </p:txBody>
      </p:sp>
      <p:sp>
        <p:nvSpPr>
          <p:cNvPr id="302" name="s"/>
          <p:cNvSpPr/>
          <p:nvPr/>
        </p:nvSpPr>
        <p:spPr>
          <a:xfrm>
            <a:off x="3683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Source</a:t>
            </a:r>
          </a:p>
        </p:txBody>
      </p:sp>
      <p:sp>
        <p:nvSpPr>
          <p:cNvPr id="303" name="t"/>
          <p:cNvSpPr txBox="1"/>
          <p:nvPr/>
        </p:nvSpPr>
        <p:spPr>
          <a:xfrm>
            <a:off x="18669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4" name="s"/>
          <p:cNvSpPr/>
          <p:nvPr/>
        </p:nvSpPr>
        <p:spPr>
          <a:xfrm>
            <a:off x="20955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Lexer</a:t>
            </a:r>
          </a:p>
        </p:txBody>
      </p:sp>
      <p:sp>
        <p:nvSpPr>
          <p:cNvPr id="305" name="t"/>
          <p:cNvSpPr txBox="1"/>
          <p:nvPr/>
        </p:nvSpPr>
        <p:spPr>
          <a:xfrm>
            <a:off x="35941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6" name="s"/>
          <p:cNvSpPr/>
          <p:nvPr/>
        </p:nvSpPr>
        <p:spPr>
          <a:xfrm>
            <a:off x="3822700" y="1879600"/>
            <a:ext cx="1498600" cy="7366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307" name="t"/>
          <p:cNvSpPr txBox="1"/>
          <p:nvPr/>
        </p:nvSpPr>
        <p:spPr>
          <a:xfrm>
            <a:off x="53213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08" name="s"/>
          <p:cNvSpPr/>
          <p:nvPr/>
        </p:nvSpPr>
        <p:spPr>
          <a:xfrm>
            <a:off x="5549900" y="1879600"/>
            <a:ext cx="1498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Interpreter</a:t>
            </a:r>
          </a:p>
        </p:txBody>
      </p:sp>
      <p:sp>
        <p:nvSpPr>
          <p:cNvPr id="309" name="t"/>
          <p:cNvSpPr txBox="1"/>
          <p:nvPr/>
        </p:nvSpPr>
        <p:spPr>
          <a:xfrm>
            <a:off x="7048500" y="2006600"/>
            <a:ext cx="228600" cy="457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310" name="s"/>
          <p:cNvSpPr/>
          <p:nvPr/>
        </p:nvSpPr>
        <p:spPr>
          <a:xfrm>
            <a:off x="7277100" y="1879600"/>
            <a:ext cx="1498600" cy="736600"/>
          </a:xfrm>
          <a:prstGeom prst="roundRect">
            <a:avLst/>
          </a:prstGeom>
          <a:solidFill>
            <a:srgbClr val="5B5BD6"/>
          </a:solidFill>
          <a:ln w="12700">
            <a:solidFill>
              <a:srgbClr val="5B5BD6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Result</a:t>
            </a:r>
          </a:p>
        </p:txBody>
      </p:sp>
      <p:sp>
        <p:nvSpPr>
          <p:cNvPr id="311" name="s"/>
          <p:cNvSpPr/>
          <p:nvPr/>
        </p:nvSpPr>
        <p:spPr>
          <a:xfrm>
            <a:off x="1143000" y="3098800"/>
            <a:ext cx="6858000" cy="1092200"/>
          </a:xfrm>
          <a:prstGeom prst="roundRect">
            <a:avLst/>
          </a:prstGeom>
          <a:solidFill>
            <a:srgbClr val="242385"/>
          </a:solidFill>
        </p:spPr>
        <p:txBody>
          <a:bodyPr wrap="square" rtlCol="0" anchor="ctr">
            <a:noAutofit/>
          </a:bodyPr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Inter Tight"/>
                <a:cs typeface="Inter Tight"/>
              </a:rPr>
              <a:t>The Parser builds the AST the Interpreter walks — you built every stage.</a:t>
            </a:r>
          </a:p>
        </p:txBody>
      </p:sp>
    </p:spTree>
    <p:extLst>
      <p:ext uri="{BB962C8B-B14F-4D97-AF65-F5344CB8AC3E}">
        <p14:creationId xmlns:p14="http://schemas.microsoft.com/office/powerpoint/2010/main" val="496019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Project Architecture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Updated — everything you built today is now green.</a:t>
            </a:r>
          </a:p>
        </p:txBody>
      </p:sp>
      <p:sp>
        <p:nvSpPr>
          <p:cNvPr id="302" name="s"/>
          <p:cNvSpPr/>
          <p:nvPr/>
        </p:nvSpPr>
        <p:spPr>
          <a:xfrm>
            <a:off x="508000" y="1422400"/>
            <a:ext cx="5054600" cy="3327400"/>
          </a:xfrm>
          <a:prstGeom prst="roundRect">
            <a:avLst/>
          </a:prstGeom>
          <a:solidFill>
            <a:srgbClr val="1E1E32"/>
          </a:solidFill>
        </p:spPr>
        <p:txBody>
          <a:bodyPr wrap="square" lIns="91440" rtlCol="0" anchor="t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TinyLang/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lexer.py  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parser.py 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ast_nodes.py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tokens.py   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evaluator.py  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environment.py    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E6E6F5"/>
                </a:solidFill>
                <a:latin typeface="Consolas"/>
                <a:cs typeface="Consolas"/>
              </a:rPr>
              <a:t>  custom_language.py  </a:t>
            </a:r>
            <a:r>
              <a:rPr lang="en-US" sz="1400">
                <a:solidFill>
                  <a:srgbClr val="6FCF97"/>
                </a:solidFill>
                <a:latin typeface="Consolas"/>
                <a:cs typeface="Consolas"/>
              </a:rPr>
              <a:t>✓</a:t>
            </a:r>
          </a:p>
          <a:p>
            <a:pPr algn="l">
              <a:buNone/>
            </a:pPr>
            <a:r>
              <a:rPr lang="en-US" sz="1400">
                <a:solidFill>
                  <a:srgbClr val="8A90A6"/>
                </a:solidFill>
                <a:latin typeface="Consolas"/>
                <a:cs typeface="Consolas"/>
              </a:rPr>
              <a:t>  tests/              </a:t>
            </a:r>
          </a:p>
        </p:txBody>
      </p:sp>
      <p:sp>
        <p:nvSpPr>
          <p:cNvPr id="303" name="s"/>
          <p:cNvSpPr/>
          <p:nvPr/>
        </p:nvSpPr>
        <p:spPr>
          <a:xfrm>
            <a:off x="5791200" y="1422400"/>
            <a:ext cx="2946400" cy="33274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4" name="t"/>
          <p:cNvSpPr txBox="1"/>
          <p:nvPr/>
        </p:nvSpPr>
        <p:spPr>
          <a:xfrm>
            <a:off x="6019800" y="1778000"/>
            <a:ext cx="2489200" cy="2032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100" b="1">
                <a:solidFill>
                  <a:srgbClr val="5B5BD6"/>
                </a:solidFill>
                <a:latin typeface="Inter Tight"/>
                <a:cs typeface="Inter Tight"/>
              </a:rPr>
              <a:t>STATUS</a:t>
            </a:r>
          </a:p>
        </p:txBody>
      </p:sp>
      <p:sp>
        <p:nvSpPr>
          <p:cNvPr id="305" name="t"/>
          <p:cNvSpPr txBox="1"/>
          <p:nvPr/>
        </p:nvSpPr>
        <p:spPr>
          <a:xfrm>
            <a:off x="6019800" y="23495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242385"/>
                </a:solidFill>
                <a:latin typeface="Consolas"/>
                <a:cs typeface="Consolas"/>
              </a:rPr>
              <a:t>all built</a:t>
            </a:r>
          </a:p>
        </p:txBody>
      </p:sp>
      <p:sp>
        <p:nvSpPr>
          <p:cNvPr id="306" name="t"/>
          <p:cNvSpPr txBox="1"/>
          <p:nvPr/>
        </p:nvSpPr>
        <p:spPr>
          <a:xfrm>
            <a:off x="6019800" y="28194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8 files</a:t>
            </a:r>
          </a:p>
        </p:txBody>
      </p:sp>
      <p:sp>
        <p:nvSpPr>
          <p:cNvPr id="307" name="t"/>
          <p:cNvSpPr txBox="1"/>
          <p:nvPr/>
        </p:nvSpPr>
        <p:spPr>
          <a:xfrm>
            <a:off x="6019800" y="3289300"/>
            <a:ext cx="2489200" cy="304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700" b="1">
                <a:solidFill>
                  <a:srgbClr val="5B5BD6"/>
                </a:solidFill>
                <a:latin typeface="Consolas"/>
                <a:cs typeface="Consolas"/>
              </a:rPr>
              <a:t>tests next</a:t>
            </a:r>
          </a:p>
        </p:txBody>
      </p:sp>
    </p:spTree>
    <p:extLst>
      <p:ext uri="{BB962C8B-B14F-4D97-AF65-F5344CB8AC3E}">
        <p14:creationId xmlns:p14="http://schemas.microsoft.com/office/powerpoint/2010/main" val="3625686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What We Built Today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7874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From reviewing homework to a language that remembers.</a:t>
            </a:r>
          </a:p>
        </p:txBody>
      </p:sp>
      <p:sp>
        <p:nvSpPr>
          <p:cNvPr id="302" name="s"/>
          <p:cNvSpPr/>
          <p:nvPr/>
        </p:nvSpPr>
        <p:spPr>
          <a:xfrm>
            <a:off x="457200" y="1168400"/>
            <a:ext cx="8229600" cy="2692400"/>
          </a:xfrm>
          <a:prstGeom prst="roundRect">
            <a:avLst>
              <a:gd name="adj" fmla="val 4000"/>
            </a:avLst>
          </a:prstGeom>
          <a:solidFill>
            <a:srgbClr val="EEEEFA"/>
          </a:solidFill>
          <a:ln>
            <a:noFill/>
          </a:ln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305" name="t"/>
          <p:cNvSpPr txBox="1"/>
          <p:nvPr/>
        </p:nvSpPr>
        <p:spPr>
          <a:xfrm>
            <a:off x="711200" y="1320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INTERPRETER</a:t>
            </a:r>
          </a:p>
        </p:txBody>
      </p:sp>
      <p:sp>
        <p:nvSpPr>
          <p:cNvPr id="306" name="t"/>
          <p:cNvSpPr txBox="1"/>
          <p:nvPr/>
        </p:nvSpPr>
        <p:spPr>
          <a:xfrm>
            <a:off x="4876800" y="13208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b="1" spc="150">
                <a:solidFill>
                  <a:srgbClr val="5B5BD6"/>
                </a:solidFill>
                <a:latin typeface="Inter Tight"/>
                <a:cs typeface="Inter Tight"/>
              </a:rPr>
              <a:t>MEMORY</a:t>
            </a:r>
          </a:p>
        </p:txBody>
      </p:sp>
      <p:sp>
        <p:nvSpPr>
          <p:cNvPr id="307" name="s"/>
          <p:cNvSpPr/>
          <p:nvPr/>
        </p:nvSpPr>
        <p:spPr>
          <a:xfrm>
            <a:off x="4648200" y="1701800"/>
            <a:ext cx="25400" cy="2032000"/>
          </a:xfrm>
          <a:prstGeom prst="rect">
            <a:avLst/>
          </a:prstGeom>
          <a:solidFill>
            <a:srgbClr val="C9C9EC"/>
          </a:solidFill>
          <a:ln>
            <a:noFill/>
          </a:ln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310" name="t"/>
          <p:cNvSpPr txBox="1"/>
          <p:nvPr/>
        </p:nvSpPr>
        <p:spPr>
          <a:xfrm>
            <a:off x="711200" y="1778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Reviewed the lexer</a:t>
            </a:r>
          </a:p>
        </p:txBody>
      </p:sp>
      <p:sp>
        <p:nvSpPr>
          <p:cNvPr id="311" name="t"/>
          <p:cNvSpPr txBox="1"/>
          <p:nvPr/>
        </p:nvSpPr>
        <p:spPr>
          <a:xfrm>
            <a:off x="4876800" y="17780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Connected the interpreter</a:t>
            </a:r>
          </a:p>
        </p:txBody>
      </p:sp>
      <p:sp>
        <p:nvSpPr>
          <p:cNvPr id="312" name="t"/>
          <p:cNvSpPr txBox="1"/>
          <p:nvPr/>
        </p:nvSpPr>
        <p:spPr>
          <a:xfrm>
            <a:off x="711200" y="23622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Reviewed the parser</a:t>
            </a:r>
          </a:p>
        </p:txBody>
      </p:sp>
      <p:sp>
        <p:nvSpPr>
          <p:cNvPr id="313" name="t"/>
          <p:cNvSpPr txBox="1"/>
          <p:nvPr/>
        </p:nvSpPr>
        <p:spPr>
          <a:xfrm>
            <a:off x="4876800" y="23622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Added environments</a:t>
            </a:r>
          </a:p>
        </p:txBody>
      </p:sp>
      <p:sp>
        <p:nvSpPr>
          <p:cNvPr id="314" name="t"/>
          <p:cNvSpPr txBox="1"/>
          <p:nvPr/>
        </p:nvSpPr>
        <p:spPr>
          <a:xfrm>
            <a:off x="711200" y="29464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Built the evaluator</a:t>
            </a:r>
          </a:p>
        </p:txBody>
      </p:sp>
      <p:sp>
        <p:nvSpPr>
          <p:cNvPr id="315" name="t"/>
          <p:cNvSpPr txBox="1"/>
          <p:nvPr/>
        </p:nvSpPr>
        <p:spPr>
          <a:xfrm>
            <a:off x="4876800" y="2946400"/>
            <a:ext cx="368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6FCF97"/>
                </a:solidFill>
                <a:latin typeface="Consolas"/>
                <a:cs typeface="Consolas"/>
              </a:rPr>
              <a:t>✓  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Variables work</a:t>
            </a:r>
          </a:p>
        </p:txBody>
      </p:sp>
      <p:sp>
        <p:nvSpPr>
          <p:cNvPr id="304" name="s"/>
          <p:cNvSpPr/>
          <p:nvPr/>
        </p:nvSpPr>
        <p:spPr>
          <a:xfrm>
            <a:off x="457200" y="4064000"/>
            <a:ext cx="8229600" cy="533400"/>
          </a:xfrm>
          <a:prstGeom prst="roundRect">
            <a:avLst>
              <a:gd name="adj" fmla="val 10000"/>
            </a:avLst>
          </a:prstGeom>
          <a:solidFill>
            <a:srgbClr val="242385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en-US" sz="1250">
                <a:solidFill>
                  <a:srgbClr val="FFFFFF"/>
                </a:solidFill>
                <a:latin typeface="Inter Tight"/>
                <a:cs typeface="Inter Tight"/>
              </a:rPr>
              <a:t>Six stages down — your language runs real programs.</a:t>
            </a:r>
          </a:p>
        </p:txBody>
      </p:sp>
    </p:spTree>
    <p:extLst>
      <p:ext uri="{BB962C8B-B14F-4D97-AF65-F5344CB8AC3E}">
        <p14:creationId xmlns:p14="http://schemas.microsoft.com/office/powerpoint/2010/main" val="1372495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Homework &amp; Next Week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Practice what you built today, then get ready for control flow.</a:t>
            </a:r>
          </a:p>
        </p:txBody>
      </p:sp>
      <p:sp>
        <p:nvSpPr>
          <p:cNvPr id="302" name="s"/>
          <p:cNvSpPr/>
          <p:nvPr/>
        </p:nvSpPr>
        <p:spPr>
          <a:xfrm>
            <a:off x="381000" y="1371600"/>
            <a:ext cx="4064000" cy="27432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3" name="t"/>
          <p:cNvSpPr txBox="1"/>
          <p:nvPr/>
        </p:nvSpPr>
        <p:spPr>
          <a:xfrm>
            <a:off x="635000" y="1549400"/>
            <a:ext cx="35560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HOMEWORK</a:t>
            </a:r>
          </a:p>
        </p:txBody>
      </p:sp>
      <p:sp>
        <p:nvSpPr>
          <p:cNvPr id="304" name="t"/>
          <p:cNvSpPr txBox="1"/>
          <p:nvPr/>
        </p:nvSpPr>
        <p:spPr>
          <a:xfrm>
            <a:off x="635000" y="1905000"/>
            <a:ext cx="3657600" cy="20320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Finish the remaining TODOs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Add more evaluator cases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Write variable lookup tests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latin typeface="Inter Tight"/>
                <a:cs typeface="Inter Tight"/>
              </a:rPr>
              <a:t>Write assignment tests</a:t>
            </a:r>
          </a:p>
        </p:txBody>
      </p:sp>
      <p:sp>
        <p:nvSpPr>
          <p:cNvPr id="305" name="s"/>
          <p:cNvSpPr/>
          <p:nvPr/>
        </p:nvSpPr>
        <p:spPr>
          <a:xfrm>
            <a:off x="4699000" y="1371600"/>
            <a:ext cx="4064000" cy="2743200"/>
          </a:xfrm>
          <a:prstGeom prst="roundRect">
            <a:avLst/>
          </a:prstGeom>
          <a:solidFill>
            <a:srgbClr val="EEEEFA"/>
          </a:solidFill>
        </p:spPr>
        <p:txBody>
          <a:bodyPr wrap="square" lIns="91440" rtlCol="0" anchor="t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6" name="t"/>
          <p:cNvSpPr txBox="1"/>
          <p:nvPr/>
        </p:nvSpPr>
        <p:spPr>
          <a:xfrm>
            <a:off x="4927600" y="1549400"/>
            <a:ext cx="3606800" cy="228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NEXT WEEK — WORKSHOP 5</a:t>
            </a:r>
          </a:p>
        </p:txBody>
      </p:sp>
      <p:sp>
        <p:nvSpPr>
          <p:cNvPr id="307" name="s"/>
          <p:cNvSpPr/>
          <p:nvPr/>
        </p:nvSpPr>
        <p:spPr>
          <a:xfrm>
            <a:off x="4927600" y="1854200"/>
            <a:ext cx="2286000" cy="711200"/>
          </a:xfrm>
          <a:prstGeom prst="roundRect">
            <a:avLst/>
          </a:prstGeom>
          <a:solidFill>
            <a:srgbClr val="1E1E32"/>
          </a:solidFill>
        </p:spPr>
        <p:txBody>
          <a:bodyPr wrap="square" lIns="24000" rtlCol="0" anchor="ctr">
            <a:noAutofit/>
          </a:bodyPr>
          <a:lstStyle/>
          <a:p>
            <a:pPr algn="l"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if x &gt; 0: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>
                <a:solidFill>
                  <a:srgbClr val="FFFFFF"/>
                </a:solidFill>
                <a:latin typeface="Consolas"/>
                <a:cs typeface="Consolas"/>
              </a:rPr>
              <a:t>while x &gt; 0:</a:t>
            </a:r>
          </a:p>
        </p:txBody>
      </p:sp>
      <p:sp>
        <p:nvSpPr>
          <p:cNvPr id="308" name="t"/>
          <p:cNvSpPr txBox="1"/>
          <p:nvPr/>
        </p:nvSpPr>
        <p:spPr>
          <a:xfrm>
            <a:off x="4927600" y="2641600"/>
            <a:ext cx="3606800" cy="5588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500" b="1">
                <a:solidFill>
                  <a:srgbClr val="5B5BD6"/>
                </a:solidFill>
                <a:latin typeface="Inter Tight"/>
                <a:cs typeface="Inter Tight"/>
              </a:rPr>
              <a:t>How does a program decide what to run next?</a:t>
            </a:r>
          </a:p>
        </p:txBody>
      </p:sp>
      <p:sp>
        <p:nvSpPr>
          <p:cNvPr id="309" name="s"/>
          <p:cNvSpPr/>
          <p:nvPr/>
        </p:nvSpPr>
        <p:spPr>
          <a:xfrm>
            <a:off x="4927600" y="3657600"/>
            <a:ext cx="1092200" cy="355600"/>
          </a:xfrm>
          <a:prstGeom prst="roundRect">
            <a:avLst/>
          </a:prstGeom>
          <a:solidFill>
            <a:srgbClr val="5B5BD6"/>
          </a:solidFill>
        </p:spPr>
        <p:txBody>
          <a:bodyPr wrap="square" lIns="45720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if</a:t>
            </a:r>
          </a:p>
        </p:txBody>
      </p:sp>
      <p:sp>
        <p:nvSpPr>
          <p:cNvPr id="310" name="s"/>
          <p:cNvSpPr/>
          <p:nvPr/>
        </p:nvSpPr>
        <p:spPr>
          <a:xfrm>
            <a:off x="6121400" y="3657600"/>
            <a:ext cx="1422400" cy="355600"/>
          </a:xfrm>
          <a:prstGeom prst="roundRect">
            <a:avLst/>
          </a:prstGeom>
          <a:solidFill>
            <a:srgbClr val="5B5BD6"/>
          </a:solidFill>
        </p:spPr>
        <p:txBody>
          <a:bodyPr wrap="square" lIns="45720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while</a:t>
            </a:r>
          </a:p>
        </p:txBody>
      </p:sp>
      <p:sp>
        <p:nvSpPr>
          <p:cNvPr id="311" name="s"/>
          <p:cNvSpPr/>
          <p:nvPr/>
        </p:nvSpPr>
        <p:spPr>
          <a:xfrm>
            <a:off x="7645400" y="3657600"/>
            <a:ext cx="787400" cy="355600"/>
          </a:xfrm>
          <a:prstGeom prst="roundRect">
            <a:avLst/>
          </a:prstGeom>
          <a:solidFill>
            <a:srgbClr val="5B5BD6"/>
          </a:solidFill>
        </p:spPr>
        <p:txBody>
          <a:bodyPr wrap="square" lIns="45720" rtlCol="0" anchor="ctr">
            <a:noAutofit/>
          </a:bodyPr>
          <a:lstStyle/>
          <a:p>
            <a:pPr algn="ctr">
              <a:buNone/>
            </a:pPr>
            <a:r>
              <a:rPr lang="en-US" sz="1150" b="1">
                <a:solidFill>
                  <a:srgbClr val="FFFFFF"/>
                </a:solidFill>
                <a:latin typeface="Inter Tight"/>
                <a:cs typeface="Inter Tight"/>
              </a:rPr>
              <a:t>blocks</a:t>
            </a:r>
          </a:p>
        </p:txBody>
      </p:sp>
    </p:spTree>
    <p:extLst>
      <p:ext uri="{BB962C8B-B14F-4D97-AF65-F5344CB8AC3E}">
        <p14:creationId xmlns:p14="http://schemas.microsoft.com/office/powerpoint/2010/main" val="247244923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B5C163-F951-A24C-83A2-907570B7BA75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2ae08fb-fe0a-4569-b77a-71b2ca46432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3FF15707724F49A972C13B33FAAA8B" ma:contentTypeVersion="38" ma:contentTypeDescription="Create a new document." ma:contentTypeScope="" ma:versionID="851fe35329e603af911194bdcd4ec314">
  <xsd:schema xmlns:xsd="http://www.w3.org/2001/XMLSchema" xmlns:xs="http://www.w3.org/2001/XMLSchema" xmlns:p="http://schemas.microsoft.com/office/2006/metadata/properties" xmlns:ns2="a1200294-7566-47bd-bcc6-0c4e5d371f43" xmlns:ns3="babfc5af-ba08-4223-8118-2e61d2979772" targetNamespace="http://schemas.microsoft.com/office/2006/metadata/properties" ma:root="true" ma:fieldsID="0d41bec471a18ca9aab9c386c55630d7" ns2:_="" ns3:_="">
    <xsd:import namespace="a1200294-7566-47bd-bcc6-0c4e5d371f43"/>
    <xsd:import namespace="babfc5af-ba08-4223-8118-2e61d2979772"/>
    <xsd:element name="properties">
      <xsd:complexType>
        <xsd:sequence>
          <xsd:element name="documentManagement">
            <xsd:complexType>
              <xsd:all>
                <xsd:element ref="ns2:Employee" minOccurs="0"/>
                <xsd:element ref="ns2:PostingDate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SessionNo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00294-7566-47bd-bcc6-0c4e5d371f43" elementFormDefault="qualified">
    <xsd:import namespace="http://schemas.microsoft.com/office/2006/documentManagement/types"/>
    <xsd:import namespace="http://schemas.microsoft.com/office/infopath/2007/PartnerControls"/>
    <xsd:element name="Employee" ma:index="1" nillable="true" ma:displayName="Employee" ma:list="UserInfo" ma:SharePointGroup="0" ma:internalName="Employe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ostingDate" ma:index="2" nillable="true" ma:displayName="Posting Date" ma:format="DateOnly" ma:internalName="PostingDate" ma:readOnly="false">
      <xsd:simpleType>
        <xsd:restriction base="dms:DateTime"/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4" nillable="true" ma:displayName="Tags" ma:hidden="true" ma:internalName="MediaServiceAutoTags" ma:readOnly="true">
      <xsd:simpleType>
        <xsd:restriction base="dms:Text"/>
      </xsd:simple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c01bbee-216c-4cdf-bb0c-f637e50b3b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SessionNo" ma:index="27" nillable="true" ma:displayName="Order" ma:decimals="0" ma:default="1" ma:format="Dropdown" ma:internalName="SessionNo" ma:percentage="FALSE">
      <xsd:simpleType>
        <xsd:restriction base="dms:Number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fc5af-ba08-4223-8118-2e61d29797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30907219-2b16-4918-aa31-a6d15e45b1a4}" ma:internalName="TaxCatchAll" ma:readOnly="false" ma:showField="CatchAllData" ma:web="babfc5af-ba08-4223-8118-2e61d29797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bfc5af-ba08-4223-8118-2e61d2979772" xsi:nil="true"/>
    <lcf76f155ced4ddcb4097134ff3c332f xmlns="a1200294-7566-47bd-bcc6-0c4e5d371f43">
      <Terms xmlns="http://schemas.microsoft.com/office/infopath/2007/PartnerControls"/>
    </lcf76f155ced4ddcb4097134ff3c332f>
    <SessionNo xmlns="a1200294-7566-47bd-bcc6-0c4e5d371f43">1</SessionNo>
    <PostingDate xmlns="a1200294-7566-47bd-bcc6-0c4e5d371f43" xsi:nil="true"/>
    <Employee xmlns="a1200294-7566-47bd-bcc6-0c4e5d371f43">
      <UserInfo>
        <DisplayName/>
        <AccountId xsi:nil="true"/>
        <AccountType/>
      </UserInfo>
    </Employe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7A362D-1894-48CE-8E97-55D3A9BA4B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00294-7566-47bd-bcc6-0c4e5d371f43"/>
    <ds:schemaRef ds:uri="babfc5af-ba08-4223-8118-2e61d29797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C38A34-1C09-44AF-A4CC-A67B6F751BAC}">
  <ds:schemaRefs>
    <ds:schemaRef ds:uri="a1200294-7566-47bd-bcc6-0c4e5d371f43"/>
    <ds:schemaRef ds:uri="babfc5af-ba08-4223-8118-2e61d2979772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21C174-D453-4914-8411-DE970D7B27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56499</TotalTime>
  <Words>1582</Words>
  <Application>Microsoft Macintosh PowerPoint</Application>
  <PresentationFormat>On-screen Show (16:9)</PresentationFormat>
  <Paragraphs>373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Helvetica Neue</vt:lpstr>
      <vt:lpstr>Consolas</vt:lpstr>
      <vt:lpstr>Inter Tight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Yuwei (Vivi) Ye</cp:lastModifiedBy>
  <cp:revision>37</cp:revision>
  <cp:lastPrinted>2026-06-11T01:41:40Z</cp:lastPrinted>
  <dcterms:modified xsi:type="dcterms:W3CDTF">2026-06-29T04:27:24Z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0x010100AF3FF15707724F49A972C13B33FAAA8B</vt:lpwstr>
  </property>
  <property fmtid="{D5CDD505-2E9C-101B-9397-08002B2CF9AE}" pid="3" name="MediaServiceImageTags">
    <vt:lpwstr/>
  </property>
</Properties>
</file>