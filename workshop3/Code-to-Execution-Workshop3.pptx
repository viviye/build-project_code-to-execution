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4"/>
  </p:sldMasterIdLst>
  <p:notesMasterIdLst>
    <p:notesMasterId r:id="rId35"/>
  </p:notesMasterIdLst>
  <p:sldIdLst>
    <p:sldId id="608" r:id="rId5"/>
    <p:sldId id="619" r:id="rId6"/>
    <p:sldId id="604" r:id="rId7"/>
    <p:sldId id="605" r:id="rId8"/>
    <p:sldId id="620" r:id="rId9"/>
    <p:sldId id="621" r:id="rId10"/>
    <p:sldId id="622" r:id="rId11"/>
    <p:sldId id="623" r:id="rId12"/>
    <p:sldId id="629" r:id="rId13"/>
    <p:sldId id="630" r:id="rId14"/>
    <p:sldId id="631" r:id="rId15"/>
    <p:sldId id="632" r:id="rId16"/>
    <p:sldId id="633" r:id="rId17"/>
    <p:sldId id="639" r:id="rId18"/>
    <p:sldId id="640" r:id="rId19"/>
    <p:sldId id="641" r:id="rId20"/>
    <p:sldId id="642" r:id="rId21"/>
    <p:sldId id="643" r:id="rId22"/>
    <p:sldId id="649" r:id="rId23"/>
    <p:sldId id="650" r:id="rId24"/>
    <p:sldId id="651" r:id="rId25"/>
    <p:sldId id="666" r:id="rId26"/>
    <p:sldId id="665" r:id="rId27"/>
    <p:sldId id="669" r:id="rId28"/>
    <p:sldId id="653" r:id="rId29"/>
    <p:sldId id="659" r:id="rId30"/>
    <p:sldId id="660" r:id="rId31"/>
    <p:sldId id="661" r:id="rId32"/>
    <p:sldId id="662" r:id="rId33"/>
    <p:sldId id="663" r:id="rId34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Inter Tight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4"/>
    <p:restoredTop sz="74694"/>
  </p:normalViewPr>
  <p:slideViewPr>
    <p:cSldViewPr snapToGrid="0">
      <p:cViewPr varScale="1">
        <p:scale>
          <a:sx n="122" d="100"/>
          <a:sy n="122" d="100"/>
        </p:scale>
        <p:origin x="216" y="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TITLE_1_3_1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white">
  <p:cSld name="TITLE_1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28" name="Google Shape;2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9600" y="4777027"/>
            <a:ext cx="1641801" cy="17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purple">
  <p:cSld name="TITLE_1_3_1_1">
    <p:bg>
      <p:bgPr>
        <a:solidFill>
          <a:srgbClr val="BE9B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ight">
  <p:cSld name="TITLE_1_3_1_1_1">
    <p:bg>
      <p:bgPr>
        <a:solidFill>
          <a:srgbClr val="FAF5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TITLE_1_3_1_1_1_1_1">
    <p:bg>
      <p:bgPr>
        <a:solidFill>
          <a:srgbClr val="242385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lue">
  <p:cSld name="TITLE_1_3_1_1_1_1_1_1">
    <p:bg>
      <p:bgPr>
        <a:solidFill>
          <a:srgbClr val="5370E7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>
  <p:cSld name="TITLE_1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7" name="Google Shape;1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38" y="411392"/>
            <a:ext cx="2845117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Yellow">
  <p:cSld name="TITLE_1_2_1">
    <p:bg>
      <p:bgPr>
        <a:solidFill>
          <a:srgbClr val="5370E7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1" name="Google Shape;2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Black">
  <p:cSld name="TITLE_1_2_1_1">
    <p:bg>
      <p:bgPr>
        <a:solidFill>
          <a:srgbClr val="BE9B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5" name="Google Shape;2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light 1">
  <p:cSld name="TITLE_1_1_7">
    <p:bg>
      <p:bgPr>
        <a:solidFill>
          <a:srgbClr val="FAF5FF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32" name="Google Shape;3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">
  <p:cSld name="TITLE_1_1_6_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3" name="Google Shape;4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dark">
  <p:cSld name="TITLE_1_1_6_1_1">
    <p:bg>
      <p:bgPr>
        <a:solidFill>
          <a:srgbClr val="242385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3500"/>
              <a:buFont typeface="Inter Tight"/>
              <a:buNone/>
              <a:defRPr sz="3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8" name="Google Shape;58;p1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9" name="Google Shape;5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dark">
  <p:cSld name="TITLE_1_1_3_1_1">
    <p:bg>
      <p:bgPr>
        <a:solidFill>
          <a:srgbClr val="242385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8" name="Google Shape;108;p30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10000"/>
              <a:buFont typeface="Inter Tight"/>
              <a:buNone/>
              <a:defRPr sz="10000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9" name="Google Shape;10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2">
  <p:cSld name="TITLE_1_1_6_1">
    <p:bg>
      <p:bgPr>
        <a:solidFill>
          <a:srgbClr val="BE9BFF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8" name="Google Shape;4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2">
  <p:cSld name="TITLE_1_1_6_2_1">
    <p:bg>
      <p:bgPr>
        <a:solidFill>
          <a:srgbClr val="BE9B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None/>
              <a:defRPr sz="1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3" name="Google Shape;53;p1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4" name="Google Shape;5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dark">
  <p:cSld name="TITLE_1_1_6_2_1_1">
    <p:bg>
      <p:bgPr>
        <a:solidFill>
          <a:srgbClr val="242385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ter Tight"/>
              <a:buNone/>
              <a:defRPr sz="3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4" name="Google Shape;64;p1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5" name="Google Shape;6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purple">
  <p:cSld name="TITLE_1_1_5">
    <p:bg>
      <p:bgPr>
        <a:solidFill>
          <a:srgbClr val="BE9B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9" name="Google Shape;6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white">
  <p:cSld name="TITLE_1_1_5_2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3" name="Google Shape;7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dark">
  <p:cSld name="TITLE_1_1_5_1">
    <p:bg>
      <p:bgPr>
        <a:solidFill>
          <a:srgbClr val="242385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7" name="Google Shape;7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blue">
  <p:cSld name="TITLE_1_1_5_1_1">
    <p:bg>
      <p:bgPr>
        <a:solidFill>
          <a:srgbClr val="5370E7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1" name="Google Shape;8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">
  <p:cSld name="TITLE_1_1_4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5" name="Google Shape;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urple">
  <p:cSld name="TITLE_1_1_4_3">
    <p:bg>
      <p:bgPr>
        <a:solidFill>
          <a:srgbClr val="BE9B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9" name="Google Shape;8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lue">
  <p:cSld name="TITLE_1_1_4_2">
    <p:bg>
      <p:bgPr>
        <a:solidFill>
          <a:srgbClr val="5370E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3" name="Google Shape;9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dark">
  <p:cSld name="TITLE_1_1_4_1">
    <p:bg>
      <p:bgPr>
        <a:solidFill>
          <a:srgbClr val="242385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>
            <a:spLocks noGrp="1"/>
          </p:cNvSpPr>
          <p:nvPr>
            <p:ph type="pic" idx="2"/>
          </p:nvPr>
        </p:nvSpPr>
        <p:spPr>
          <a:xfrm>
            <a:off x="459600" y="536700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7" name="Google Shape;9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hite">
  <p:cSld name="TITLE_1_1_3_1"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4" name="Google Shape;104;p29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0000"/>
              <a:buFont typeface="Inter Tight"/>
              <a:buNone/>
              <a:defRPr sz="10000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5" name="Google Shape;10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blue">
  <p:cSld name="TITLE_1_1_3_1_1_1">
    <p:bg>
      <p:bgPr>
        <a:solidFill>
          <a:srgbClr val="5370E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2" name="Google Shape;112;p31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0"/>
              <a:buFont typeface="Inter Tight"/>
              <a:buNone/>
              <a:defRPr sz="10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13" name="Google Shape;11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TITLE_1_1_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5370E7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6" name="Google Shape;116;p3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17" name="Google Shape;11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purple">
  <p:cSld name="TITLE_1_1_2_1">
    <p:bg>
      <p:bgPr>
        <a:solidFill>
          <a:srgbClr val="BE9B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3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0" name="Google Shape;120;p3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1" name="Google Shape;12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ark">
  <p:cSld name="TITLE_1_1_2_1_1">
    <p:bg>
      <p:bgPr>
        <a:solidFill>
          <a:srgbClr val="24238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4" name="Google Shape;124;p34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BE9B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5" name="Google Shape;12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blue">
  <p:cSld name="TITLE_1_1_2_1_1_1">
    <p:bg>
      <p:bgPr>
        <a:solidFill>
          <a:srgbClr val="5370E7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8" name="Google Shape;128;p35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9" name="Google Shape;12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purple">
  <p:cSld name="TITLE_1_1_1_1">
    <p:bg>
      <p:bgPr>
        <a:solidFill>
          <a:srgbClr val="BE9B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5" name="Google Shape;13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blue">
  <p:cSld name="TITLE_1_1_1_1_1">
    <p:bg>
      <p:bgPr>
        <a:solidFill>
          <a:srgbClr val="5370E7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8" name="Google Shape;138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hite">
  <p:cSld name="Blank whit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01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48" r:id="rId3"/>
    <p:sldLayoutId id="2147483650" r:id="rId4"/>
    <p:sldLayoutId id="2147483651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1" r:id="rId12"/>
    <p:sldLayoutId id="2147483664" r:id="rId13"/>
    <p:sldLayoutId id="2147483676" r:id="rId14"/>
    <p:sldLayoutId id="2147483662" r:id="rId15"/>
    <p:sldLayoutId id="2147483663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3" r:id="rId32"/>
    <p:sldLayoutId id="2147483684" r:id="rId33"/>
    <p:sldLayoutId id="2147483686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"/>
          <p:cNvSpPr txBox="1"/>
          <p:nvPr/>
        </p:nvSpPr>
        <p:spPr>
          <a:xfrm>
            <a:off x="508000" y="584200"/>
            <a:ext cx="5080000" cy="279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 b="1" spc="200">
                <a:solidFill>
                  <a:srgbClr val="FFFFFF"/>
                </a:solidFill>
                <a:latin typeface="Inter Tight"/>
              </a:rPr>
              <a:t>WORKSHOP 3</a:t>
            </a:r>
          </a:p>
        </p:txBody>
      </p:sp>
      <p:sp>
        <p:nvSpPr>
          <p:cNvPr id="201" name="t"/>
          <p:cNvSpPr txBox="1"/>
          <p:nvPr/>
        </p:nvSpPr>
        <p:spPr>
          <a:xfrm>
            <a:off x="482600" y="914400"/>
            <a:ext cx="5842000" cy="1092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6000" b="1">
                <a:solidFill>
                  <a:srgbClr val="FFFFFF"/>
                </a:solidFill>
                <a:latin typeface="Inter Tight"/>
              </a:rPr>
              <a:t>From Text</a:t>
            </a:r>
          </a:p>
        </p:txBody>
      </p:sp>
      <p:sp>
        <p:nvSpPr>
          <p:cNvPr id="202" name="t"/>
          <p:cNvSpPr txBox="1"/>
          <p:nvPr/>
        </p:nvSpPr>
        <p:spPr>
          <a:xfrm>
            <a:off x="482600" y="1930400"/>
            <a:ext cx="5842000" cy="1092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6000" b="1">
                <a:solidFill>
                  <a:srgbClr val="FFFFFF"/>
                </a:solidFill>
                <a:latin typeface="Inter Tight"/>
              </a:rPr>
              <a:t>to Trees</a:t>
            </a:r>
          </a:p>
        </p:txBody>
      </p:sp>
      <p:sp>
        <p:nvSpPr>
          <p:cNvPr id="203" name="t"/>
          <p:cNvSpPr txBox="1"/>
          <p:nvPr/>
        </p:nvSpPr>
        <p:spPr>
          <a:xfrm>
            <a:off x="508000" y="3276600"/>
            <a:ext cx="5334000" cy="381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latin typeface="Inter Tight"/>
              </a:rPr>
              <a:t>Where do ASTs come from?</a:t>
            </a:r>
          </a:p>
        </p:txBody>
      </p:sp>
      <p:sp>
        <p:nvSpPr>
          <p:cNvPr id="204" name="pl"/>
          <p:cNvSpPr/>
          <p:nvPr/>
        </p:nvSpPr>
        <p:spPr>
          <a:xfrm>
            <a:off x="6604000" y="7366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Source Code</a:t>
            </a:r>
          </a:p>
        </p:txBody>
      </p:sp>
      <p:sp>
        <p:nvSpPr>
          <p:cNvPr id="205" name="ar"/>
          <p:cNvSpPr txBox="1"/>
          <p:nvPr/>
        </p:nvSpPr>
        <p:spPr>
          <a:xfrm>
            <a:off x="6604000" y="10922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06" name="pl"/>
          <p:cNvSpPr/>
          <p:nvPr/>
        </p:nvSpPr>
        <p:spPr>
          <a:xfrm>
            <a:off x="6604000" y="14478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Characters</a:t>
            </a:r>
          </a:p>
        </p:txBody>
      </p:sp>
      <p:sp>
        <p:nvSpPr>
          <p:cNvPr id="207" name="ar"/>
          <p:cNvSpPr txBox="1"/>
          <p:nvPr/>
        </p:nvSpPr>
        <p:spPr>
          <a:xfrm>
            <a:off x="6604000" y="18034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08" name="pl"/>
          <p:cNvSpPr/>
          <p:nvPr/>
        </p:nvSpPr>
        <p:spPr>
          <a:xfrm>
            <a:off x="6604000" y="21590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Tokens</a:t>
            </a:r>
          </a:p>
        </p:txBody>
      </p:sp>
      <p:sp>
        <p:nvSpPr>
          <p:cNvPr id="209" name="ar"/>
          <p:cNvSpPr txBox="1"/>
          <p:nvPr/>
        </p:nvSpPr>
        <p:spPr>
          <a:xfrm>
            <a:off x="6604000" y="25146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0" name="pl"/>
          <p:cNvSpPr/>
          <p:nvPr/>
        </p:nvSpPr>
        <p:spPr>
          <a:xfrm>
            <a:off x="6604000" y="28702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Parser</a:t>
            </a:r>
          </a:p>
        </p:txBody>
      </p:sp>
      <p:sp>
        <p:nvSpPr>
          <p:cNvPr id="211" name="ar"/>
          <p:cNvSpPr txBox="1"/>
          <p:nvPr/>
        </p:nvSpPr>
        <p:spPr>
          <a:xfrm>
            <a:off x="6604000" y="32258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2" name="pl"/>
          <p:cNvSpPr/>
          <p:nvPr/>
        </p:nvSpPr>
        <p:spPr>
          <a:xfrm>
            <a:off x="6604000" y="35814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AST</a:t>
            </a:r>
          </a:p>
        </p:txBody>
      </p:sp>
      <p:sp>
        <p:nvSpPr>
          <p:cNvPr id="213" name="ar"/>
          <p:cNvSpPr txBox="1"/>
          <p:nvPr/>
        </p:nvSpPr>
        <p:spPr>
          <a:xfrm>
            <a:off x="6604000" y="39370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4" name="pl"/>
          <p:cNvSpPr/>
          <p:nvPr/>
        </p:nvSpPr>
        <p:spPr>
          <a:xfrm>
            <a:off x="6604000" y="42926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Evaluator</a:t>
            </a:r>
          </a:p>
        </p:txBody>
      </p:sp>
    </p:spTree>
    <p:extLst>
      <p:ext uri="{BB962C8B-B14F-4D97-AF65-F5344CB8AC3E}">
        <p14:creationId xmlns:p14="http://schemas.microsoft.com/office/powerpoint/2010/main" val="3078327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Review: Programs Are Trees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We learned to evaluate a tree. Now: where does the tree come from?</a:t>
            </a:r>
          </a:p>
        </p:txBody>
      </p:sp>
      <p:sp>
        <p:nvSpPr>
          <p:cNvPr id="302" name="t"/>
          <p:cNvSpPr txBox="1"/>
          <p:nvPr/>
        </p:nvSpPr>
        <p:spPr>
          <a:xfrm>
            <a:off x="508000" y="1346200"/>
            <a:ext cx="40640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Expression tree from Workshop 2</a:t>
            </a:r>
          </a:p>
        </p:txBody>
      </p:sp>
      <p:cxnSp>
        <p:nvCxnSpPr>
          <p:cNvPr id="303" name="ln"/>
          <p:cNvCxnSpPr/>
          <p:nvPr/>
        </p:nvCxnSpPr>
        <p:spPr>
          <a:xfrm flipH="1">
            <a:off x="1524000" y="1930400"/>
            <a:ext cx="635000" cy="8128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4" name="ln"/>
          <p:cNvCxnSpPr/>
          <p:nvPr/>
        </p:nvCxnSpPr>
        <p:spPr>
          <a:xfrm>
            <a:off x="2159000" y="1930400"/>
            <a:ext cx="762000" cy="8128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5" name="ln"/>
          <p:cNvCxnSpPr/>
          <p:nvPr/>
        </p:nvCxnSpPr>
        <p:spPr>
          <a:xfrm flipH="1">
            <a:off x="2489200" y="2743200"/>
            <a:ext cx="431800" cy="8001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6" name="ln"/>
          <p:cNvCxnSpPr/>
          <p:nvPr/>
        </p:nvCxnSpPr>
        <p:spPr>
          <a:xfrm>
            <a:off x="2921000" y="2743200"/>
            <a:ext cx="533400" cy="8001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sp>
        <p:nvSpPr>
          <p:cNvPr id="307" name="s"/>
          <p:cNvSpPr/>
          <p:nvPr/>
        </p:nvSpPr>
        <p:spPr>
          <a:xfrm>
            <a:off x="1892300" y="16637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08" name="s"/>
          <p:cNvSpPr/>
          <p:nvPr/>
        </p:nvSpPr>
        <p:spPr>
          <a:xfrm>
            <a:off x="1257300" y="24765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09" name="s"/>
          <p:cNvSpPr/>
          <p:nvPr/>
        </p:nvSpPr>
        <p:spPr>
          <a:xfrm>
            <a:off x="2654300" y="24765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10" name="s"/>
          <p:cNvSpPr/>
          <p:nvPr/>
        </p:nvSpPr>
        <p:spPr>
          <a:xfrm>
            <a:off x="2235200" y="3289300"/>
            <a:ext cx="508000" cy="5080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11" name="s"/>
          <p:cNvSpPr/>
          <p:nvPr/>
        </p:nvSpPr>
        <p:spPr>
          <a:xfrm>
            <a:off x="3200400" y="3289300"/>
            <a:ext cx="508000" cy="5080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12" name="s"/>
          <p:cNvSpPr/>
          <p:nvPr/>
        </p:nvSpPr>
        <p:spPr>
          <a:xfrm>
            <a:off x="4826000" y="1371600"/>
            <a:ext cx="3962400" cy="26670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3" name="t"/>
          <p:cNvSpPr txBox="1"/>
          <p:nvPr/>
        </p:nvSpPr>
        <p:spPr>
          <a:xfrm>
            <a:off x="5105400" y="1625600"/>
            <a:ext cx="3454400" cy="355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Consolas"/>
                <a:cs typeface="Consolas"/>
              </a:rPr>
              <a:t>evaluate(ast)</a:t>
            </a:r>
          </a:p>
        </p:txBody>
      </p:sp>
      <p:sp>
        <p:nvSpPr>
          <p:cNvPr id="314" name="s"/>
          <p:cNvSpPr/>
          <p:nvPr/>
        </p:nvSpPr>
        <p:spPr>
          <a:xfrm>
            <a:off x="5105400" y="2108200"/>
            <a:ext cx="3403600" cy="25400"/>
          </a:xfrm>
          <a:prstGeom prst="rect">
            <a:avLst/>
          </a:prstGeom>
          <a:solidFill>
            <a:srgbClr val="D9D9F0"/>
          </a:solidFill>
        </p:spPr>
        <p:txBody>
          <a:bodyPr wrap="square" rtlCol="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5" name="t"/>
          <p:cNvSpPr txBox="1"/>
          <p:nvPr/>
        </p:nvSpPr>
        <p:spPr>
          <a:xfrm>
            <a:off x="5105400" y="2260600"/>
            <a:ext cx="34544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LAST WEEK</a:t>
            </a:r>
          </a:p>
        </p:txBody>
      </p:sp>
      <p:sp>
        <p:nvSpPr>
          <p:cNvPr id="316" name="t"/>
          <p:cNvSpPr txBox="1"/>
          <p:nvPr/>
        </p:nvSpPr>
        <p:spPr>
          <a:xfrm>
            <a:off x="5105400" y="2489200"/>
            <a:ext cx="3454400" cy="330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1A1A2E"/>
                </a:solidFill>
                <a:latin typeface="Consolas"/>
                <a:cs typeface="Consolas"/>
              </a:rPr>
              <a:t>Tree → Value</a:t>
            </a:r>
          </a:p>
        </p:txBody>
      </p:sp>
      <p:sp>
        <p:nvSpPr>
          <p:cNvPr id="317" name="t"/>
          <p:cNvSpPr txBox="1"/>
          <p:nvPr/>
        </p:nvSpPr>
        <p:spPr>
          <a:xfrm>
            <a:off x="5105400" y="3048000"/>
            <a:ext cx="34544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THIS WEEK</a:t>
            </a:r>
          </a:p>
        </p:txBody>
      </p:sp>
      <p:sp>
        <p:nvSpPr>
          <p:cNvPr id="318" name="t"/>
          <p:cNvSpPr txBox="1"/>
          <p:nvPr/>
        </p:nvSpPr>
        <p:spPr>
          <a:xfrm>
            <a:off x="5105400" y="3276600"/>
            <a:ext cx="3454400" cy="330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Text → Tree</a:t>
            </a:r>
          </a:p>
        </p:txBody>
      </p:sp>
    </p:spTree>
    <p:extLst>
      <p:ext uri="{BB962C8B-B14F-4D97-AF65-F5344CB8AC3E}">
        <p14:creationId xmlns:p14="http://schemas.microsoft.com/office/powerpoint/2010/main" val="419124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"/>
          <p:cNvSpPr txBox="1"/>
          <p:nvPr/>
        </p:nvSpPr>
        <p:spPr>
          <a:xfrm>
            <a:off x="457200" y="3810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</a:rPr>
              <a:t>Real languages do this too</a:t>
            </a:r>
          </a:p>
        </p:txBody>
      </p:sp>
      <p:sp>
        <p:nvSpPr>
          <p:cNvPr id="11" name="s"/>
          <p:cNvSpPr txBox="1"/>
          <p:nvPr/>
        </p:nvSpPr>
        <p:spPr>
          <a:xfrm>
            <a:off x="457200" y="939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77800" b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</a:rPr>
              <a:t>Every language turns text into a tree before running it.</a:t>
            </a:r>
          </a:p>
        </p:txBody>
      </p:sp>
      <p:sp>
        <p:nvSpPr>
          <p:cNvPr id="12" name="s"/>
          <p:cNvSpPr/>
          <p:nvPr/>
        </p:nvSpPr>
        <p:spPr>
          <a:xfrm>
            <a:off x="457200" y="1397000"/>
            <a:ext cx="3987800" cy="2286000"/>
          </a:xfrm>
          <a:prstGeom prst="roundRect">
            <a:avLst>
              <a:gd name="adj" fmla="val 6000"/>
            </a:avLst>
          </a:prstGeom>
          <a:solidFill>
            <a:srgbClr val="F4F4FC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</a:rPr>
              <a:t>ARITHMETIC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2000" b="1">
                <a:solidFill>
                  <a:srgbClr val="242385"/>
                </a:solidFill>
                <a:latin typeface="Consolas"/>
              </a:rPr>
              <a:t>1 + 2 * 3</a:t>
            </a:r>
          </a:p>
          <a:p>
            <a:pPr algn="l">
              <a:spcBef>
                <a:spcPts val="1200"/>
              </a:spcBef>
              <a:buNone/>
            </a:pPr>
            <a:r>
              <a:rPr lang="en-US" sz="1300" b="1">
                <a:solidFill>
                  <a:srgbClr val="5B5BD6"/>
                </a:solidFill>
                <a:latin typeface="Inter Tight"/>
              </a:rPr>
              <a:t>→ an expression tree</a:t>
            </a:r>
          </a:p>
        </p:txBody>
      </p:sp>
      <p:sp>
        <p:nvSpPr>
          <p:cNvPr id="13" name="s"/>
          <p:cNvSpPr/>
          <p:nvPr/>
        </p:nvSpPr>
        <p:spPr>
          <a:xfrm>
            <a:off x="4699000" y="1397000"/>
            <a:ext cx="3987800" cy="2286000"/>
          </a:xfrm>
          <a:prstGeom prst="roundRect">
            <a:avLst>
              <a:gd name="adj" fmla="val 6000"/>
            </a:avLst>
          </a:prstGeom>
          <a:solidFill>
            <a:srgbClr val="EEEEFB"/>
          </a:solidFill>
          <a:ln w="9525">
            <a:solidFill>
              <a:srgbClr val="D9D9F2"/>
            </a:solidFill>
          </a:ln>
        </p:spPr>
        <p:txBody>
          <a:bodyPr wrap="square" lIns="203200" tIns="177800" rIns="177800" bIns="152400" rtlCol="0" anchor="t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5B5BD6"/>
                </a:solidFill>
                <a:latin typeface="Inter Tight"/>
              </a:rPr>
              <a:t>SQL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242385"/>
                </a:solidFill>
                <a:latin typeface="Consolas"/>
              </a:rPr>
              <a:t>SELECT * FROM users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500" b="1" dirty="0">
                <a:solidFill>
                  <a:srgbClr val="242385"/>
                </a:solidFill>
                <a:latin typeface="Consolas"/>
              </a:rPr>
              <a:t>WHERE age &gt; 18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5B5BD6"/>
                </a:solidFill>
                <a:latin typeface="Inter Tight"/>
              </a:rPr>
              <a:t>→ a query tree</a:t>
            </a:r>
          </a:p>
        </p:txBody>
      </p:sp>
      <p:sp>
        <p:nvSpPr>
          <p:cNvPr id="14" name="s"/>
          <p:cNvSpPr/>
          <p:nvPr/>
        </p:nvSpPr>
        <p:spPr>
          <a:xfrm>
            <a:off x="457200" y="3835400"/>
            <a:ext cx="8229600" cy="762000"/>
          </a:xfrm>
          <a:prstGeom prst="roundRect">
            <a:avLst>
              <a:gd name="adj" fmla="val 14000"/>
            </a:avLst>
          </a:prstGeom>
          <a:solidFill>
            <a:srgbClr val="5B5BD6"/>
          </a:solidFill>
          <a:ln>
            <a:noFill/>
          </a:ln>
        </p:spPr>
        <p:txBody>
          <a:bodyPr wrap="square" lIns="203200" tIns="177800" rIns="177800" bIns="15240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</a:rPr>
              <a:t>Python, JavaScript, SQL — all parse to a tree, then walk it.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300">
                <a:solidFill>
                  <a:srgbClr val="FFFFFF"/>
                </a:solidFill>
                <a:latin typeface="Inter Tight"/>
              </a:rPr>
              <a:t>You just built a tiny version of the real thing.</a:t>
            </a:r>
          </a:p>
        </p:txBody>
      </p:sp>
    </p:spTree>
    <p:extLst>
      <p:ext uri="{BB962C8B-B14F-4D97-AF65-F5344CB8AC3E}">
        <p14:creationId xmlns:p14="http://schemas.microsoft.com/office/powerpoint/2010/main" val="1854328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DD4F3-C202-FD46-897B-F71E13A37706}"/>
              </a:ext>
            </a:extLst>
          </p:cNvPr>
          <p:cNvSpPr txBox="1"/>
          <p:nvPr/>
        </p:nvSpPr>
        <p:spPr>
          <a:xfrm>
            <a:off x="381000" y="317500"/>
            <a:ext cx="7620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AST of a SQL query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E1D646-FE8B-0B46-908F-A8E1CC45D7A7}"/>
              </a:ext>
            </a:extLst>
          </p:cNvPr>
          <p:cNvSpPr txBox="1"/>
          <p:nvPr/>
        </p:nvSpPr>
        <p:spPr>
          <a:xfrm>
            <a:off x="381000" y="7620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1A1A2E"/>
                </a:solidFill>
                <a:latin typeface="Consolas"/>
                <a:cs typeface="Consolas"/>
              </a:rPr>
              <a:t>SELECT * FROM users WHERE age &gt; 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39E476-1A33-4348-A4C0-9F079A83F83C}"/>
              </a:ext>
            </a:extLst>
          </p:cNvPr>
          <p:cNvSpPr/>
          <p:nvPr/>
        </p:nvSpPr>
        <p:spPr>
          <a:xfrm>
            <a:off x="4559300" y="1778000"/>
            <a:ext cx="25400" cy="1905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D9721E-8289-3041-8E0B-45432A3109A1}"/>
              </a:ext>
            </a:extLst>
          </p:cNvPr>
          <p:cNvSpPr/>
          <p:nvPr/>
        </p:nvSpPr>
        <p:spPr>
          <a:xfrm>
            <a:off x="1905000" y="1955800"/>
            <a:ext cx="5334000" cy="254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E9B4C-306B-E54D-954E-AB27DB2879B4}"/>
              </a:ext>
            </a:extLst>
          </p:cNvPr>
          <p:cNvSpPr/>
          <p:nvPr/>
        </p:nvSpPr>
        <p:spPr>
          <a:xfrm>
            <a:off x="1892300" y="1968500"/>
            <a:ext cx="25400" cy="3810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8A367B-C278-0147-B55C-A61430CC0ABF}"/>
              </a:ext>
            </a:extLst>
          </p:cNvPr>
          <p:cNvSpPr/>
          <p:nvPr/>
        </p:nvSpPr>
        <p:spPr>
          <a:xfrm>
            <a:off x="4559300" y="1968500"/>
            <a:ext cx="25400" cy="3810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2ACE36-B21D-0043-AD56-E9E5509F4C6B}"/>
              </a:ext>
            </a:extLst>
          </p:cNvPr>
          <p:cNvSpPr/>
          <p:nvPr/>
        </p:nvSpPr>
        <p:spPr>
          <a:xfrm>
            <a:off x="7226300" y="1968500"/>
            <a:ext cx="25400" cy="3810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7DD803-B9DE-284F-A205-CA9B1495C0E3}"/>
              </a:ext>
            </a:extLst>
          </p:cNvPr>
          <p:cNvSpPr/>
          <p:nvPr/>
        </p:nvSpPr>
        <p:spPr>
          <a:xfrm>
            <a:off x="1892300" y="2806700"/>
            <a:ext cx="25400" cy="4318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167D64-2AF9-7D46-84F7-3C4BFB7515A1}"/>
              </a:ext>
            </a:extLst>
          </p:cNvPr>
          <p:cNvSpPr/>
          <p:nvPr/>
        </p:nvSpPr>
        <p:spPr>
          <a:xfrm>
            <a:off x="4559300" y="2806700"/>
            <a:ext cx="25400" cy="4318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E9BAF7-2829-B740-984E-8ED53EFB8FD9}"/>
              </a:ext>
            </a:extLst>
          </p:cNvPr>
          <p:cNvSpPr/>
          <p:nvPr/>
        </p:nvSpPr>
        <p:spPr>
          <a:xfrm>
            <a:off x="7226300" y="2806700"/>
            <a:ext cx="25400" cy="4318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86AB2A-89DE-694E-AF83-D184A095A047}"/>
              </a:ext>
            </a:extLst>
          </p:cNvPr>
          <p:cNvSpPr/>
          <p:nvPr/>
        </p:nvSpPr>
        <p:spPr>
          <a:xfrm>
            <a:off x="7226300" y="3670300"/>
            <a:ext cx="25400" cy="1524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CAE3B8-218E-7141-B3F7-94B9ACDCAB5D}"/>
              </a:ext>
            </a:extLst>
          </p:cNvPr>
          <p:cNvSpPr/>
          <p:nvPr/>
        </p:nvSpPr>
        <p:spPr>
          <a:xfrm>
            <a:off x="6604000" y="3810000"/>
            <a:ext cx="1270000" cy="254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43A4D0-856D-DF43-B4BC-919CC2FFBD1E}"/>
              </a:ext>
            </a:extLst>
          </p:cNvPr>
          <p:cNvSpPr/>
          <p:nvPr/>
        </p:nvSpPr>
        <p:spPr>
          <a:xfrm>
            <a:off x="6591300" y="3822700"/>
            <a:ext cx="25400" cy="3048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3F68D2-7337-F04F-A695-AD3B9138599B}"/>
              </a:ext>
            </a:extLst>
          </p:cNvPr>
          <p:cNvSpPr/>
          <p:nvPr/>
        </p:nvSpPr>
        <p:spPr>
          <a:xfrm>
            <a:off x="7861300" y="3822700"/>
            <a:ext cx="25400" cy="304800"/>
          </a:xfrm>
          <a:prstGeom prst="rect">
            <a:avLst/>
          </a:prstGeom>
          <a:solidFill>
            <a:srgbClr val="5B5B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4689C87-17DD-444B-8ED2-DCAA1B37D390}"/>
              </a:ext>
            </a:extLst>
          </p:cNvPr>
          <p:cNvSpPr/>
          <p:nvPr/>
        </p:nvSpPr>
        <p:spPr>
          <a:xfrm>
            <a:off x="3873500" y="1270000"/>
            <a:ext cx="1397000" cy="5080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Select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2E802DA-0792-054B-BD0F-BD05888075FD}"/>
              </a:ext>
            </a:extLst>
          </p:cNvPr>
          <p:cNvSpPr/>
          <p:nvPr/>
        </p:nvSpPr>
        <p:spPr>
          <a:xfrm>
            <a:off x="1270000" y="2349500"/>
            <a:ext cx="1270000" cy="457200"/>
          </a:xfrm>
          <a:prstGeom prst="roundRect">
            <a:avLst/>
          </a:prstGeom>
          <a:solidFill>
            <a:srgbClr val="E8E8F8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columns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CBF3977-E358-A64C-92FF-4F58629A459F}"/>
              </a:ext>
            </a:extLst>
          </p:cNvPr>
          <p:cNvSpPr/>
          <p:nvPr/>
        </p:nvSpPr>
        <p:spPr>
          <a:xfrm>
            <a:off x="3937000" y="2349500"/>
            <a:ext cx="1270000" cy="457200"/>
          </a:xfrm>
          <a:prstGeom prst="roundRect">
            <a:avLst/>
          </a:prstGeom>
          <a:solidFill>
            <a:srgbClr val="E8E8F8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from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4E04784-3B29-3D42-ABF1-28AB20A4D5EA}"/>
              </a:ext>
            </a:extLst>
          </p:cNvPr>
          <p:cNvSpPr/>
          <p:nvPr/>
        </p:nvSpPr>
        <p:spPr>
          <a:xfrm>
            <a:off x="6604000" y="2349500"/>
            <a:ext cx="1270000" cy="457200"/>
          </a:xfrm>
          <a:prstGeom prst="roundRect">
            <a:avLst/>
          </a:prstGeom>
          <a:solidFill>
            <a:srgbClr val="E8E8F8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where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BAB9225-6546-AF4C-B115-745DCC331879}"/>
              </a:ext>
            </a:extLst>
          </p:cNvPr>
          <p:cNvSpPr/>
          <p:nvPr/>
        </p:nvSpPr>
        <p:spPr>
          <a:xfrm>
            <a:off x="1397000" y="3238500"/>
            <a:ext cx="1016000" cy="431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2F1FCCA-653A-0743-8870-DBA44E6C3CD5}"/>
              </a:ext>
            </a:extLst>
          </p:cNvPr>
          <p:cNvSpPr/>
          <p:nvPr/>
        </p:nvSpPr>
        <p:spPr>
          <a:xfrm>
            <a:off x="4064000" y="3238500"/>
            <a:ext cx="1016000" cy="431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users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60B5764-C1CD-904C-BC4C-8124B4D258BD}"/>
              </a:ext>
            </a:extLst>
          </p:cNvPr>
          <p:cNvSpPr/>
          <p:nvPr/>
        </p:nvSpPr>
        <p:spPr>
          <a:xfrm>
            <a:off x="6731000" y="3238500"/>
            <a:ext cx="1016000" cy="431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&gt;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615E91A-CF7B-4D41-B635-527646F5C560}"/>
              </a:ext>
            </a:extLst>
          </p:cNvPr>
          <p:cNvSpPr/>
          <p:nvPr/>
        </p:nvSpPr>
        <p:spPr>
          <a:xfrm>
            <a:off x="6223000" y="4127500"/>
            <a:ext cx="762000" cy="406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42385"/>
                </a:solidFill>
                <a:latin typeface="Consolas"/>
                <a:cs typeface="Consolas"/>
              </a:rPr>
              <a:t>age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210C880-2AB6-DF42-AF46-981CEB60CC58}"/>
              </a:ext>
            </a:extLst>
          </p:cNvPr>
          <p:cNvSpPr/>
          <p:nvPr/>
        </p:nvSpPr>
        <p:spPr>
          <a:xfrm>
            <a:off x="7493000" y="4127500"/>
            <a:ext cx="762000" cy="406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5B5B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42385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5989A80-8D4D-7844-AD49-192F25E1E73B}"/>
              </a:ext>
            </a:extLst>
          </p:cNvPr>
          <p:cNvSpPr/>
          <p:nvPr/>
        </p:nvSpPr>
        <p:spPr>
          <a:xfrm>
            <a:off x="381000" y="4724400"/>
            <a:ext cx="8382000" cy="304800"/>
          </a:xfrm>
          <a:prstGeom prst="roundRect">
            <a:avLst/>
          </a:prstGeom>
          <a:solidFill>
            <a:srgbClr val="24238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Same shape, different language — the tree is what the engine actually runs.</a:t>
            </a:r>
          </a:p>
        </p:txBody>
      </p:sp>
    </p:spTree>
    <p:extLst>
      <p:ext uri="{BB962C8B-B14F-4D97-AF65-F5344CB8AC3E}">
        <p14:creationId xmlns:p14="http://schemas.microsoft.com/office/powerpoint/2010/main" val="238670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The Missing Piece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We can run a tree — but we still type text. What bridges them?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2260600"/>
            <a:ext cx="2159000" cy="736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000" b="1">
                <a:solidFill>
                  <a:srgbClr val="242385"/>
                </a:solidFill>
                <a:latin typeface="Consolas"/>
                <a:cs typeface="Consolas"/>
              </a:rPr>
              <a:t>1 + 2 * 3</a:t>
            </a:r>
          </a:p>
        </p:txBody>
      </p:sp>
      <p:sp>
        <p:nvSpPr>
          <p:cNvPr id="303" name="t"/>
          <p:cNvSpPr txBox="1"/>
          <p:nvPr/>
        </p:nvSpPr>
        <p:spPr>
          <a:xfrm>
            <a:off x="2717800" y="2362200"/>
            <a:ext cx="558800" cy="5334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8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4" name="s"/>
          <p:cNvSpPr/>
          <p:nvPr/>
        </p:nvSpPr>
        <p:spPr>
          <a:xfrm>
            <a:off x="3327400" y="2019300"/>
            <a:ext cx="1219200" cy="1219200"/>
          </a:xfrm>
          <a:prstGeom prst="roundRect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5000" b="1">
                <a:solidFill>
                  <a:srgbClr val="FFFFFF"/>
                </a:solidFill>
                <a:latin typeface="Inter Tight"/>
                <a:cs typeface="Inter Tight"/>
              </a:rPr>
              <a:t>?</a:t>
            </a:r>
          </a:p>
        </p:txBody>
      </p:sp>
      <p:sp>
        <p:nvSpPr>
          <p:cNvPr id="305" name="t"/>
          <p:cNvSpPr txBox="1"/>
          <p:nvPr/>
        </p:nvSpPr>
        <p:spPr>
          <a:xfrm>
            <a:off x="4597400" y="2362200"/>
            <a:ext cx="558800" cy="5334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8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cxnSp>
        <p:nvCxnSpPr>
          <p:cNvPr id="306" name="ln"/>
          <p:cNvCxnSpPr/>
          <p:nvPr/>
        </p:nvCxnSpPr>
        <p:spPr>
          <a:xfrm flipH="1">
            <a:off x="5969000" y="1905000"/>
            <a:ext cx="635000" cy="7874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7" name="ln"/>
          <p:cNvCxnSpPr/>
          <p:nvPr/>
        </p:nvCxnSpPr>
        <p:spPr>
          <a:xfrm>
            <a:off x="6604000" y="1905000"/>
            <a:ext cx="660400" cy="7874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8" name="ln"/>
          <p:cNvCxnSpPr/>
          <p:nvPr/>
        </p:nvCxnSpPr>
        <p:spPr>
          <a:xfrm flipH="1">
            <a:off x="6908800" y="2692400"/>
            <a:ext cx="355600" cy="7366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9" name="ln"/>
          <p:cNvCxnSpPr/>
          <p:nvPr/>
        </p:nvCxnSpPr>
        <p:spPr>
          <a:xfrm>
            <a:off x="7264400" y="2692400"/>
            <a:ext cx="457200" cy="7366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sp>
        <p:nvSpPr>
          <p:cNvPr id="310" name="s"/>
          <p:cNvSpPr/>
          <p:nvPr/>
        </p:nvSpPr>
        <p:spPr>
          <a:xfrm>
            <a:off x="6350000" y="1651000"/>
            <a:ext cx="508000" cy="5080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11" name="s"/>
          <p:cNvSpPr/>
          <p:nvPr/>
        </p:nvSpPr>
        <p:spPr>
          <a:xfrm>
            <a:off x="5715000" y="2438400"/>
            <a:ext cx="508000" cy="5080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12" name="s"/>
          <p:cNvSpPr/>
          <p:nvPr/>
        </p:nvSpPr>
        <p:spPr>
          <a:xfrm>
            <a:off x="7010400" y="2438400"/>
            <a:ext cx="508000" cy="5080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13" name="s"/>
          <p:cNvSpPr/>
          <p:nvPr/>
        </p:nvSpPr>
        <p:spPr>
          <a:xfrm>
            <a:off x="6667500" y="3187700"/>
            <a:ext cx="482600" cy="4826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14" name="s"/>
          <p:cNvSpPr/>
          <p:nvPr/>
        </p:nvSpPr>
        <p:spPr>
          <a:xfrm>
            <a:off x="7480300" y="3187700"/>
            <a:ext cx="482600" cy="4826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15" name="t"/>
          <p:cNvSpPr txBox="1"/>
          <p:nvPr/>
        </p:nvSpPr>
        <p:spPr>
          <a:xfrm>
            <a:off x="457200" y="4089400"/>
            <a:ext cx="8229600" cy="330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5B5BD6"/>
                </a:solidFill>
                <a:latin typeface="Inter Tight"/>
                <a:cs typeface="Inter Tight"/>
              </a:rPr>
              <a:t>Today, we build the part in the middle.</a:t>
            </a:r>
          </a:p>
        </p:txBody>
      </p:sp>
    </p:spTree>
    <p:extLst>
      <p:ext uri="{BB962C8B-B14F-4D97-AF65-F5344CB8AC3E}">
        <p14:creationId xmlns:p14="http://schemas.microsoft.com/office/powerpoint/2010/main" val="386165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Humans See Meaning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Ask a person to read this — they answer instantly.</a:t>
            </a:r>
          </a:p>
        </p:txBody>
      </p:sp>
      <p:sp>
        <p:nvSpPr>
          <p:cNvPr id="302" name="t"/>
          <p:cNvSpPr txBox="1"/>
          <p:nvPr/>
        </p:nvSpPr>
        <p:spPr>
          <a:xfrm>
            <a:off x="457200" y="1625600"/>
            <a:ext cx="8229600" cy="9144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4000" b="1">
                <a:solidFill>
                  <a:srgbClr val="242385"/>
                </a:solidFill>
                <a:latin typeface="Consolas"/>
                <a:cs typeface="Consolas"/>
              </a:rPr>
              <a:t>1 + 2 * 3</a:t>
            </a:r>
          </a:p>
        </p:txBody>
      </p:sp>
      <p:sp>
        <p:nvSpPr>
          <p:cNvPr id="303" name="s"/>
          <p:cNvSpPr/>
          <p:nvPr/>
        </p:nvSpPr>
        <p:spPr>
          <a:xfrm>
            <a:off x="2984500" y="2641600"/>
            <a:ext cx="3175000" cy="5080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A1A2E"/>
                </a:solidFill>
                <a:latin typeface="Inter Tight"/>
                <a:cs typeface="Inter Tight"/>
              </a:rPr>
              <a:t>What is the answer?</a:t>
            </a:r>
          </a:p>
        </p:txBody>
      </p:sp>
      <p:sp>
        <p:nvSpPr>
          <p:cNvPr id="304" name="t"/>
          <p:cNvSpPr txBox="1"/>
          <p:nvPr/>
        </p:nvSpPr>
        <p:spPr>
          <a:xfrm>
            <a:off x="457200" y="3251200"/>
            <a:ext cx="8229600" cy="7366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4000" b="1">
                <a:solidFill>
                  <a:srgbClr val="5B5BD6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305" name="s"/>
          <p:cNvSpPr/>
          <p:nvPr/>
        </p:nvSpPr>
        <p:spPr>
          <a:xfrm>
            <a:off x="457200" y="4064000"/>
            <a:ext cx="8229600" cy="508000"/>
          </a:xfrm>
          <a:prstGeom prst="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Humans instantly recognize structure.</a:t>
            </a:r>
          </a:p>
        </p:txBody>
      </p:sp>
    </p:spTree>
    <p:extLst>
      <p:ext uri="{BB962C8B-B14F-4D97-AF65-F5344CB8AC3E}">
        <p14:creationId xmlns:p14="http://schemas.microsoft.com/office/powerpoint/2010/main" val="3684432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Computers See Characters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To a computer, source code is just a sequence of characters.</a:t>
            </a:r>
          </a:p>
        </p:txBody>
      </p:sp>
      <p:sp>
        <p:nvSpPr>
          <p:cNvPr id="302" name="s"/>
          <p:cNvSpPr/>
          <p:nvPr/>
        </p:nvSpPr>
        <p:spPr>
          <a:xfrm>
            <a:off x="2984500" y="1524000"/>
            <a:ext cx="3175000" cy="609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900" b="1">
                <a:solidFill>
                  <a:srgbClr val="242385"/>
                </a:solidFill>
                <a:latin typeface="Consolas"/>
                <a:cs typeface="Consolas"/>
              </a:rPr>
              <a:t>list("1+2*3")</a:t>
            </a:r>
          </a:p>
        </p:txBody>
      </p:sp>
      <p:sp>
        <p:nvSpPr>
          <p:cNvPr id="303" name="t"/>
          <p:cNvSpPr txBox="1"/>
          <p:nvPr/>
        </p:nvSpPr>
        <p:spPr>
          <a:xfrm>
            <a:off x="4267200" y="2159000"/>
            <a:ext cx="6096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2565400" y="2590800"/>
            <a:ext cx="6604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05" name="s"/>
          <p:cNvSpPr/>
          <p:nvPr/>
        </p:nvSpPr>
        <p:spPr>
          <a:xfrm>
            <a:off x="3403600" y="2590800"/>
            <a:ext cx="6604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06" name="s"/>
          <p:cNvSpPr/>
          <p:nvPr/>
        </p:nvSpPr>
        <p:spPr>
          <a:xfrm>
            <a:off x="4241800" y="2590800"/>
            <a:ext cx="6604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07" name="s"/>
          <p:cNvSpPr/>
          <p:nvPr/>
        </p:nvSpPr>
        <p:spPr>
          <a:xfrm>
            <a:off x="5080000" y="2590800"/>
            <a:ext cx="6604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08" name="s"/>
          <p:cNvSpPr/>
          <p:nvPr/>
        </p:nvSpPr>
        <p:spPr>
          <a:xfrm>
            <a:off x="5918200" y="2590800"/>
            <a:ext cx="6604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09" name="t"/>
          <p:cNvSpPr txBox="1"/>
          <p:nvPr/>
        </p:nvSpPr>
        <p:spPr>
          <a:xfrm>
            <a:off x="457200" y="3378200"/>
            <a:ext cx="82296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ctr">
              <a:buNone/>
            </a:pP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['1', '+', '2', '*', '3']</a:t>
            </a:r>
          </a:p>
        </p:txBody>
      </p:sp>
      <p:sp>
        <p:nvSpPr>
          <p:cNvPr id="310" name="s"/>
          <p:cNvSpPr/>
          <p:nvPr/>
        </p:nvSpPr>
        <p:spPr>
          <a:xfrm>
            <a:off x="457200" y="4064000"/>
            <a:ext cx="8229600" cy="508000"/>
          </a:xfrm>
          <a:prstGeom prst="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Computers don't start with structure.</a:t>
            </a:r>
          </a:p>
        </p:txBody>
      </p:sp>
    </p:spTree>
    <p:extLst>
      <p:ext uri="{BB962C8B-B14F-4D97-AF65-F5344CB8AC3E}">
        <p14:creationId xmlns:p14="http://schemas.microsoft.com/office/powerpoint/2010/main" val="373802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Why Characters Are Not Enough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A stream of characters hides where things begin and end.</a:t>
            </a:r>
          </a:p>
        </p:txBody>
      </p:sp>
      <p:sp>
        <p:nvSpPr>
          <p:cNvPr id="302" name="s"/>
          <p:cNvSpPr/>
          <p:nvPr/>
        </p:nvSpPr>
        <p:spPr>
          <a:xfrm>
            <a:off x="2209800" y="1828800"/>
            <a:ext cx="2362200" cy="838200"/>
          </a:xfrm>
          <a:prstGeom prst="roundRect">
            <a:avLst/>
          </a:prstGeom>
          <a:noFill/>
          <a:ln w="28575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3" name="s"/>
          <p:cNvSpPr/>
          <p:nvPr/>
        </p:nvSpPr>
        <p:spPr>
          <a:xfrm>
            <a:off x="2286000" y="1905000"/>
            <a:ext cx="635000" cy="685800"/>
          </a:xfrm>
          <a:prstGeom prst="roundRect">
            <a:avLst/>
          </a:prstGeom>
          <a:solidFill>
            <a:srgbClr val="EEEEFA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04" name="s"/>
          <p:cNvSpPr/>
          <p:nvPr/>
        </p:nvSpPr>
        <p:spPr>
          <a:xfrm>
            <a:off x="3073400" y="1905000"/>
            <a:ext cx="635000" cy="685800"/>
          </a:xfrm>
          <a:prstGeom prst="roundRect">
            <a:avLst/>
          </a:prstGeom>
          <a:solidFill>
            <a:srgbClr val="EEEEFA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05" name="s"/>
          <p:cNvSpPr/>
          <p:nvPr/>
        </p:nvSpPr>
        <p:spPr>
          <a:xfrm>
            <a:off x="3860800" y="1905000"/>
            <a:ext cx="635000" cy="685800"/>
          </a:xfrm>
          <a:prstGeom prst="roundRect">
            <a:avLst/>
          </a:prstGeom>
          <a:solidFill>
            <a:srgbClr val="EEEEFA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06" name="s"/>
          <p:cNvSpPr/>
          <p:nvPr/>
        </p:nvSpPr>
        <p:spPr>
          <a:xfrm>
            <a:off x="4648200" y="1905000"/>
            <a:ext cx="635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07" name="s"/>
          <p:cNvSpPr/>
          <p:nvPr/>
        </p:nvSpPr>
        <p:spPr>
          <a:xfrm>
            <a:off x="5435600" y="1905000"/>
            <a:ext cx="635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308" name="s"/>
          <p:cNvSpPr/>
          <p:nvPr/>
        </p:nvSpPr>
        <p:spPr>
          <a:xfrm>
            <a:off x="6223000" y="1905000"/>
            <a:ext cx="635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309" name="t"/>
          <p:cNvSpPr txBox="1"/>
          <p:nvPr/>
        </p:nvSpPr>
        <p:spPr>
          <a:xfrm>
            <a:off x="2209800" y="2819400"/>
            <a:ext cx="23622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Inter Tight"/>
                <a:cs typeface="Inter Tight"/>
              </a:rPr>
              <a:t>one number? or three digits?</a:t>
            </a:r>
          </a:p>
        </p:txBody>
      </p:sp>
      <p:sp>
        <p:nvSpPr>
          <p:cNvPr id="310" name="s"/>
          <p:cNvSpPr/>
          <p:nvPr/>
        </p:nvSpPr>
        <p:spPr>
          <a:xfrm>
            <a:off x="2667000" y="3302000"/>
            <a:ext cx="3810000" cy="5334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1A1A2E"/>
                </a:solidFill>
                <a:latin typeface="Inter Tight"/>
                <a:cs typeface="Inter Tight"/>
              </a:rPr>
              <a:t>Is 123 one thing, or three?</a:t>
            </a:r>
          </a:p>
        </p:txBody>
      </p:sp>
      <p:sp>
        <p:nvSpPr>
          <p:cNvPr id="311" name="s"/>
          <p:cNvSpPr/>
          <p:nvPr/>
        </p:nvSpPr>
        <p:spPr>
          <a:xfrm>
            <a:off x="457200" y="4064000"/>
            <a:ext cx="8229600" cy="508000"/>
          </a:xfrm>
          <a:prstGeom prst="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Humans know instantly. Computers must figure it out.</a:t>
            </a:r>
          </a:p>
        </p:txBody>
      </p:sp>
    </p:spTree>
    <p:extLst>
      <p:ext uri="{BB962C8B-B14F-4D97-AF65-F5344CB8AC3E}">
        <p14:creationId xmlns:p14="http://schemas.microsoft.com/office/powerpoint/2010/main" val="80610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The Ambiguity Problem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same characters can describe two different trees.</a:t>
            </a:r>
          </a:p>
        </p:txBody>
      </p:sp>
      <p:sp>
        <p:nvSpPr>
          <p:cNvPr id="302" name="s"/>
          <p:cNvSpPr/>
          <p:nvPr/>
        </p:nvSpPr>
        <p:spPr>
          <a:xfrm>
            <a:off x="4546600" y="1473200"/>
            <a:ext cx="25400" cy="2489200"/>
          </a:xfrm>
          <a:prstGeom prst="rect">
            <a:avLst/>
          </a:prstGeom>
          <a:solidFill>
            <a:srgbClr val="D9D9F0"/>
          </a:solidFill>
        </p:spPr>
        <p:txBody>
          <a:bodyPr wrap="square" rtlCol="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3" name="t"/>
          <p:cNvSpPr txBox="1"/>
          <p:nvPr/>
        </p:nvSpPr>
        <p:spPr>
          <a:xfrm>
            <a:off x="381000" y="1397000"/>
            <a:ext cx="4064000" cy="330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ctr">
              <a:buNone/>
            </a:pPr>
            <a:r>
              <a:rPr lang="en-US" sz="1900" b="1">
                <a:solidFill>
                  <a:srgbClr val="242385"/>
                </a:solidFill>
                <a:latin typeface="Consolas"/>
                <a:cs typeface="Consolas"/>
              </a:rPr>
              <a:t>1 + 2 * 3</a:t>
            </a:r>
          </a:p>
        </p:txBody>
      </p:sp>
      <p:cxnSp>
        <p:nvCxnSpPr>
          <p:cNvPr id="304" name="ln"/>
          <p:cNvCxnSpPr/>
          <p:nvPr/>
        </p:nvCxnSpPr>
        <p:spPr>
          <a:xfrm flipH="1">
            <a:off x="1651000" y="2159000"/>
            <a:ext cx="508000" cy="6350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5" name="ln"/>
          <p:cNvCxnSpPr/>
          <p:nvPr/>
        </p:nvCxnSpPr>
        <p:spPr>
          <a:xfrm>
            <a:off x="2159000" y="2159000"/>
            <a:ext cx="533400" cy="6350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6" name="ln"/>
          <p:cNvCxnSpPr/>
          <p:nvPr/>
        </p:nvCxnSpPr>
        <p:spPr>
          <a:xfrm flipH="1">
            <a:off x="2362200" y="2794000"/>
            <a:ext cx="330200" cy="6096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7" name="ln"/>
          <p:cNvCxnSpPr/>
          <p:nvPr/>
        </p:nvCxnSpPr>
        <p:spPr>
          <a:xfrm>
            <a:off x="2692400" y="2794000"/>
            <a:ext cx="355600" cy="6096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sp>
        <p:nvSpPr>
          <p:cNvPr id="308" name="s"/>
          <p:cNvSpPr/>
          <p:nvPr/>
        </p:nvSpPr>
        <p:spPr>
          <a:xfrm>
            <a:off x="1917700" y="1917700"/>
            <a:ext cx="482600" cy="4826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09" name="s"/>
          <p:cNvSpPr/>
          <p:nvPr/>
        </p:nvSpPr>
        <p:spPr>
          <a:xfrm>
            <a:off x="1409700" y="2552700"/>
            <a:ext cx="482600" cy="4826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10" name="s"/>
          <p:cNvSpPr/>
          <p:nvPr/>
        </p:nvSpPr>
        <p:spPr>
          <a:xfrm>
            <a:off x="2451100" y="2552700"/>
            <a:ext cx="482600" cy="4826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11" name="s"/>
          <p:cNvSpPr/>
          <p:nvPr/>
        </p:nvSpPr>
        <p:spPr>
          <a:xfrm>
            <a:off x="2133600" y="3175000"/>
            <a:ext cx="457200" cy="457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12" name="s"/>
          <p:cNvSpPr/>
          <p:nvPr/>
        </p:nvSpPr>
        <p:spPr>
          <a:xfrm>
            <a:off x="2819400" y="3175000"/>
            <a:ext cx="457200" cy="457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13" name="t"/>
          <p:cNvSpPr txBox="1"/>
          <p:nvPr/>
        </p:nvSpPr>
        <p:spPr>
          <a:xfrm>
            <a:off x="381000" y="3683000"/>
            <a:ext cx="40640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ctr">
              <a:buNone/>
            </a:pPr>
            <a:r>
              <a:rPr lang="en-US" sz="1900" b="1">
                <a:solidFill>
                  <a:srgbClr val="5B5BD6"/>
                </a:solidFill>
                <a:latin typeface="Consolas"/>
                <a:cs typeface="Consolas"/>
              </a:rPr>
              <a:t>= 7</a:t>
            </a:r>
          </a:p>
        </p:txBody>
      </p:sp>
      <p:sp>
        <p:nvSpPr>
          <p:cNvPr id="314" name="t"/>
          <p:cNvSpPr txBox="1"/>
          <p:nvPr/>
        </p:nvSpPr>
        <p:spPr>
          <a:xfrm>
            <a:off x="4699000" y="1397000"/>
            <a:ext cx="4064000" cy="330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ctr">
              <a:buNone/>
            </a:pPr>
            <a:r>
              <a:rPr lang="en-US" sz="1900" b="1">
                <a:solidFill>
                  <a:srgbClr val="242385"/>
                </a:solidFill>
                <a:latin typeface="Consolas"/>
                <a:cs typeface="Consolas"/>
              </a:rPr>
              <a:t>(1 + 2) * 3</a:t>
            </a:r>
          </a:p>
        </p:txBody>
      </p:sp>
      <p:cxnSp>
        <p:nvCxnSpPr>
          <p:cNvPr id="315" name="ln"/>
          <p:cNvCxnSpPr/>
          <p:nvPr/>
        </p:nvCxnSpPr>
        <p:spPr>
          <a:xfrm flipH="1">
            <a:off x="6350000" y="2159000"/>
            <a:ext cx="508000" cy="6350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16" name="ln"/>
          <p:cNvCxnSpPr/>
          <p:nvPr/>
        </p:nvCxnSpPr>
        <p:spPr>
          <a:xfrm>
            <a:off x="6858000" y="2159000"/>
            <a:ext cx="533400" cy="6350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17" name="ln"/>
          <p:cNvCxnSpPr/>
          <p:nvPr/>
        </p:nvCxnSpPr>
        <p:spPr>
          <a:xfrm flipH="1">
            <a:off x="6019800" y="2794000"/>
            <a:ext cx="330200" cy="6096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18" name="ln"/>
          <p:cNvCxnSpPr/>
          <p:nvPr/>
        </p:nvCxnSpPr>
        <p:spPr>
          <a:xfrm>
            <a:off x="6350000" y="2794000"/>
            <a:ext cx="355600" cy="6096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sp>
        <p:nvSpPr>
          <p:cNvPr id="319" name="s"/>
          <p:cNvSpPr/>
          <p:nvPr/>
        </p:nvSpPr>
        <p:spPr>
          <a:xfrm>
            <a:off x="6616700" y="1917700"/>
            <a:ext cx="482600" cy="4826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20" name="s"/>
          <p:cNvSpPr/>
          <p:nvPr/>
        </p:nvSpPr>
        <p:spPr>
          <a:xfrm>
            <a:off x="6108700" y="2552700"/>
            <a:ext cx="482600" cy="4826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21" name="s"/>
          <p:cNvSpPr/>
          <p:nvPr/>
        </p:nvSpPr>
        <p:spPr>
          <a:xfrm>
            <a:off x="7150100" y="2552700"/>
            <a:ext cx="482600" cy="4826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22" name="s"/>
          <p:cNvSpPr/>
          <p:nvPr/>
        </p:nvSpPr>
        <p:spPr>
          <a:xfrm>
            <a:off x="5791200" y="3175000"/>
            <a:ext cx="457200" cy="457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23" name="s"/>
          <p:cNvSpPr/>
          <p:nvPr/>
        </p:nvSpPr>
        <p:spPr>
          <a:xfrm>
            <a:off x="6477000" y="3175000"/>
            <a:ext cx="457200" cy="457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24" name="t"/>
          <p:cNvSpPr txBox="1"/>
          <p:nvPr/>
        </p:nvSpPr>
        <p:spPr>
          <a:xfrm>
            <a:off x="4699000" y="3683000"/>
            <a:ext cx="40640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ctr">
              <a:buNone/>
            </a:pPr>
            <a:r>
              <a:rPr lang="en-US" sz="1900" b="1">
                <a:solidFill>
                  <a:srgbClr val="5B5BD6"/>
                </a:solidFill>
                <a:latin typeface="Consolas"/>
                <a:cs typeface="Consolas"/>
              </a:rPr>
              <a:t>= 9</a:t>
            </a:r>
          </a:p>
        </p:txBody>
      </p:sp>
      <p:sp>
        <p:nvSpPr>
          <p:cNvPr id="325" name="s"/>
          <p:cNvSpPr/>
          <p:nvPr/>
        </p:nvSpPr>
        <p:spPr>
          <a:xfrm>
            <a:off x="457200" y="4064000"/>
            <a:ext cx="8229600" cy="508000"/>
          </a:xfrm>
          <a:prstGeom prst="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Same symbols, different meaning. How does a computer choose?</a:t>
            </a:r>
          </a:p>
        </p:txBody>
      </p:sp>
    </p:spTree>
    <p:extLst>
      <p:ext uri="{BB962C8B-B14F-4D97-AF65-F5344CB8AC3E}">
        <p14:creationId xmlns:p14="http://schemas.microsoft.com/office/powerpoint/2010/main" val="3462883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What Is a Token?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A token bundles characters into one meaningful unit.</a:t>
            </a:r>
          </a:p>
        </p:txBody>
      </p:sp>
      <p:sp>
        <p:nvSpPr>
          <p:cNvPr id="302" name="s"/>
          <p:cNvSpPr/>
          <p:nvPr/>
        </p:nvSpPr>
        <p:spPr>
          <a:xfrm>
            <a:off x="2984500" y="1371600"/>
            <a:ext cx="3175000" cy="5842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000" b="1">
                <a:solidFill>
                  <a:srgbClr val="242385"/>
                </a:solidFill>
                <a:latin typeface="Consolas"/>
                <a:cs typeface="Consolas"/>
              </a:rPr>
              <a:t>1 + 2 * 3</a:t>
            </a:r>
          </a:p>
        </p:txBody>
      </p:sp>
      <p:sp>
        <p:nvSpPr>
          <p:cNvPr id="303" name="t"/>
          <p:cNvSpPr txBox="1"/>
          <p:nvPr/>
        </p:nvSpPr>
        <p:spPr>
          <a:xfrm>
            <a:off x="4267200" y="2006600"/>
            <a:ext cx="609600" cy="3048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0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1295400" y="2413000"/>
            <a:ext cx="1270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NUMBER(1)</a:t>
            </a:r>
          </a:p>
        </p:txBody>
      </p:sp>
      <p:sp>
        <p:nvSpPr>
          <p:cNvPr id="305" name="s"/>
          <p:cNvSpPr/>
          <p:nvPr/>
        </p:nvSpPr>
        <p:spPr>
          <a:xfrm>
            <a:off x="2692400" y="2413000"/>
            <a:ext cx="9144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PLUS</a:t>
            </a:r>
          </a:p>
        </p:txBody>
      </p:sp>
      <p:sp>
        <p:nvSpPr>
          <p:cNvPr id="306" name="s"/>
          <p:cNvSpPr/>
          <p:nvPr/>
        </p:nvSpPr>
        <p:spPr>
          <a:xfrm>
            <a:off x="3733800" y="2413000"/>
            <a:ext cx="1270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NUMBER(2)</a:t>
            </a:r>
          </a:p>
        </p:txBody>
      </p:sp>
      <p:sp>
        <p:nvSpPr>
          <p:cNvPr id="307" name="s"/>
          <p:cNvSpPr/>
          <p:nvPr/>
        </p:nvSpPr>
        <p:spPr>
          <a:xfrm>
            <a:off x="5130800" y="2413000"/>
            <a:ext cx="13208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MULTIPLY</a:t>
            </a:r>
          </a:p>
        </p:txBody>
      </p:sp>
      <p:sp>
        <p:nvSpPr>
          <p:cNvPr id="308" name="s"/>
          <p:cNvSpPr/>
          <p:nvPr/>
        </p:nvSpPr>
        <p:spPr>
          <a:xfrm>
            <a:off x="6578600" y="2413000"/>
            <a:ext cx="1270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NUMBER(3)</a:t>
            </a:r>
          </a:p>
        </p:txBody>
      </p:sp>
      <p:sp>
        <p:nvSpPr>
          <p:cNvPr id="309" name="s"/>
          <p:cNvSpPr/>
          <p:nvPr/>
        </p:nvSpPr>
        <p:spPr>
          <a:xfrm>
            <a:off x="1778000" y="3200400"/>
            <a:ext cx="5588000" cy="685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900" b="1">
                <a:solidFill>
                  <a:srgbClr val="5B5BD6"/>
                </a:solidFill>
                <a:latin typeface="Inter Tight"/>
                <a:cs typeface="Inter Tight"/>
              </a:rPr>
              <a:t>Token</a:t>
            </a:r>
            <a:r>
              <a:rPr lang="en-US" sz="1700">
                <a:solidFill>
                  <a:srgbClr val="1A1A2E"/>
                </a:solidFill>
                <a:latin typeface="Inter Tight"/>
                <a:cs typeface="Inter Tight"/>
              </a:rPr>
              <a:t>  =  a meaningful unit of source code</a:t>
            </a:r>
          </a:p>
        </p:txBody>
      </p:sp>
    </p:spTree>
    <p:extLst>
      <p:ext uri="{BB962C8B-B14F-4D97-AF65-F5344CB8AC3E}">
        <p14:creationId xmlns:p14="http://schemas.microsoft.com/office/powerpoint/2010/main" val="1061011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Token Examples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Every construct breaks down into a stream of tokens.</a:t>
            </a:r>
          </a:p>
        </p:txBody>
      </p:sp>
      <p:sp>
        <p:nvSpPr>
          <p:cNvPr id="302" name="s"/>
          <p:cNvSpPr/>
          <p:nvPr/>
        </p:nvSpPr>
        <p:spPr>
          <a:xfrm>
            <a:off x="381000" y="1371600"/>
            <a:ext cx="4064000" cy="26924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3" name="t"/>
          <p:cNvSpPr txBox="1"/>
          <p:nvPr/>
        </p:nvSpPr>
        <p:spPr>
          <a:xfrm>
            <a:off x="635000" y="1524000"/>
            <a:ext cx="35560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EXAMPLE 1</a:t>
            </a:r>
          </a:p>
        </p:txBody>
      </p:sp>
      <p:sp>
        <p:nvSpPr>
          <p:cNvPr id="304" name="t"/>
          <p:cNvSpPr txBox="1"/>
          <p:nvPr/>
        </p:nvSpPr>
        <p:spPr>
          <a:xfrm>
            <a:off x="635000" y="1752600"/>
            <a:ext cx="3556000" cy="355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Consolas"/>
                <a:cs typeface="Consolas"/>
              </a:rPr>
              <a:t>x = 42</a:t>
            </a:r>
          </a:p>
        </p:txBody>
      </p:sp>
      <p:sp>
        <p:nvSpPr>
          <p:cNvPr id="305" name="s"/>
          <p:cNvSpPr/>
          <p:nvPr/>
        </p:nvSpPr>
        <p:spPr>
          <a:xfrm>
            <a:off x="1079500" y="2260600"/>
            <a:ext cx="2667000" cy="3302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onsolas"/>
                <a:cs typeface="Consolas"/>
              </a:rPr>
              <a:t>IDENTIFIER(x)</a:t>
            </a:r>
          </a:p>
        </p:txBody>
      </p:sp>
      <p:sp>
        <p:nvSpPr>
          <p:cNvPr id="306" name="s"/>
          <p:cNvSpPr/>
          <p:nvPr/>
        </p:nvSpPr>
        <p:spPr>
          <a:xfrm>
            <a:off x="1079500" y="2667000"/>
            <a:ext cx="2667000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Consolas"/>
                <a:cs typeface="Consolas"/>
              </a:rPr>
              <a:t>ASSIGN</a:t>
            </a:r>
          </a:p>
        </p:txBody>
      </p:sp>
      <p:sp>
        <p:nvSpPr>
          <p:cNvPr id="307" name="s"/>
          <p:cNvSpPr/>
          <p:nvPr/>
        </p:nvSpPr>
        <p:spPr>
          <a:xfrm>
            <a:off x="1079500" y="3073400"/>
            <a:ext cx="2667000" cy="3302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onsolas"/>
                <a:cs typeface="Consolas"/>
              </a:rPr>
              <a:t>NUMBER(42)</a:t>
            </a:r>
          </a:p>
        </p:txBody>
      </p:sp>
      <p:sp>
        <p:nvSpPr>
          <p:cNvPr id="308" name="s"/>
          <p:cNvSpPr/>
          <p:nvPr/>
        </p:nvSpPr>
        <p:spPr>
          <a:xfrm>
            <a:off x="4699000" y="1371600"/>
            <a:ext cx="4064000" cy="26924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9" name="t"/>
          <p:cNvSpPr txBox="1"/>
          <p:nvPr/>
        </p:nvSpPr>
        <p:spPr>
          <a:xfrm>
            <a:off x="4953000" y="1524000"/>
            <a:ext cx="35560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EXAMPLE 2</a:t>
            </a:r>
          </a:p>
        </p:txBody>
      </p:sp>
      <p:sp>
        <p:nvSpPr>
          <p:cNvPr id="310" name="t"/>
          <p:cNvSpPr txBox="1"/>
          <p:nvPr/>
        </p:nvSpPr>
        <p:spPr>
          <a:xfrm>
            <a:off x="4953000" y="1752600"/>
            <a:ext cx="3556000" cy="355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Consolas"/>
                <a:cs typeface="Consolas"/>
              </a:rPr>
              <a:t>if x &gt; 10</a:t>
            </a:r>
          </a:p>
        </p:txBody>
      </p:sp>
      <p:sp>
        <p:nvSpPr>
          <p:cNvPr id="311" name="s"/>
          <p:cNvSpPr/>
          <p:nvPr/>
        </p:nvSpPr>
        <p:spPr>
          <a:xfrm>
            <a:off x="5397500" y="2260600"/>
            <a:ext cx="2667000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Consolas"/>
                <a:cs typeface="Consolas"/>
              </a:rPr>
              <a:t>IF</a:t>
            </a:r>
          </a:p>
        </p:txBody>
      </p:sp>
      <p:sp>
        <p:nvSpPr>
          <p:cNvPr id="312" name="s"/>
          <p:cNvSpPr/>
          <p:nvPr/>
        </p:nvSpPr>
        <p:spPr>
          <a:xfrm>
            <a:off x="5397500" y="2667000"/>
            <a:ext cx="2667000" cy="3302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onsolas"/>
                <a:cs typeface="Consolas"/>
              </a:rPr>
              <a:t>IDENTIFIER(x)</a:t>
            </a:r>
          </a:p>
        </p:txBody>
      </p:sp>
      <p:sp>
        <p:nvSpPr>
          <p:cNvPr id="313" name="s"/>
          <p:cNvSpPr/>
          <p:nvPr/>
        </p:nvSpPr>
        <p:spPr>
          <a:xfrm>
            <a:off x="5397500" y="3073400"/>
            <a:ext cx="2667000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Consolas"/>
                <a:cs typeface="Consolas"/>
              </a:rPr>
              <a:t>GREATER_THAN</a:t>
            </a:r>
          </a:p>
        </p:txBody>
      </p:sp>
      <p:sp>
        <p:nvSpPr>
          <p:cNvPr id="314" name="s"/>
          <p:cNvSpPr/>
          <p:nvPr/>
        </p:nvSpPr>
        <p:spPr>
          <a:xfrm>
            <a:off x="5397500" y="3479800"/>
            <a:ext cx="2667000" cy="3302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onsolas"/>
                <a:cs typeface="Consolas"/>
              </a:rPr>
              <a:t>NUMBER(10)</a:t>
            </a:r>
          </a:p>
        </p:txBody>
      </p:sp>
    </p:spTree>
    <p:extLst>
      <p:ext uri="{BB962C8B-B14F-4D97-AF65-F5344CB8AC3E}">
        <p14:creationId xmlns:p14="http://schemas.microsoft.com/office/powerpoint/2010/main" val="2145751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SQL Uses Tokens Too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Tokenizing is universal — not just a Python thing.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778000"/>
            <a:ext cx="3175000" cy="11684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l">
              <a:buNone/>
            </a:pPr>
            <a:r>
              <a:rPr lang="en-US" sz="1900" b="1">
                <a:solidFill>
                  <a:srgbClr val="242385"/>
                </a:solidFill>
                <a:latin typeface="Consolas"/>
                <a:cs typeface="Consolas"/>
              </a:rPr>
              <a:t>SELECT name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900" b="1">
                <a:solidFill>
                  <a:srgbClr val="242385"/>
                </a:solidFill>
                <a:latin typeface="Consolas"/>
                <a:cs typeface="Consolas"/>
              </a:rPr>
              <a:t>FROM users</a:t>
            </a:r>
          </a:p>
        </p:txBody>
      </p:sp>
      <p:sp>
        <p:nvSpPr>
          <p:cNvPr id="303" name="t"/>
          <p:cNvSpPr txBox="1"/>
          <p:nvPr/>
        </p:nvSpPr>
        <p:spPr>
          <a:xfrm>
            <a:off x="3810000" y="2133600"/>
            <a:ext cx="584200" cy="4318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8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4" name="s"/>
          <p:cNvSpPr/>
          <p:nvPr/>
        </p:nvSpPr>
        <p:spPr>
          <a:xfrm>
            <a:off x="4622800" y="1574800"/>
            <a:ext cx="3810000" cy="43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SELECT</a:t>
            </a:r>
          </a:p>
        </p:txBody>
      </p:sp>
      <p:sp>
        <p:nvSpPr>
          <p:cNvPr id="305" name="s"/>
          <p:cNvSpPr/>
          <p:nvPr/>
        </p:nvSpPr>
        <p:spPr>
          <a:xfrm>
            <a:off x="4622800" y="2133600"/>
            <a:ext cx="3810000" cy="4318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IDENTIFIER(name)</a:t>
            </a:r>
          </a:p>
        </p:txBody>
      </p:sp>
      <p:sp>
        <p:nvSpPr>
          <p:cNvPr id="306" name="s"/>
          <p:cNvSpPr/>
          <p:nvPr/>
        </p:nvSpPr>
        <p:spPr>
          <a:xfrm>
            <a:off x="4622800" y="2692400"/>
            <a:ext cx="3810000" cy="43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FROM</a:t>
            </a:r>
          </a:p>
        </p:txBody>
      </p:sp>
      <p:sp>
        <p:nvSpPr>
          <p:cNvPr id="307" name="s"/>
          <p:cNvSpPr/>
          <p:nvPr/>
        </p:nvSpPr>
        <p:spPr>
          <a:xfrm>
            <a:off x="4622800" y="3251200"/>
            <a:ext cx="3810000" cy="4318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IDENTIFIER(users)</a:t>
            </a:r>
          </a:p>
        </p:txBody>
      </p:sp>
      <p:sp>
        <p:nvSpPr>
          <p:cNvPr id="308" name="s"/>
          <p:cNvSpPr/>
          <p:nvPr/>
        </p:nvSpPr>
        <p:spPr>
          <a:xfrm>
            <a:off x="457200" y="4064000"/>
            <a:ext cx="8229600" cy="508000"/>
          </a:xfrm>
          <a:prstGeom prst="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All programming languages start with tokens.</a:t>
            </a:r>
          </a:p>
        </p:txBody>
      </p:sp>
    </p:spTree>
    <p:extLst>
      <p:ext uri="{BB962C8B-B14F-4D97-AF65-F5344CB8AC3E}">
        <p14:creationId xmlns:p14="http://schemas.microsoft.com/office/powerpoint/2010/main" val="2760910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"/>
          <p:cNvSpPr txBox="1"/>
          <p:nvPr/>
        </p:nvSpPr>
        <p:spPr>
          <a:xfrm>
            <a:off x="457200" y="539531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1A1A2E"/>
                </a:solidFill>
                <a:latin typeface="Inter Tight"/>
                <a:cs typeface="Inter Tight"/>
              </a:rPr>
              <a:t>Your turn — tokenize this expression.</a:t>
            </a:r>
          </a:p>
        </p:txBody>
      </p:sp>
      <p:sp>
        <p:nvSpPr>
          <p:cNvPr id="302" name="t"/>
          <p:cNvSpPr txBox="1"/>
          <p:nvPr/>
        </p:nvSpPr>
        <p:spPr>
          <a:xfrm>
            <a:off x="457200" y="1574800"/>
            <a:ext cx="8229600" cy="762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600" b="1">
                <a:solidFill>
                  <a:srgbClr val="242385"/>
                </a:solidFill>
                <a:latin typeface="Consolas"/>
                <a:cs typeface="Consolas"/>
              </a:rPr>
              <a:t>12 + 34</a:t>
            </a:r>
          </a:p>
        </p:txBody>
      </p:sp>
      <p:sp>
        <p:nvSpPr>
          <p:cNvPr id="303" name="t"/>
          <p:cNvSpPr txBox="1"/>
          <p:nvPr/>
        </p:nvSpPr>
        <p:spPr>
          <a:xfrm>
            <a:off x="4267200" y="2438400"/>
            <a:ext cx="6096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25654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NUMBER(12)</a:t>
            </a:r>
          </a:p>
        </p:txBody>
      </p:sp>
      <p:sp>
        <p:nvSpPr>
          <p:cNvPr id="305" name="s"/>
          <p:cNvSpPr/>
          <p:nvPr/>
        </p:nvSpPr>
        <p:spPr>
          <a:xfrm>
            <a:off x="4114800" y="2921000"/>
            <a:ext cx="9144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PLUS</a:t>
            </a:r>
          </a:p>
        </p:txBody>
      </p:sp>
      <p:sp>
        <p:nvSpPr>
          <p:cNvPr id="306" name="s"/>
          <p:cNvSpPr/>
          <p:nvPr/>
        </p:nvSpPr>
        <p:spPr>
          <a:xfrm>
            <a:off x="51816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NUMBER(34)</a:t>
            </a:r>
          </a:p>
        </p:txBody>
      </p:sp>
      <p:sp>
        <p:nvSpPr>
          <p:cNvPr id="307" name="s"/>
          <p:cNvSpPr/>
          <p:nvPr/>
        </p:nvSpPr>
        <p:spPr>
          <a:xfrm>
            <a:off x="2032000" y="3810000"/>
            <a:ext cx="5080000" cy="482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1A1A2E"/>
                </a:solidFill>
                <a:latin typeface="Inter Tight"/>
                <a:cs typeface="Inter Tight"/>
              </a:rPr>
              <a:t>Produce the tokens yourself before the reveal.</a:t>
            </a:r>
          </a:p>
        </p:txBody>
      </p:sp>
    </p:spTree>
    <p:extLst>
      <p:ext uri="{BB962C8B-B14F-4D97-AF65-F5344CB8AC3E}">
        <p14:creationId xmlns:p14="http://schemas.microsoft.com/office/powerpoint/2010/main" val="918318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What Is a Lexer?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lexer is the machine that turns characters into tokens.</a:t>
            </a:r>
          </a:p>
        </p:txBody>
      </p:sp>
      <p:sp>
        <p:nvSpPr>
          <p:cNvPr id="302" name="s"/>
          <p:cNvSpPr/>
          <p:nvPr/>
        </p:nvSpPr>
        <p:spPr>
          <a:xfrm>
            <a:off x="1397000" y="1524000"/>
            <a:ext cx="2286000" cy="558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Characters</a:t>
            </a:r>
          </a:p>
        </p:txBody>
      </p:sp>
      <p:sp>
        <p:nvSpPr>
          <p:cNvPr id="303" name="t"/>
          <p:cNvSpPr txBox="1"/>
          <p:nvPr/>
        </p:nvSpPr>
        <p:spPr>
          <a:xfrm>
            <a:off x="2286000" y="2082800"/>
            <a:ext cx="508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1397000" y="2438400"/>
            <a:ext cx="2286000" cy="558800"/>
          </a:xfrm>
          <a:prstGeom prst="roundRect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onsolas"/>
                <a:cs typeface="Consolas"/>
              </a:rPr>
              <a:t>Lexer</a:t>
            </a:r>
          </a:p>
        </p:txBody>
      </p:sp>
      <p:sp>
        <p:nvSpPr>
          <p:cNvPr id="305" name="t"/>
          <p:cNvSpPr txBox="1"/>
          <p:nvPr/>
        </p:nvSpPr>
        <p:spPr>
          <a:xfrm>
            <a:off x="2286000" y="2997200"/>
            <a:ext cx="508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6" name="s"/>
          <p:cNvSpPr/>
          <p:nvPr/>
        </p:nvSpPr>
        <p:spPr>
          <a:xfrm>
            <a:off x="1397000" y="3352800"/>
            <a:ext cx="2286000" cy="558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Tokens</a:t>
            </a:r>
          </a:p>
        </p:txBody>
      </p:sp>
      <p:sp>
        <p:nvSpPr>
          <p:cNvPr id="307" name="s"/>
          <p:cNvSpPr/>
          <p:nvPr/>
        </p:nvSpPr>
        <p:spPr>
          <a:xfrm>
            <a:off x="4826000" y="1524000"/>
            <a:ext cx="3937000" cy="2463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8" name="t"/>
          <p:cNvSpPr txBox="1"/>
          <p:nvPr/>
        </p:nvSpPr>
        <p:spPr>
          <a:xfrm>
            <a:off x="5080000" y="1701800"/>
            <a:ext cx="34290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THE ALGORITHM</a:t>
            </a:r>
          </a:p>
        </p:txBody>
      </p:sp>
      <p:sp>
        <p:nvSpPr>
          <p:cNvPr id="309" name="s"/>
          <p:cNvSpPr/>
          <p:nvPr/>
        </p:nvSpPr>
        <p:spPr>
          <a:xfrm>
            <a:off x="5080000" y="20828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1</a:t>
            </a:r>
          </a:p>
        </p:txBody>
      </p:sp>
      <p:sp>
        <p:nvSpPr>
          <p:cNvPr id="310" name="t"/>
          <p:cNvSpPr txBox="1"/>
          <p:nvPr/>
        </p:nvSpPr>
        <p:spPr>
          <a:xfrm>
            <a:off x="5537200" y="21209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Read a character</a:t>
            </a:r>
          </a:p>
        </p:txBody>
      </p:sp>
      <p:sp>
        <p:nvSpPr>
          <p:cNvPr id="311" name="s"/>
          <p:cNvSpPr/>
          <p:nvPr/>
        </p:nvSpPr>
        <p:spPr>
          <a:xfrm>
            <a:off x="5080000" y="25400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2</a:t>
            </a:r>
          </a:p>
        </p:txBody>
      </p:sp>
      <p:sp>
        <p:nvSpPr>
          <p:cNvPr id="312" name="t"/>
          <p:cNvSpPr txBox="1"/>
          <p:nvPr/>
        </p:nvSpPr>
        <p:spPr>
          <a:xfrm>
            <a:off x="5537200" y="25781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Classify it</a:t>
            </a:r>
          </a:p>
        </p:txBody>
      </p:sp>
      <p:sp>
        <p:nvSpPr>
          <p:cNvPr id="313" name="s"/>
          <p:cNvSpPr/>
          <p:nvPr/>
        </p:nvSpPr>
        <p:spPr>
          <a:xfrm>
            <a:off x="5080000" y="29972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3</a:t>
            </a:r>
          </a:p>
        </p:txBody>
      </p:sp>
      <p:sp>
        <p:nvSpPr>
          <p:cNvPr id="314" name="t"/>
          <p:cNvSpPr txBox="1"/>
          <p:nvPr/>
        </p:nvSpPr>
        <p:spPr>
          <a:xfrm>
            <a:off x="5537200" y="30353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Emit a token</a:t>
            </a:r>
          </a:p>
        </p:txBody>
      </p:sp>
      <p:sp>
        <p:nvSpPr>
          <p:cNvPr id="315" name="s"/>
          <p:cNvSpPr/>
          <p:nvPr/>
        </p:nvSpPr>
        <p:spPr>
          <a:xfrm>
            <a:off x="5080000" y="34544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4</a:t>
            </a:r>
          </a:p>
        </p:txBody>
      </p:sp>
      <p:sp>
        <p:nvSpPr>
          <p:cNvPr id="316" name="t"/>
          <p:cNvSpPr txBox="1"/>
          <p:nvPr/>
        </p:nvSpPr>
        <p:spPr>
          <a:xfrm>
            <a:off x="5537200" y="34925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3934292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Live Demo: Tiny </a:t>
            </a:r>
            <a:r>
              <a:rPr lang="en-US" sz="2800" b="1" dirty="0" err="1">
                <a:solidFill>
                  <a:srgbClr val="242385"/>
                </a:solidFill>
                <a:latin typeface="Inter Tight"/>
                <a:cs typeface="Inter Tight"/>
              </a:rPr>
              <a:t>Lexer</a:t>
            </a:r>
            <a:endParaRPr lang="en-US" sz="2800" b="1" dirty="0">
              <a:solidFill>
                <a:srgbClr val="242385"/>
              </a:solidFill>
              <a:latin typeface="Inter Tight"/>
              <a:cs typeface="Inter Tight"/>
            </a:endParaRP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Let's build the simplest possible tokenizer, together.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625600"/>
            <a:ext cx="4572000" cy="19050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A9A4F5"/>
                </a:solidFill>
                <a:latin typeface="Consolas"/>
                <a:cs typeface="Consolas"/>
              </a:rPr>
              <a:t>def </a:t>
            </a:r>
            <a:r>
              <a:rPr lang="en-US" sz="1700" b="1">
                <a:solidFill>
                  <a:srgbClr val="FFFFFF"/>
                </a:solidFill>
                <a:latin typeface="Consolas"/>
                <a:cs typeface="Consolas"/>
              </a:rPr>
              <a:t>tokenize</a:t>
            </a:r>
            <a:r>
              <a:rPr lang="en-US" sz="1700">
                <a:solidFill>
                  <a:srgbClr val="FFFFFF"/>
                </a:solidFill>
                <a:latin typeface="Consolas"/>
                <a:cs typeface="Consolas"/>
              </a:rPr>
              <a:t>(text):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700">
                <a:solidFill>
                  <a:srgbClr val="8A90A6"/>
                </a:solidFill>
                <a:latin typeface="Consolas"/>
                <a:cs typeface="Consolas"/>
              </a:rPr>
              <a:t>    pass</a:t>
            </a:r>
          </a:p>
          <a:p>
            <a:pPr algn="l">
              <a:spcBef>
                <a:spcPts val="900"/>
              </a:spcBef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  # one token at a time</a:t>
            </a:r>
          </a:p>
        </p:txBody>
      </p:sp>
      <p:sp>
        <p:nvSpPr>
          <p:cNvPr id="303" name="s"/>
          <p:cNvSpPr/>
          <p:nvPr/>
        </p:nvSpPr>
        <p:spPr>
          <a:xfrm>
            <a:off x="5334000" y="1625600"/>
            <a:ext cx="3429000" cy="19050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5588000" y="1803400"/>
            <a:ext cx="29210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GOAL</a:t>
            </a:r>
          </a:p>
        </p:txBody>
      </p:sp>
      <p:sp>
        <p:nvSpPr>
          <p:cNvPr id="305" name="t"/>
          <p:cNvSpPr txBox="1"/>
          <p:nvPr/>
        </p:nvSpPr>
        <p:spPr>
          <a:xfrm>
            <a:off x="5588000" y="2108200"/>
            <a:ext cx="29210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tokenize("1+2")</a:t>
            </a:r>
          </a:p>
        </p:txBody>
      </p:sp>
      <p:sp>
        <p:nvSpPr>
          <p:cNvPr id="306" name="t"/>
          <p:cNvSpPr txBox="1"/>
          <p:nvPr/>
        </p:nvSpPr>
        <p:spPr>
          <a:xfrm>
            <a:off x="5588000" y="2514600"/>
            <a:ext cx="29210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7" name="t"/>
          <p:cNvSpPr txBox="1"/>
          <p:nvPr/>
        </p:nvSpPr>
        <p:spPr>
          <a:xfrm>
            <a:off x="5588000" y="2895600"/>
            <a:ext cx="29210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["1", "+", "2"]</a:t>
            </a:r>
          </a:p>
        </p:txBody>
      </p:sp>
    </p:spTree>
    <p:extLst>
      <p:ext uri="{BB962C8B-B14F-4D97-AF65-F5344CB8AC3E}">
        <p14:creationId xmlns:p14="http://schemas.microsoft.com/office/powerpoint/2010/main" val="819505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Real Lexer Challenges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Real input is more than digits and operators.</a:t>
            </a:r>
          </a:p>
        </p:txBody>
      </p:sp>
      <p:sp>
        <p:nvSpPr>
          <p:cNvPr id="302" name="s"/>
          <p:cNvSpPr/>
          <p:nvPr/>
        </p:nvSpPr>
        <p:spPr>
          <a:xfrm>
            <a:off x="381000" y="1498600"/>
            <a:ext cx="2667000" cy="21082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3" name="t"/>
          <p:cNvSpPr txBox="1"/>
          <p:nvPr/>
        </p:nvSpPr>
        <p:spPr>
          <a:xfrm>
            <a:off x="381000" y="1701800"/>
            <a:ext cx="26670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NUMBERS</a:t>
            </a:r>
          </a:p>
        </p:txBody>
      </p:sp>
      <p:sp>
        <p:nvSpPr>
          <p:cNvPr id="304" name="t"/>
          <p:cNvSpPr txBox="1"/>
          <p:nvPr/>
        </p:nvSpPr>
        <p:spPr>
          <a:xfrm>
            <a:off x="381000" y="2260600"/>
            <a:ext cx="2667000" cy="762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000" b="1">
                <a:solidFill>
                  <a:srgbClr val="242385"/>
                </a:solidFill>
                <a:latin typeface="Consolas"/>
                <a:cs typeface="Consolas"/>
              </a:rPr>
              <a:t>123</a:t>
            </a:r>
          </a:p>
        </p:txBody>
      </p:sp>
      <p:sp>
        <p:nvSpPr>
          <p:cNvPr id="305" name="s"/>
          <p:cNvSpPr/>
          <p:nvPr/>
        </p:nvSpPr>
        <p:spPr>
          <a:xfrm>
            <a:off x="3238500" y="1498600"/>
            <a:ext cx="2667000" cy="21082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6" name="t"/>
          <p:cNvSpPr txBox="1"/>
          <p:nvPr/>
        </p:nvSpPr>
        <p:spPr>
          <a:xfrm>
            <a:off x="3238500" y="1701800"/>
            <a:ext cx="26670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IDENTIFIERS</a:t>
            </a:r>
          </a:p>
        </p:txBody>
      </p:sp>
      <p:sp>
        <p:nvSpPr>
          <p:cNvPr id="307" name="t"/>
          <p:cNvSpPr txBox="1"/>
          <p:nvPr/>
        </p:nvSpPr>
        <p:spPr>
          <a:xfrm>
            <a:off x="3238500" y="2260600"/>
            <a:ext cx="2667000" cy="762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000" b="1">
                <a:solidFill>
                  <a:srgbClr val="242385"/>
                </a:solidFill>
                <a:latin typeface="Consolas"/>
                <a:cs typeface="Consolas"/>
              </a:rPr>
              <a:t>abc</a:t>
            </a:r>
          </a:p>
        </p:txBody>
      </p:sp>
      <p:sp>
        <p:nvSpPr>
          <p:cNvPr id="308" name="s"/>
          <p:cNvSpPr/>
          <p:nvPr/>
        </p:nvSpPr>
        <p:spPr>
          <a:xfrm>
            <a:off x="6096000" y="1498600"/>
            <a:ext cx="2667000" cy="21082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9" name="t"/>
          <p:cNvSpPr txBox="1"/>
          <p:nvPr/>
        </p:nvSpPr>
        <p:spPr>
          <a:xfrm>
            <a:off x="6096000" y="1701800"/>
            <a:ext cx="26670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KEYWORDS</a:t>
            </a:r>
          </a:p>
        </p:txBody>
      </p:sp>
      <p:sp>
        <p:nvSpPr>
          <p:cNvPr id="310" name="t"/>
          <p:cNvSpPr txBox="1"/>
          <p:nvPr/>
        </p:nvSpPr>
        <p:spPr>
          <a:xfrm>
            <a:off x="6096000" y="2260600"/>
            <a:ext cx="2667000" cy="762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000" b="1">
                <a:solidFill>
                  <a:srgbClr val="242385"/>
                </a:solidFill>
                <a:latin typeface="Consolas"/>
                <a:cs typeface="Consolas"/>
              </a:rPr>
              <a:t>if  while</a:t>
            </a:r>
          </a:p>
        </p:txBody>
      </p:sp>
      <p:sp>
        <p:nvSpPr>
          <p:cNvPr id="311" name="s"/>
          <p:cNvSpPr/>
          <p:nvPr/>
        </p:nvSpPr>
        <p:spPr>
          <a:xfrm>
            <a:off x="457200" y="4038600"/>
            <a:ext cx="8229600" cy="508000"/>
          </a:xfrm>
          <a:prstGeom prst="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No implementation yet — just building awareness.</a:t>
            </a:r>
          </a:p>
        </p:txBody>
      </p:sp>
    </p:spTree>
    <p:extLst>
      <p:ext uri="{BB962C8B-B14F-4D97-AF65-F5344CB8AC3E}">
        <p14:creationId xmlns:p14="http://schemas.microsoft.com/office/powerpoint/2010/main" val="465542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Tokens Still Aren't Structure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A flat list of tokens is not yet a tree.</a:t>
            </a:r>
          </a:p>
        </p:txBody>
      </p:sp>
      <p:sp>
        <p:nvSpPr>
          <p:cNvPr id="302" name="t"/>
          <p:cNvSpPr txBox="1"/>
          <p:nvPr/>
        </p:nvSpPr>
        <p:spPr>
          <a:xfrm>
            <a:off x="1841500" y="2006600"/>
            <a:ext cx="508000" cy="711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4400">
                <a:solidFill>
                  <a:srgbClr val="1A1A2E"/>
                </a:solidFill>
                <a:latin typeface="Consolas"/>
                <a:cs typeface="Consolas"/>
              </a:rPr>
              <a:t>[</a:t>
            </a:r>
          </a:p>
        </p:txBody>
      </p:sp>
      <p:sp>
        <p:nvSpPr>
          <p:cNvPr id="303" name="s"/>
          <p:cNvSpPr/>
          <p:nvPr/>
        </p:nvSpPr>
        <p:spPr>
          <a:xfrm>
            <a:off x="2400300" y="2057400"/>
            <a:ext cx="6858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04" name="s"/>
          <p:cNvSpPr/>
          <p:nvPr/>
        </p:nvSpPr>
        <p:spPr>
          <a:xfrm>
            <a:off x="3314700" y="2057400"/>
            <a:ext cx="6858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05" name="s"/>
          <p:cNvSpPr/>
          <p:nvPr/>
        </p:nvSpPr>
        <p:spPr>
          <a:xfrm>
            <a:off x="4229100" y="2057400"/>
            <a:ext cx="6858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06" name="s"/>
          <p:cNvSpPr/>
          <p:nvPr/>
        </p:nvSpPr>
        <p:spPr>
          <a:xfrm>
            <a:off x="5143500" y="2057400"/>
            <a:ext cx="6858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07" name="s"/>
          <p:cNvSpPr/>
          <p:nvPr/>
        </p:nvSpPr>
        <p:spPr>
          <a:xfrm>
            <a:off x="6057900" y="2057400"/>
            <a:ext cx="6858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08" name="t"/>
          <p:cNvSpPr txBox="1"/>
          <p:nvPr/>
        </p:nvSpPr>
        <p:spPr>
          <a:xfrm>
            <a:off x="6794500" y="2006600"/>
            <a:ext cx="508000" cy="711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4400">
                <a:solidFill>
                  <a:srgbClr val="1A1A2E"/>
                </a:solidFill>
                <a:latin typeface="Consolas"/>
                <a:cs typeface="Consolas"/>
              </a:rPr>
              <a:t>]</a:t>
            </a:r>
          </a:p>
        </p:txBody>
      </p:sp>
      <p:sp>
        <p:nvSpPr>
          <p:cNvPr id="309" name="t"/>
          <p:cNvSpPr txBox="1"/>
          <p:nvPr/>
        </p:nvSpPr>
        <p:spPr>
          <a:xfrm>
            <a:off x="457200" y="3175000"/>
            <a:ext cx="8229600" cy="6604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200" b="1">
                <a:solidFill>
                  <a:srgbClr val="5B5BD6"/>
                </a:solidFill>
                <a:latin typeface="Inter Tight"/>
                <a:cs typeface="Inter Tight"/>
              </a:rPr>
              <a:t>Where is the tree?</a:t>
            </a:r>
          </a:p>
        </p:txBody>
      </p:sp>
    </p:spTree>
    <p:extLst>
      <p:ext uri="{BB962C8B-B14F-4D97-AF65-F5344CB8AC3E}">
        <p14:creationId xmlns:p14="http://schemas.microsoft.com/office/powerpoint/2010/main" val="74409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What Is a Parser?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parser assembles tokens into a tree.</a:t>
            </a:r>
          </a:p>
        </p:txBody>
      </p:sp>
      <p:sp>
        <p:nvSpPr>
          <p:cNvPr id="302" name="s"/>
          <p:cNvSpPr/>
          <p:nvPr/>
        </p:nvSpPr>
        <p:spPr>
          <a:xfrm>
            <a:off x="1397000" y="1524000"/>
            <a:ext cx="2286000" cy="558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Tokens</a:t>
            </a:r>
          </a:p>
        </p:txBody>
      </p:sp>
      <p:sp>
        <p:nvSpPr>
          <p:cNvPr id="303" name="t"/>
          <p:cNvSpPr txBox="1"/>
          <p:nvPr/>
        </p:nvSpPr>
        <p:spPr>
          <a:xfrm>
            <a:off x="2286000" y="2082800"/>
            <a:ext cx="508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1397000" y="2438400"/>
            <a:ext cx="2286000" cy="558800"/>
          </a:xfrm>
          <a:prstGeom prst="roundRect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onsolas"/>
                <a:cs typeface="Consolas"/>
              </a:rPr>
              <a:t>Parser</a:t>
            </a:r>
          </a:p>
        </p:txBody>
      </p:sp>
      <p:sp>
        <p:nvSpPr>
          <p:cNvPr id="305" name="t"/>
          <p:cNvSpPr txBox="1"/>
          <p:nvPr/>
        </p:nvSpPr>
        <p:spPr>
          <a:xfrm>
            <a:off x="2286000" y="2997200"/>
            <a:ext cx="508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6" name="s"/>
          <p:cNvSpPr/>
          <p:nvPr/>
        </p:nvSpPr>
        <p:spPr>
          <a:xfrm>
            <a:off x="1397000" y="3352800"/>
            <a:ext cx="2286000" cy="558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AST</a:t>
            </a:r>
          </a:p>
        </p:txBody>
      </p:sp>
      <p:sp>
        <p:nvSpPr>
          <p:cNvPr id="307" name="s"/>
          <p:cNvSpPr/>
          <p:nvPr/>
        </p:nvSpPr>
        <p:spPr>
          <a:xfrm>
            <a:off x="4826000" y="1625600"/>
            <a:ext cx="3937000" cy="2260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8" name="t"/>
          <p:cNvSpPr txBox="1"/>
          <p:nvPr/>
        </p:nvSpPr>
        <p:spPr>
          <a:xfrm>
            <a:off x="5105400" y="1854200"/>
            <a:ext cx="34290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DEFINITION</a:t>
            </a:r>
          </a:p>
        </p:txBody>
      </p:sp>
      <p:sp>
        <p:nvSpPr>
          <p:cNvPr id="309" name="t"/>
          <p:cNvSpPr txBox="1"/>
          <p:nvPr/>
        </p:nvSpPr>
        <p:spPr>
          <a:xfrm>
            <a:off x="5105400" y="2159000"/>
            <a:ext cx="3429000" cy="508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5B5BD6"/>
                </a:solidFill>
                <a:latin typeface="Inter Tight"/>
                <a:cs typeface="Inter Tight"/>
              </a:rPr>
              <a:t>Parser</a:t>
            </a:r>
          </a:p>
        </p:txBody>
      </p:sp>
      <p:sp>
        <p:nvSpPr>
          <p:cNvPr id="310" name="t"/>
          <p:cNvSpPr txBox="1"/>
          <p:nvPr/>
        </p:nvSpPr>
        <p:spPr>
          <a:xfrm>
            <a:off x="5105400" y="2717800"/>
            <a:ext cx="34290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900" b="1">
                <a:solidFill>
                  <a:srgbClr val="1A1A2E"/>
                </a:solidFill>
                <a:latin typeface="Inter Tight"/>
                <a:cs typeface="Inter Tight"/>
              </a:rPr>
              <a:t>= builds structure</a:t>
            </a:r>
          </a:p>
        </p:txBody>
      </p:sp>
      <p:sp>
        <p:nvSpPr>
          <p:cNvPr id="311" name="t"/>
          <p:cNvSpPr txBox="1"/>
          <p:nvPr/>
        </p:nvSpPr>
        <p:spPr>
          <a:xfrm>
            <a:off x="5105400" y="3175000"/>
            <a:ext cx="3429000" cy="558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500">
                <a:solidFill>
                  <a:srgbClr val="1A1A2E"/>
                </a:solidFill>
                <a:latin typeface="Inter Tight"/>
                <a:cs typeface="Inter Tight"/>
              </a:rPr>
              <a:t>It turns a flat list of tokens into a tree.</a:t>
            </a:r>
          </a:p>
        </p:txBody>
      </p:sp>
    </p:spTree>
    <p:extLst>
      <p:ext uri="{BB962C8B-B14F-4D97-AF65-F5344CB8AC3E}">
        <p14:creationId xmlns:p14="http://schemas.microsoft.com/office/powerpoint/2010/main" val="730923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Building a Tree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parser's first job: turn an operator and its operands into a tree.</a:t>
            </a:r>
          </a:p>
        </p:txBody>
      </p:sp>
      <p:sp>
        <p:nvSpPr>
          <p:cNvPr id="302" name="t"/>
          <p:cNvSpPr txBox="1"/>
          <p:nvPr/>
        </p:nvSpPr>
        <p:spPr>
          <a:xfrm>
            <a:off x="762000" y="1625600"/>
            <a:ext cx="25400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INPUT</a:t>
            </a:r>
          </a:p>
        </p:txBody>
      </p:sp>
      <p:sp>
        <p:nvSpPr>
          <p:cNvPr id="303" name="s"/>
          <p:cNvSpPr/>
          <p:nvPr/>
        </p:nvSpPr>
        <p:spPr>
          <a:xfrm>
            <a:off x="762000" y="1981200"/>
            <a:ext cx="2413000" cy="736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242385"/>
                </a:solidFill>
                <a:latin typeface="Consolas"/>
                <a:cs typeface="Consolas"/>
              </a:rPr>
              <a:t>1 + 2</a:t>
            </a:r>
          </a:p>
        </p:txBody>
      </p:sp>
      <p:sp>
        <p:nvSpPr>
          <p:cNvPr id="304" name="t"/>
          <p:cNvSpPr txBox="1"/>
          <p:nvPr/>
        </p:nvSpPr>
        <p:spPr>
          <a:xfrm>
            <a:off x="3378200" y="2133600"/>
            <a:ext cx="685800" cy="508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2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5" name="t"/>
          <p:cNvSpPr txBox="1"/>
          <p:nvPr/>
        </p:nvSpPr>
        <p:spPr>
          <a:xfrm>
            <a:off x="5588000" y="1625600"/>
            <a:ext cx="33020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OUTPUT — AST</a:t>
            </a:r>
          </a:p>
        </p:txBody>
      </p:sp>
      <p:cxnSp>
        <p:nvCxnSpPr>
          <p:cNvPr id="306" name="ln"/>
          <p:cNvCxnSpPr/>
          <p:nvPr/>
        </p:nvCxnSpPr>
        <p:spPr>
          <a:xfrm flipH="1">
            <a:off x="6350000" y="2235200"/>
            <a:ext cx="571500" cy="9144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7" name="ln"/>
          <p:cNvCxnSpPr/>
          <p:nvPr/>
        </p:nvCxnSpPr>
        <p:spPr>
          <a:xfrm>
            <a:off x="6921500" y="2235200"/>
            <a:ext cx="571500" cy="9144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sp>
        <p:nvSpPr>
          <p:cNvPr id="308" name="s"/>
          <p:cNvSpPr/>
          <p:nvPr/>
        </p:nvSpPr>
        <p:spPr>
          <a:xfrm>
            <a:off x="6629400" y="1943100"/>
            <a:ext cx="584200" cy="584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09" name="s"/>
          <p:cNvSpPr/>
          <p:nvPr/>
        </p:nvSpPr>
        <p:spPr>
          <a:xfrm>
            <a:off x="6070600" y="2870200"/>
            <a:ext cx="558800" cy="5588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10" name="s"/>
          <p:cNvSpPr/>
          <p:nvPr/>
        </p:nvSpPr>
        <p:spPr>
          <a:xfrm>
            <a:off x="7213600" y="2870200"/>
            <a:ext cx="558800" cy="5588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11" name="s"/>
          <p:cNvSpPr/>
          <p:nvPr/>
        </p:nvSpPr>
        <p:spPr>
          <a:xfrm>
            <a:off x="457200" y="4064000"/>
            <a:ext cx="8229600" cy="508000"/>
          </a:xfrm>
          <a:prstGeom prst="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The operator becomes the parent; the numbers become its children.</a:t>
            </a:r>
          </a:p>
        </p:txBody>
      </p:sp>
    </p:spTree>
    <p:extLst>
      <p:ext uri="{BB962C8B-B14F-4D97-AF65-F5344CB8AC3E}">
        <p14:creationId xmlns:p14="http://schemas.microsoft.com/office/powerpoint/2010/main" val="3963793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Two Possible Trees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same tokens can build two trees — only one is correct.</a:t>
            </a:r>
          </a:p>
        </p:txBody>
      </p:sp>
      <p:sp>
        <p:nvSpPr>
          <p:cNvPr id="302" name="t"/>
          <p:cNvSpPr txBox="1"/>
          <p:nvPr/>
        </p:nvSpPr>
        <p:spPr>
          <a:xfrm>
            <a:off x="457200" y="13208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242385"/>
                </a:solidFill>
                <a:latin typeface="Consolas"/>
                <a:cs typeface="Consolas"/>
              </a:rPr>
              <a:t>1 + 2 * 3</a:t>
            </a:r>
          </a:p>
        </p:txBody>
      </p:sp>
      <p:sp>
        <p:nvSpPr>
          <p:cNvPr id="303" name="s"/>
          <p:cNvSpPr/>
          <p:nvPr/>
        </p:nvSpPr>
        <p:spPr>
          <a:xfrm>
            <a:off x="4546600" y="1778000"/>
            <a:ext cx="25400" cy="2184400"/>
          </a:xfrm>
          <a:prstGeom prst="rect">
            <a:avLst/>
          </a:prstGeom>
          <a:solidFill>
            <a:srgbClr val="D9D9F0"/>
          </a:solidFill>
        </p:spPr>
        <p:txBody>
          <a:bodyPr wrap="square" rtlCol="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s"/>
          <p:cNvSpPr/>
          <p:nvPr/>
        </p:nvSpPr>
        <p:spPr>
          <a:xfrm>
            <a:off x="1524000" y="1778000"/>
            <a:ext cx="1778000" cy="330200"/>
          </a:xfrm>
          <a:prstGeom prst="roundRect">
            <a:avLst/>
          </a:prstGeom>
          <a:solidFill>
            <a:srgbClr val="D14343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Inter Tight"/>
                <a:cs typeface="Inter Tight"/>
              </a:rPr>
              <a:t>✗  WRONG</a:t>
            </a:r>
          </a:p>
        </p:txBody>
      </p:sp>
      <p:cxnSp>
        <p:nvCxnSpPr>
          <p:cNvPr id="305" name="ln"/>
          <p:cNvCxnSpPr/>
          <p:nvPr/>
        </p:nvCxnSpPr>
        <p:spPr>
          <a:xfrm flipH="1">
            <a:off x="1905000" y="2362200"/>
            <a:ext cx="508000" cy="5842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6" name="ln"/>
          <p:cNvCxnSpPr/>
          <p:nvPr/>
        </p:nvCxnSpPr>
        <p:spPr>
          <a:xfrm>
            <a:off x="2413000" y="2362200"/>
            <a:ext cx="482600" cy="5842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7" name="ln"/>
          <p:cNvCxnSpPr/>
          <p:nvPr/>
        </p:nvCxnSpPr>
        <p:spPr>
          <a:xfrm flipH="1">
            <a:off x="1524000" y="2946400"/>
            <a:ext cx="381000" cy="5842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8" name="ln"/>
          <p:cNvCxnSpPr/>
          <p:nvPr/>
        </p:nvCxnSpPr>
        <p:spPr>
          <a:xfrm>
            <a:off x="1905000" y="2946400"/>
            <a:ext cx="381000" cy="5842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sp>
        <p:nvSpPr>
          <p:cNvPr id="309" name="s"/>
          <p:cNvSpPr/>
          <p:nvPr/>
        </p:nvSpPr>
        <p:spPr>
          <a:xfrm>
            <a:off x="2184400" y="2133600"/>
            <a:ext cx="457200" cy="457200"/>
          </a:xfrm>
          <a:prstGeom prst="ellipse">
            <a:avLst/>
          </a:prstGeom>
          <a:solidFill>
            <a:srgbClr val="D14343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10" name="s"/>
          <p:cNvSpPr/>
          <p:nvPr/>
        </p:nvSpPr>
        <p:spPr>
          <a:xfrm>
            <a:off x="1676400" y="2717800"/>
            <a:ext cx="457200" cy="457200"/>
          </a:xfrm>
          <a:prstGeom prst="ellipse">
            <a:avLst/>
          </a:prstGeom>
          <a:solidFill>
            <a:srgbClr val="D14343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11" name="s"/>
          <p:cNvSpPr/>
          <p:nvPr/>
        </p:nvSpPr>
        <p:spPr>
          <a:xfrm>
            <a:off x="2667000" y="2717800"/>
            <a:ext cx="457200" cy="457200"/>
          </a:xfrm>
          <a:prstGeom prst="ellipse">
            <a:avLst/>
          </a:prstGeom>
          <a:solidFill>
            <a:srgbClr val="D14343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12" name="s"/>
          <p:cNvSpPr/>
          <p:nvPr/>
        </p:nvSpPr>
        <p:spPr>
          <a:xfrm>
            <a:off x="1308100" y="3314700"/>
            <a:ext cx="431800" cy="431800"/>
          </a:xfrm>
          <a:prstGeom prst="ellipse">
            <a:avLst/>
          </a:prstGeom>
          <a:solidFill>
            <a:srgbClr val="D14343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13" name="s"/>
          <p:cNvSpPr/>
          <p:nvPr/>
        </p:nvSpPr>
        <p:spPr>
          <a:xfrm>
            <a:off x="2070100" y="3314700"/>
            <a:ext cx="431800" cy="431800"/>
          </a:xfrm>
          <a:prstGeom prst="ellipse">
            <a:avLst/>
          </a:prstGeom>
          <a:solidFill>
            <a:srgbClr val="D14343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14" name="s"/>
          <p:cNvSpPr/>
          <p:nvPr/>
        </p:nvSpPr>
        <p:spPr>
          <a:xfrm>
            <a:off x="5842000" y="1778000"/>
            <a:ext cx="1778000" cy="330200"/>
          </a:xfrm>
          <a:prstGeom prst="roundRect">
            <a:avLst/>
          </a:prstGeom>
          <a:solidFill>
            <a:srgbClr val="2F9E44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Inter Tight"/>
                <a:cs typeface="Inter Tight"/>
              </a:rPr>
              <a:t>✓  CORRECT</a:t>
            </a:r>
          </a:p>
        </p:txBody>
      </p:sp>
      <p:cxnSp>
        <p:nvCxnSpPr>
          <p:cNvPr id="315" name="ln"/>
          <p:cNvCxnSpPr/>
          <p:nvPr/>
        </p:nvCxnSpPr>
        <p:spPr>
          <a:xfrm flipH="1">
            <a:off x="6350000" y="2362200"/>
            <a:ext cx="508000" cy="5842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16" name="ln"/>
          <p:cNvCxnSpPr/>
          <p:nvPr/>
        </p:nvCxnSpPr>
        <p:spPr>
          <a:xfrm>
            <a:off x="6858000" y="2362200"/>
            <a:ext cx="508000" cy="5842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17" name="ln"/>
          <p:cNvCxnSpPr/>
          <p:nvPr/>
        </p:nvCxnSpPr>
        <p:spPr>
          <a:xfrm flipH="1">
            <a:off x="7010400" y="2946400"/>
            <a:ext cx="355600" cy="5842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18" name="ln"/>
          <p:cNvCxnSpPr/>
          <p:nvPr/>
        </p:nvCxnSpPr>
        <p:spPr>
          <a:xfrm>
            <a:off x="7366000" y="2946400"/>
            <a:ext cx="381000" cy="5842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sp>
        <p:nvSpPr>
          <p:cNvPr id="319" name="s"/>
          <p:cNvSpPr/>
          <p:nvPr/>
        </p:nvSpPr>
        <p:spPr>
          <a:xfrm>
            <a:off x="6629400" y="2133600"/>
            <a:ext cx="457200" cy="457200"/>
          </a:xfrm>
          <a:prstGeom prst="ellipse">
            <a:avLst/>
          </a:prstGeom>
          <a:solidFill>
            <a:srgbClr val="2F9E44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20" name="s"/>
          <p:cNvSpPr/>
          <p:nvPr/>
        </p:nvSpPr>
        <p:spPr>
          <a:xfrm>
            <a:off x="6121400" y="2717800"/>
            <a:ext cx="457200" cy="457200"/>
          </a:xfrm>
          <a:prstGeom prst="ellipse">
            <a:avLst/>
          </a:prstGeom>
          <a:solidFill>
            <a:srgbClr val="2F9E44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21" name="s"/>
          <p:cNvSpPr/>
          <p:nvPr/>
        </p:nvSpPr>
        <p:spPr>
          <a:xfrm>
            <a:off x="7137400" y="2717800"/>
            <a:ext cx="457200" cy="457200"/>
          </a:xfrm>
          <a:prstGeom prst="ellipse">
            <a:avLst/>
          </a:prstGeom>
          <a:solidFill>
            <a:srgbClr val="2F9E44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22" name="s"/>
          <p:cNvSpPr/>
          <p:nvPr/>
        </p:nvSpPr>
        <p:spPr>
          <a:xfrm>
            <a:off x="6794500" y="3314700"/>
            <a:ext cx="431800" cy="431800"/>
          </a:xfrm>
          <a:prstGeom prst="ellipse">
            <a:avLst/>
          </a:prstGeom>
          <a:solidFill>
            <a:srgbClr val="2F9E44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23" name="s"/>
          <p:cNvSpPr/>
          <p:nvPr/>
        </p:nvSpPr>
        <p:spPr>
          <a:xfrm>
            <a:off x="7531100" y="3314700"/>
            <a:ext cx="431800" cy="431800"/>
          </a:xfrm>
          <a:prstGeom prst="ellipse">
            <a:avLst/>
          </a:prstGeom>
          <a:solidFill>
            <a:srgbClr val="2F9E44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24" name="s"/>
          <p:cNvSpPr/>
          <p:nvPr/>
        </p:nvSpPr>
        <p:spPr>
          <a:xfrm>
            <a:off x="457200" y="4064000"/>
            <a:ext cx="8229600" cy="508000"/>
          </a:xfrm>
          <a:prstGeom prst="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Operator precedence decides which tree is correct.</a:t>
            </a:r>
          </a:p>
        </p:txBody>
      </p:sp>
    </p:spTree>
    <p:extLst>
      <p:ext uri="{BB962C8B-B14F-4D97-AF65-F5344CB8AC3E}">
        <p14:creationId xmlns:p14="http://schemas.microsoft.com/office/powerpoint/2010/main" val="1856207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Operator Precedence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Precedence tells the parser which operators bind first.</a:t>
            </a:r>
          </a:p>
        </p:txBody>
      </p:sp>
      <p:sp>
        <p:nvSpPr>
          <p:cNvPr id="302" name="s"/>
          <p:cNvSpPr/>
          <p:nvPr/>
        </p:nvSpPr>
        <p:spPr>
          <a:xfrm>
            <a:off x="2921000" y="1625600"/>
            <a:ext cx="3810000" cy="863600"/>
          </a:xfrm>
          <a:prstGeom prst="roundRect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HIGHEST     </a:t>
            </a:r>
            <a:r>
              <a:rPr lang="en-US" sz="2800" b="1">
                <a:solidFill>
                  <a:srgbClr val="FFFFFF"/>
                </a:solidFill>
                <a:latin typeface="Consolas"/>
                <a:cs typeface="Consolas"/>
              </a:rPr>
              <a:t>*    /</a:t>
            </a:r>
          </a:p>
        </p:txBody>
      </p:sp>
      <p:sp>
        <p:nvSpPr>
          <p:cNvPr id="303" name="s"/>
          <p:cNvSpPr/>
          <p:nvPr/>
        </p:nvSpPr>
        <p:spPr>
          <a:xfrm>
            <a:off x="2921000" y="2667000"/>
            <a:ext cx="3810000" cy="863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242385"/>
                </a:solidFill>
                <a:latin typeface="Inter Tight"/>
                <a:cs typeface="Inter Tight"/>
              </a:rPr>
              <a:t>LOWEST      </a:t>
            </a:r>
            <a:r>
              <a:rPr lang="en-US" sz="2800" b="1">
                <a:solidFill>
                  <a:srgbClr val="242385"/>
                </a:solidFill>
                <a:latin typeface="Consolas"/>
                <a:cs typeface="Consolas"/>
              </a:rPr>
              <a:t>+    −</a:t>
            </a:r>
          </a:p>
        </p:txBody>
      </p:sp>
      <p:sp>
        <p:nvSpPr>
          <p:cNvPr id="304" name="s"/>
          <p:cNvSpPr/>
          <p:nvPr/>
        </p:nvSpPr>
        <p:spPr>
          <a:xfrm>
            <a:off x="1905000" y="1905000"/>
            <a:ext cx="355600" cy="1371600"/>
          </a:xfrm>
          <a:prstGeom prst="downArrow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5" name="t"/>
          <p:cNvSpPr txBox="1"/>
          <p:nvPr/>
        </p:nvSpPr>
        <p:spPr>
          <a:xfrm>
            <a:off x="762000" y="1905000"/>
            <a:ext cx="10668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r">
              <a:buNone/>
            </a:pPr>
            <a:r>
              <a:rPr lang="en-US" sz="1000" b="1">
                <a:solidFill>
                  <a:srgbClr val="5B5BD6"/>
                </a:solidFill>
                <a:latin typeface="Inter Tight"/>
                <a:cs typeface="Inter Tight"/>
              </a:rPr>
              <a:t>BINDS FIRST</a:t>
            </a:r>
          </a:p>
        </p:txBody>
      </p:sp>
      <p:sp>
        <p:nvSpPr>
          <p:cNvPr id="306" name="t"/>
          <p:cNvSpPr txBox="1"/>
          <p:nvPr/>
        </p:nvSpPr>
        <p:spPr>
          <a:xfrm>
            <a:off x="762000" y="3073400"/>
            <a:ext cx="10668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r">
              <a:buNone/>
            </a:pPr>
            <a:r>
              <a:rPr lang="en-US" sz="1000" b="1">
                <a:solidFill>
                  <a:srgbClr val="1A1A2E"/>
                </a:solidFill>
                <a:latin typeface="Inter Tight"/>
                <a:cs typeface="Inter Tight"/>
              </a:rPr>
              <a:t>BINDS LAST</a:t>
            </a:r>
          </a:p>
        </p:txBody>
      </p:sp>
      <p:sp>
        <p:nvSpPr>
          <p:cNvPr id="307" name="s"/>
          <p:cNvSpPr/>
          <p:nvPr/>
        </p:nvSpPr>
        <p:spPr>
          <a:xfrm>
            <a:off x="457200" y="4064000"/>
            <a:ext cx="8229600" cy="508000"/>
          </a:xfrm>
          <a:prstGeom prst="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Higher precedence binds first — that's how ambiguity is resolved.</a:t>
            </a:r>
          </a:p>
        </p:txBody>
      </p:sp>
    </p:spTree>
    <p:extLst>
      <p:ext uri="{BB962C8B-B14F-4D97-AF65-F5344CB8AC3E}">
        <p14:creationId xmlns:p14="http://schemas.microsoft.com/office/powerpoint/2010/main" val="279288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Grammar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7874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A grammar is the set of rules the parser follows — each rule says how one piece is built.</a:t>
            </a:r>
          </a:p>
        </p:txBody>
      </p:sp>
      <p:sp>
        <p:nvSpPr>
          <p:cNvPr id="302" name="s"/>
          <p:cNvSpPr/>
          <p:nvPr/>
        </p:nvSpPr>
        <p:spPr>
          <a:xfrm>
            <a:off x="457200" y="1168400"/>
            <a:ext cx="8229600" cy="2692400"/>
          </a:xfrm>
          <a:prstGeom prst="roundRect">
            <a:avLst>
              <a:gd name="adj" fmla="val 4000"/>
            </a:avLst>
          </a:prstGeom>
          <a:solidFill>
            <a:srgbClr val="EEEEFA"/>
          </a:solidFill>
          <a:ln>
            <a:noFill/>
          </a:ln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305" name="t"/>
          <p:cNvSpPr txBox="1"/>
          <p:nvPr/>
        </p:nvSpPr>
        <p:spPr>
          <a:xfrm>
            <a:off x="711200" y="1320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50">
                <a:solidFill>
                  <a:srgbClr val="5B5BD6"/>
                </a:solidFill>
                <a:latin typeface="Inter Tight"/>
                <a:cs typeface="Inter Tight"/>
              </a:rPr>
              <a:t>THE RULES</a:t>
            </a:r>
          </a:p>
        </p:txBody>
      </p:sp>
      <p:sp>
        <p:nvSpPr>
          <p:cNvPr id="306" name="t"/>
          <p:cNvSpPr txBox="1"/>
          <p:nvPr/>
        </p:nvSpPr>
        <p:spPr>
          <a:xfrm>
            <a:off x="4876800" y="13208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50">
                <a:solidFill>
                  <a:srgbClr val="5B5BD6"/>
                </a:solidFill>
                <a:latin typeface="Inter Tight"/>
                <a:cs typeface="Inter Tight"/>
              </a:rPr>
              <a:t>WHAT EACH RULE MEANS</a:t>
            </a:r>
          </a:p>
        </p:txBody>
      </p:sp>
      <p:sp>
        <p:nvSpPr>
          <p:cNvPr id="307" name="s"/>
          <p:cNvSpPr/>
          <p:nvPr/>
        </p:nvSpPr>
        <p:spPr>
          <a:xfrm>
            <a:off x="4648200" y="1701800"/>
            <a:ext cx="25400" cy="2032000"/>
          </a:xfrm>
          <a:prstGeom prst="rect">
            <a:avLst/>
          </a:prstGeom>
          <a:solidFill>
            <a:srgbClr val="C9C9EC"/>
          </a:solidFill>
          <a:ln>
            <a:noFill/>
          </a:ln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310" name="t"/>
          <p:cNvSpPr txBox="1"/>
          <p:nvPr/>
        </p:nvSpPr>
        <p:spPr>
          <a:xfrm>
            <a:off x="711200" y="17780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expr    →  term ( </a:t>
            </a: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+</a:t>
            </a: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 term )*</a:t>
            </a:r>
          </a:p>
        </p:txBody>
      </p:sp>
      <p:sp>
        <p:nvSpPr>
          <p:cNvPr id="311" name="t"/>
          <p:cNvSpPr txBox="1"/>
          <p:nvPr/>
        </p:nvSpPr>
        <p:spPr>
          <a:xfrm>
            <a:off x="4876800" y="17780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terms joined by </a:t>
            </a:r>
            <a:r>
              <a:rPr lang="en-US" sz="1200" b="1">
                <a:solidFill>
                  <a:srgbClr val="242385"/>
                </a:solidFill>
                <a:latin typeface="Consolas"/>
                <a:cs typeface="Consolas"/>
              </a:rPr>
              <a:t>+</a:t>
            </a: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 or −</a:t>
            </a:r>
          </a:p>
        </p:txBody>
      </p:sp>
      <p:sp>
        <p:nvSpPr>
          <p:cNvPr id="312" name="t"/>
          <p:cNvSpPr txBox="1"/>
          <p:nvPr/>
        </p:nvSpPr>
        <p:spPr>
          <a:xfrm>
            <a:off x="711200" y="23622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term    →  factor ( </a:t>
            </a:r>
            <a:r>
              <a:rPr lang="en-US" sz="1400" b="1">
                <a:solidFill>
                  <a:srgbClr val="5B5BD6"/>
                </a:solidFill>
                <a:latin typeface="Consolas"/>
                <a:cs typeface="Consolas"/>
              </a:rPr>
              <a:t>*</a:t>
            </a: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 factor )*</a:t>
            </a:r>
          </a:p>
        </p:txBody>
      </p:sp>
      <p:sp>
        <p:nvSpPr>
          <p:cNvPr id="313" name="t"/>
          <p:cNvSpPr txBox="1"/>
          <p:nvPr/>
        </p:nvSpPr>
        <p:spPr>
          <a:xfrm>
            <a:off x="4876800" y="23622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factors joined by </a:t>
            </a:r>
            <a:r>
              <a:rPr lang="en-US" sz="1200" b="1">
                <a:solidFill>
                  <a:srgbClr val="5B5BD6"/>
                </a:solidFill>
                <a:latin typeface="Consolas"/>
                <a:cs typeface="Consolas"/>
              </a:rPr>
              <a:t>*</a:t>
            </a: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 or /</a:t>
            </a:r>
          </a:p>
        </p:txBody>
      </p:sp>
      <p:sp>
        <p:nvSpPr>
          <p:cNvPr id="314" name="t"/>
          <p:cNvSpPr txBox="1"/>
          <p:nvPr/>
        </p:nvSpPr>
        <p:spPr>
          <a:xfrm>
            <a:off x="711200" y="29464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factor  →  number | ( expr )</a:t>
            </a:r>
          </a:p>
        </p:txBody>
      </p:sp>
      <p:sp>
        <p:nvSpPr>
          <p:cNvPr id="315" name="t"/>
          <p:cNvSpPr txBox="1"/>
          <p:nvPr/>
        </p:nvSpPr>
        <p:spPr>
          <a:xfrm>
            <a:off x="4876800" y="29464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a number — or a whole expression in ( )</a:t>
            </a:r>
          </a:p>
        </p:txBody>
      </p:sp>
      <p:sp>
        <p:nvSpPr>
          <p:cNvPr id="304" name="s"/>
          <p:cNvSpPr/>
          <p:nvPr/>
        </p:nvSpPr>
        <p:spPr>
          <a:xfrm>
            <a:off x="457200" y="4064000"/>
            <a:ext cx="8229600" cy="533400"/>
          </a:xfrm>
          <a:prstGeom prst="roundRect">
            <a:avLst>
              <a:gd name="adj" fmla="val 10000"/>
            </a:avLst>
          </a:prstGeom>
          <a:solidFill>
            <a:srgbClr val="24238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lang="en-US" sz="1250">
                <a:solidFill>
                  <a:srgbClr val="FFFFFF"/>
                </a:solidFill>
                <a:latin typeface="Inter Tight"/>
                <a:cs typeface="Inter Tight"/>
              </a:rPr>
              <a:t>The same three rules build every expression. Their </a:t>
            </a:r>
            <a:r>
              <a:rPr lang="en-US" sz="1250" b="1">
                <a:solidFill>
                  <a:srgbClr val="FFFFFF"/>
                </a:solidFill>
                <a:latin typeface="Inter Tight"/>
                <a:cs typeface="Inter Tight"/>
              </a:rPr>
              <a:t>order</a:t>
            </a:r>
            <a:r>
              <a:rPr lang="en-US" sz="1250">
                <a:solidFill>
                  <a:srgbClr val="FFFFFF"/>
                </a:solidFill>
                <a:latin typeface="Inter Tight"/>
                <a:cs typeface="Inter Tight"/>
              </a:rPr>
              <a:t> is the precedence — next slide shows how </a:t>
            </a:r>
            <a:r>
              <a:rPr lang="en-US" sz="125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  <a:r>
              <a:rPr lang="en-US" sz="1250">
                <a:solidFill>
                  <a:srgbClr val="FFFFFF"/>
                </a:solidFill>
                <a:latin typeface="Inter Tight"/>
                <a:cs typeface="Inter Tight"/>
              </a:rPr>
              <a:t> wins.</a:t>
            </a:r>
          </a:p>
        </p:txBody>
      </p:sp>
    </p:spTree>
    <p:extLst>
      <p:ext uri="{BB962C8B-B14F-4D97-AF65-F5344CB8AC3E}">
        <p14:creationId xmlns:p14="http://schemas.microsoft.com/office/powerpoint/2010/main" val="1251799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600" b="1">
                <a:solidFill>
                  <a:srgbClr val="242385"/>
                </a:solidFill>
                <a:latin typeface="Inter Tight"/>
                <a:cs typeface="Inter Tight"/>
              </a:rPr>
              <a:t>How Grammar Forces * Before +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7874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grammar is layered — and the layers ARE the precedence.</a:t>
            </a:r>
          </a:p>
        </p:txBody>
      </p:sp>
      <p:sp>
        <p:nvSpPr>
          <p:cNvPr id="302" name="s"/>
          <p:cNvSpPr/>
          <p:nvPr/>
        </p:nvSpPr>
        <p:spPr>
          <a:xfrm>
            <a:off x="457200" y="1168400"/>
            <a:ext cx="3962400" cy="2743200"/>
          </a:xfrm>
          <a:prstGeom prst="roundRect">
            <a:avLst>
              <a:gd name="adj" fmla="val 6000"/>
            </a:avLst>
          </a:prstGeom>
          <a:solidFill>
            <a:srgbClr val="EEEEFA"/>
          </a:solidFill>
          <a:ln>
            <a:noFill/>
          </a:ln>
        </p:spPr>
        <p:txBody>
          <a:bodyPr wrap="square" lIns="152400" tIns="137160" rIns="137160" bIns="91440" anchor="t">
            <a:noAutofit/>
          </a:bodyPr>
          <a:lstStyle/>
          <a:p>
            <a:pPr algn="l">
              <a:buNone/>
            </a:pPr>
            <a:r>
              <a:rPr lang="en-US" sz="1000" b="1" spc="150">
                <a:solidFill>
                  <a:srgbClr val="5B5BD6"/>
                </a:solidFill>
                <a:latin typeface="Inter Tight"/>
                <a:cs typeface="Inter Tight"/>
              </a:rPr>
              <a:t>THE GRAMMAR IS LAYERED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expr    →  term ( </a:t>
            </a: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+</a:t>
            </a: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 term )*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term    →  factor ( </a:t>
            </a:r>
            <a:r>
              <a:rPr lang="en-US" sz="1400" b="1">
                <a:solidFill>
                  <a:srgbClr val="5B5BD6"/>
                </a:solidFill>
                <a:latin typeface="Consolas"/>
                <a:cs typeface="Consolas"/>
              </a:rPr>
              <a:t>*</a:t>
            </a: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 factor )*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factor  →  number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1200" b="1">
                <a:solidFill>
                  <a:srgbClr val="242385"/>
                </a:solidFill>
                <a:latin typeface="Consolas"/>
                <a:cs typeface="Consolas"/>
              </a:rPr>
              <a:t>+</a:t>
            </a:r>
            <a:r>
              <a:rPr lang="en-US" sz="1100">
                <a:solidFill>
                  <a:srgbClr val="1A1A2E"/>
                </a:solidFill>
                <a:latin typeface="Inter Tight"/>
                <a:cs typeface="Inter Tight"/>
              </a:rPr>
              <a:t>  outer rule → binds </a:t>
            </a:r>
            <a:r>
              <a:rPr lang="en-US" sz="1100" b="1">
                <a:solidFill>
                  <a:srgbClr val="242385"/>
                </a:solidFill>
                <a:latin typeface="Inter Tight"/>
                <a:cs typeface="Inter Tight"/>
              </a:rPr>
              <a:t>last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200" b="1">
                <a:solidFill>
                  <a:srgbClr val="5B5BD6"/>
                </a:solidFill>
                <a:latin typeface="Consolas"/>
                <a:cs typeface="Consolas"/>
              </a:rPr>
              <a:t>*</a:t>
            </a:r>
            <a:r>
              <a:rPr lang="en-US" sz="1100">
                <a:solidFill>
                  <a:srgbClr val="1A1A2E"/>
                </a:solidFill>
                <a:latin typeface="Inter Tight"/>
                <a:cs typeface="Inter Tight"/>
              </a:rPr>
              <a:t>  inner rule → binds </a:t>
            </a: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first</a:t>
            </a:r>
          </a:p>
        </p:txBody>
      </p:sp>
      <p:sp>
        <p:nvSpPr>
          <p:cNvPr id="303" name="s"/>
          <p:cNvSpPr/>
          <p:nvPr/>
        </p:nvSpPr>
        <p:spPr>
          <a:xfrm>
            <a:off x="4724400" y="1168400"/>
            <a:ext cx="3962400" cy="2743200"/>
          </a:xfrm>
          <a:prstGeom prst="roundRect">
            <a:avLst>
              <a:gd name="adj" fmla="val 6000"/>
            </a:avLst>
          </a:prstGeom>
          <a:solidFill>
            <a:srgbClr val="EEEEFA"/>
          </a:solidFill>
          <a:ln>
            <a:noFill/>
          </a:ln>
        </p:spPr>
        <p:txBody>
          <a:bodyPr wrap="square" lIns="152400" tIns="137160" rIns="137160" bIns="91440" anchor="t">
            <a:noAutofit/>
          </a:bodyPr>
          <a:lstStyle/>
          <a:p>
            <a:pPr algn="l">
              <a:buNone/>
            </a:pPr>
            <a:r>
              <a:rPr lang="en-US" sz="1000" b="1" spc="150">
                <a:solidFill>
                  <a:srgbClr val="5B5BD6"/>
                </a:solidFill>
                <a:latin typeface="Inter Tight"/>
                <a:cs typeface="Inter Tight"/>
              </a:rPr>
              <a:t>WALKING THROUGH  </a:t>
            </a:r>
            <a:r>
              <a:rPr lang="en-US" sz="1200" b="1">
                <a:solidFill>
                  <a:srgbClr val="242385"/>
                </a:solidFill>
                <a:latin typeface="Consolas"/>
                <a:cs typeface="Consolas"/>
              </a:rPr>
              <a:t>2 + 3 * 4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150" b="1">
                <a:solidFill>
                  <a:srgbClr val="5B5BD6"/>
                </a:solidFill>
                <a:latin typeface="Inter Tight"/>
                <a:cs typeface="Inter Tight"/>
              </a:rPr>
              <a:t>1   </a:t>
            </a:r>
            <a:r>
              <a:rPr lang="en-US" sz="1150">
                <a:solidFill>
                  <a:srgbClr val="1A1A2E"/>
                </a:solidFill>
                <a:latin typeface="Inter Tight"/>
                <a:cs typeface="Inter Tight"/>
              </a:rPr>
              <a:t>expr() takes a term → </a:t>
            </a:r>
            <a:r>
              <a:rPr lang="en-US" sz="1150" b="1">
                <a:solidFill>
                  <a:srgbClr val="242385"/>
                </a:solidFill>
                <a:latin typeface="Consolas"/>
                <a:cs typeface="Consolas"/>
              </a:rPr>
              <a:t>2</a:t>
            </a:r>
          </a:p>
          <a:p>
            <a:pPr algn="l">
              <a:spcBef>
                <a:spcPts val="450"/>
              </a:spcBef>
              <a:buNone/>
            </a:pPr>
            <a:r>
              <a:rPr lang="en-US" sz="1150" b="1">
                <a:solidFill>
                  <a:srgbClr val="5B5BD6"/>
                </a:solidFill>
                <a:latin typeface="Inter Tight"/>
                <a:cs typeface="Inter Tight"/>
              </a:rPr>
              <a:t>2   </a:t>
            </a:r>
            <a:r>
              <a:rPr lang="en-US" sz="1150">
                <a:solidFill>
                  <a:srgbClr val="1A1A2E"/>
                </a:solidFill>
                <a:latin typeface="Inter Tight"/>
                <a:cs typeface="Inter Tight"/>
              </a:rPr>
              <a:t>expr() sees </a:t>
            </a:r>
            <a:r>
              <a:rPr lang="en-US" sz="1150" b="1">
                <a:solidFill>
                  <a:srgbClr val="242385"/>
                </a:solidFill>
                <a:latin typeface="Consolas"/>
                <a:cs typeface="Consolas"/>
              </a:rPr>
              <a:t>+</a:t>
            </a:r>
            <a:r>
              <a:rPr lang="en-US" sz="1150">
                <a:solidFill>
                  <a:srgbClr val="1A1A2E"/>
                </a:solidFill>
                <a:latin typeface="Inter Tight"/>
                <a:cs typeface="Inter Tight"/>
              </a:rPr>
              <a:t>, asks for one more term</a:t>
            </a:r>
          </a:p>
          <a:p>
            <a:pPr algn="l">
              <a:spcBef>
                <a:spcPts val="450"/>
              </a:spcBef>
              <a:buNone/>
            </a:pPr>
            <a:r>
              <a:rPr lang="en-US" sz="1150" b="1">
                <a:solidFill>
                  <a:srgbClr val="5B5BD6"/>
                </a:solidFill>
                <a:latin typeface="Inter Tight"/>
                <a:cs typeface="Inter Tight"/>
              </a:rPr>
              <a:t>3   </a:t>
            </a:r>
            <a:r>
              <a:rPr lang="en-US" sz="1150">
                <a:solidFill>
                  <a:srgbClr val="1A1A2E"/>
                </a:solidFill>
                <a:latin typeface="Inter Tight"/>
                <a:cs typeface="Inter Tight"/>
              </a:rPr>
              <a:t>term() can't stop at 3 — it grabs </a:t>
            </a:r>
            <a:r>
              <a:rPr lang="en-US" sz="1150" b="1">
                <a:solidFill>
                  <a:srgbClr val="5B5BD6"/>
                </a:solidFill>
                <a:latin typeface="Consolas"/>
                <a:cs typeface="Consolas"/>
              </a:rPr>
              <a:t>3 * 4</a:t>
            </a:r>
            <a:r>
              <a:rPr lang="en-US" sz="1150">
                <a:solidFill>
                  <a:srgbClr val="1A1A2E"/>
                </a:solidFill>
                <a:latin typeface="Inter Tight"/>
                <a:cs typeface="Inter Tight"/>
              </a:rPr>
              <a:t> whole</a:t>
            </a:r>
          </a:p>
          <a:p>
            <a:pPr algn="l">
              <a:spcBef>
                <a:spcPts val="450"/>
              </a:spcBef>
              <a:buNone/>
            </a:pPr>
            <a:r>
              <a:rPr lang="en-US" sz="1150" b="1">
                <a:solidFill>
                  <a:srgbClr val="5B5BD6"/>
                </a:solidFill>
                <a:latin typeface="Inter Tight"/>
                <a:cs typeface="Inter Tight"/>
              </a:rPr>
              <a:t>4   </a:t>
            </a:r>
            <a:r>
              <a:rPr lang="en-US" sz="1150">
                <a:solidFill>
                  <a:srgbClr val="1A1A2E"/>
                </a:solidFill>
                <a:latin typeface="Inter Tight"/>
                <a:cs typeface="Inter Tight"/>
              </a:rPr>
              <a:t>only now expr() adds → </a:t>
            </a:r>
            <a:r>
              <a:rPr lang="en-US" sz="1150" b="1">
                <a:solidFill>
                  <a:srgbClr val="242385"/>
                </a:solidFill>
                <a:latin typeface="Consolas"/>
                <a:cs typeface="Consolas"/>
              </a:rPr>
              <a:t>2 + (3 * 4)</a:t>
            </a:r>
          </a:p>
        </p:txBody>
      </p:sp>
      <p:sp>
        <p:nvSpPr>
          <p:cNvPr id="304" name="s"/>
          <p:cNvSpPr/>
          <p:nvPr/>
        </p:nvSpPr>
        <p:spPr>
          <a:xfrm>
            <a:off x="457200" y="4064000"/>
            <a:ext cx="8229600" cy="533400"/>
          </a:xfrm>
          <a:prstGeom prst="roundRect">
            <a:avLst>
              <a:gd name="adj" fmla="val 10000"/>
            </a:avLst>
          </a:prstGeom>
          <a:solidFill>
            <a:srgbClr val="24238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lang="en-US" sz="125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  <a:r>
              <a:rPr lang="en-US" sz="1250">
                <a:solidFill>
                  <a:srgbClr val="FFFFFF"/>
                </a:solidFill>
                <a:latin typeface="Inter Tight"/>
                <a:cs typeface="Inter Tight"/>
              </a:rPr>
              <a:t> sits one level deeper than </a:t>
            </a:r>
            <a:r>
              <a:rPr lang="en-US" sz="125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  <a:r>
              <a:rPr lang="en-US" sz="1250">
                <a:solidFill>
                  <a:srgbClr val="FFFFFF"/>
                </a:solidFill>
                <a:latin typeface="Inter Tight"/>
                <a:cs typeface="Inter Tight"/>
              </a:rPr>
              <a:t>, so </a:t>
            </a:r>
            <a:r>
              <a:rPr lang="en-US" sz="1250" b="1">
                <a:solidFill>
                  <a:srgbClr val="FFFFFF"/>
                </a:solidFill>
                <a:latin typeface="Consolas"/>
                <a:cs typeface="Consolas"/>
              </a:rPr>
              <a:t>3 * 4</a:t>
            </a:r>
            <a:r>
              <a:rPr lang="en-US" sz="1250">
                <a:solidFill>
                  <a:srgbClr val="FFFFFF"/>
                </a:solidFill>
                <a:latin typeface="Inter Tight"/>
                <a:cs typeface="Inter Tight"/>
              </a:rPr>
              <a:t> is built before anything is added.    </a:t>
            </a:r>
            <a:r>
              <a:rPr lang="en-US" sz="1250" b="1">
                <a:solidFill>
                  <a:srgbClr val="FFFFFF"/>
                </a:solidFill>
                <a:latin typeface="Inter Tight"/>
                <a:cs typeface="Inter Tight"/>
              </a:rPr>
              <a:t>Structure = precedence.</a:t>
            </a:r>
          </a:p>
        </p:txBody>
      </p:sp>
    </p:spTree>
    <p:extLst>
      <p:ext uri="{BB962C8B-B14F-4D97-AF65-F5344CB8AC3E}">
        <p14:creationId xmlns:p14="http://schemas.microsoft.com/office/powerpoint/2010/main" val="642071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A Fuller Grammar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7874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More operators just mean more layers — the same recursive ladder, scaled up.</a:t>
            </a:r>
          </a:p>
        </p:txBody>
      </p:sp>
      <p:sp>
        <p:nvSpPr>
          <p:cNvPr id="302" name="s"/>
          <p:cNvSpPr/>
          <p:nvPr/>
        </p:nvSpPr>
        <p:spPr>
          <a:xfrm>
            <a:off x="457200" y="1168400"/>
            <a:ext cx="6350000" cy="2743200"/>
          </a:xfrm>
          <a:prstGeom prst="roundRect">
            <a:avLst>
              <a:gd name="adj" fmla="val 4000"/>
            </a:avLst>
          </a:prstGeom>
          <a:solidFill>
            <a:srgbClr val="EEEEFA"/>
          </a:solidFill>
          <a:ln>
            <a:noFill/>
          </a:ln>
        </p:spPr>
        <p:txBody>
          <a:bodyPr wrap="square" lIns="152400" tIns="121920" rIns="91440" bIns="91440" anchor="t">
            <a:noAutofit/>
          </a:bodyPr>
          <a:lstStyle/>
          <a:p>
            <a:pPr algn="l">
              <a:buNone/>
            </a:pPr>
            <a:r>
              <a:rPr lang="en-US" sz="1000" b="1" spc="150">
                <a:solidFill>
                  <a:srgbClr val="5B5BD6"/>
                </a:solidFill>
                <a:latin typeface="Inter Tight"/>
                <a:cs typeface="Inter Tight"/>
              </a:rPr>
              <a:t>EXPRESSION GRAMMAR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Consolas"/>
                <a:cs typeface="Consolas"/>
              </a:rPr>
              <a:t>expr        →  equality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Consolas"/>
                <a:cs typeface="Consolas"/>
              </a:rPr>
              <a:t>equality    →  comparison ( </a:t>
            </a: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== !=</a:t>
            </a:r>
            <a:r>
              <a:rPr lang="en-US" sz="1300">
                <a:solidFill>
                  <a:srgbClr val="1A1A2E"/>
                </a:solidFill>
                <a:latin typeface="Consolas"/>
                <a:cs typeface="Consolas"/>
              </a:rPr>
              <a:t> )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Consolas"/>
                <a:cs typeface="Consolas"/>
              </a:rPr>
              <a:t>comparison  →  sum ( </a:t>
            </a: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&lt; &gt; &lt;= &gt;=</a:t>
            </a:r>
            <a:r>
              <a:rPr lang="en-US" sz="1300">
                <a:solidFill>
                  <a:srgbClr val="1A1A2E"/>
                </a:solidFill>
                <a:latin typeface="Consolas"/>
                <a:cs typeface="Consolas"/>
              </a:rPr>
              <a:t> )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Consolas"/>
                <a:cs typeface="Consolas"/>
              </a:rPr>
              <a:t>sum         →  term ( </a:t>
            </a: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+ −</a:t>
            </a:r>
            <a:r>
              <a:rPr lang="en-US" sz="1300">
                <a:solidFill>
                  <a:srgbClr val="1A1A2E"/>
                </a:solidFill>
                <a:latin typeface="Consolas"/>
                <a:cs typeface="Consolas"/>
              </a:rPr>
              <a:t> )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Consolas"/>
                <a:cs typeface="Consolas"/>
              </a:rPr>
              <a:t>term        →  unary ( </a:t>
            </a: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* /</a:t>
            </a:r>
            <a:r>
              <a:rPr lang="en-US" sz="1300">
                <a:solidFill>
                  <a:srgbClr val="1A1A2E"/>
                </a:solidFill>
                <a:latin typeface="Consolas"/>
                <a:cs typeface="Consolas"/>
              </a:rPr>
              <a:t> )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Consolas"/>
                <a:cs typeface="Consolas"/>
              </a:rPr>
              <a:t>unary       →  ( </a:t>
            </a: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− !</a:t>
            </a:r>
            <a:r>
              <a:rPr lang="en-US" sz="1300">
                <a:solidFill>
                  <a:srgbClr val="1A1A2E"/>
                </a:solidFill>
                <a:latin typeface="Consolas"/>
                <a:cs typeface="Consolas"/>
              </a:rPr>
              <a:t> ) unary | factor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300">
                <a:solidFill>
                  <a:srgbClr val="1A1A2E"/>
                </a:solidFill>
                <a:latin typeface="Consolas"/>
                <a:cs typeface="Consolas"/>
              </a:rPr>
              <a:t>factor      →  number | name | ( expr )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100" i="1">
                <a:solidFill>
                  <a:srgbClr val="5B5BD6"/>
                </a:solidFill>
                <a:latin typeface="Inter Tight"/>
                <a:cs typeface="Inter Tight"/>
              </a:rPr>
              <a:t>Each rule = one precedence level.</a:t>
            </a:r>
          </a:p>
        </p:txBody>
      </p:sp>
      <p:sp>
        <p:nvSpPr>
          <p:cNvPr id="303" name="s"/>
          <p:cNvSpPr/>
          <p:nvPr/>
        </p:nvSpPr>
        <p:spPr>
          <a:xfrm>
            <a:off x="7010400" y="1168400"/>
            <a:ext cx="1676400" cy="27432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</p:spPr>
        <p:txBody>
          <a:bodyPr wrap="square" lIns="60960" tIns="91440" rIns="60960" bIns="91440" anchor="ctr">
            <a:noAutofit/>
          </a:bodyPr>
          <a:lstStyle/>
          <a:p>
            <a:pPr algn="ctr">
              <a:buNone/>
            </a:pPr>
            <a:r>
              <a:rPr lang="en-US" sz="950" b="1" spc="120">
                <a:solidFill>
                  <a:srgbClr val="FFFFFF"/>
                </a:solidFill>
                <a:latin typeface="Inter Tight"/>
                <a:cs typeface="Inter Tight"/>
              </a:rPr>
              <a:t>THE LADDER</a:t>
            </a:r>
          </a:p>
          <a:p>
            <a:pPr algn="ctr">
              <a:spcBef>
                <a:spcPts val="700"/>
              </a:spcBef>
              <a:buNone/>
            </a:pPr>
            <a:r>
              <a:rPr lang="en-US" sz="1050">
                <a:solidFill>
                  <a:srgbClr val="E6E6F7"/>
                </a:solidFill>
                <a:latin typeface="Inter Tight"/>
                <a:cs typeface="Inter Tight"/>
              </a:rPr>
              <a:t>top of list</a:t>
            </a:r>
          </a:p>
          <a:p>
            <a:pPr algn="ctr">
              <a:spcBef>
                <a:spcPts val="150"/>
              </a:spcBef>
              <a:buNone/>
            </a:pPr>
            <a:r>
              <a:rPr lang="en-US" sz="1350" b="1">
                <a:solidFill>
                  <a:srgbClr val="FFFFFF"/>
                </a:solidFill>
                <a:latin typeface="Inter Tight"/>
                <a:cs typeface="Inter Tight"/>
              </a:rPr>
              <a:t>binds LAST</a:t>
            </a:r>
          </a:p>
          <a:p>
            <a:pPr algn="ctr">
              <a:spcBef>
                <a:spcPts val="450"/>
              </a:spcBef>
              <a:buNone/>
            </a:pPr>
            <a:r>
              <a:rPr lang="en-US" sz="2400" b="1">
                <a:solidFill>
                  <a:srgbClr val="FFFFFF"/>
                </a:solidFill>
                <a:latin typeface="Inter Tight"/>
                <a:cs typeface="Inter Tight"/>
              </a:rPr>
              <a:t>↓</a:t>
            </a:r>
          </a:p>
          <a:p>
            <a:pPr algn="ctr">
              <a:spcBef>
                <a:spcPts val="450"/>
              </a:spcBef>
              <a:buNone/>
            </a:pPr>
            <a:r>
              <a:rPr lang="en-US" sz="1050">
                <a:solidFill>
                  <a:srgbClr val="E6E6F7"/>
                </a:solidFill>
                <a:latin typeface="Inter Tight"/>
                <a:cs typeface="Inter Tight"/>
              </a:rPr>
              <a:t>bottom of list</a:t>
            </a:r>
          </a:p>
          <a:p>
            <a:pPr algn="ctr">
              <a:spcBef>
                <a:spcPts val="150"/>
              </a:spcBef>
              <a:buNone/>
            </a:pPr>
            <a:r>
              <a:rPr lang="en-US" sz="1350" b="1">
                <a:solidFill>
                  <a:srgbClr val="FFFFFF"/>
                </a:solidFill>
                <a:latin typeface="Inter Tight"/>
                <a:cs typeface="Inter Tight"/>
              </a:rPr>
              <a:t>binds FIRST</a:t>
            </a:r>
          </a:p>
          <a:p>
            <a:pPr algn="ctr">
              <a:spcBef>
                <a:spcPts val="700"/>
              </a:spcBef>
              <a:buNone/>
            </a:pPr>
            <a:r>
              <a:rPr lang="en-US" sz="1000">
                <a:solidFill>
                  <a:srgbClr val="E6E6F7"/>
                </a:solidFill>
                <a:latin typeface="Inter Tight"/>
                <a:cs typeface="Inter Tight"/>
              </a:rPr>
              <a:t>deeper rule = tighter</a:t>
            </a:r>
          </a:p>
        </p:txBody>
      </p:sp>
      <p:sp>
        <p:nvSpPr>
          <p:cNvPr id="304" name="s"/>
          <p:cNvSpPr/>
          <p:nvPr/>
        </p:nvSpPr>
        <p:spPr>
          <a:xfrm>
            <a:off x="457200" y="4064000"/>
            <a:ext cx="8229600" cy="533400"/>
          </a:xfrm>
          <a:prstGeom prst="roundRect">
            <a:avLst>
              <a:gd name="adj" fmla="val 10000"/>
            </a:avLst>
          </a:prstGeom>
          <a:solidFill>
            <a:srgbClr val="24238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lang="en-US" sz="1250">
                <a:solidFill>
                  <a:srgbClr val="FFFFFF"/>
                </a:solidFill>
                <a:latin typeface="Inter Tight"/>
                <a:cs typeface="Inter Tight"/>
              </a:rPr>
              <a:t>Same recursive ladder — just more rungs.  </a:t>
            </a:r>
            <a:r>
              <a:rPr lang="en-US" sz="1250" b="1">
                <a:solidFill>
                  <a:srgbClr val="FFFFFF"/>
                </a:solidFill>
                <a:latin typeface="Inter Tight"/>
                <a:cs typeface="Inter Tight"/>
              </a:rPr>
              <a:t>Python and JavaScript parse expressions exactly this way.</a:t>
            </a:r>
          </a:p>
        </p:txBody>
      </p:sp>
    </p:spTree>
    <p:extLst>
      <p:ext uri="{BB962C8B-B14F-4D97-AF65-F5344CB8AC3E}">
        <p14:creationId xmlns:p14="http://schemas.microsoft.com/office/powerpoint/2010/main" val="275638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Recursive Descent Parsing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One function per precedence level — each calls the next.</a:t>
            </a:r>
          </a:p>
        </p:txBody>
      </p:sp>
      <p:sp>
        <p:nvSpPr>
          <p:cNvPr id="302" name="s"/>
          <p:cNvSpPr/>
          <p:nvPr/>
        </p:nvSpPr>
        <p:spPr>
          <a:xfrm>
            <a:off x="1905000" y="1549400"/>
            <a:ext cx="3683000" cy="584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242385"/>
                </a:solidFill>
                <a:latin typeface="Consolas"/>
                <a:cs typeface="Consolas"/>
              </a:rPr>
              <a:t>parse_expression()</a:t>
            </a:r>
          </a:p>
        </p:txBody>
      </p:sp>
      <p:sp>
        <p:nvSpPr>
          <p:cNvPr id="303" name="t"/>
          <p:cNvSpPr txBox="1"/>
          <p:nvPr/>
        </p:nvSpPr>
        <p:spPr>
          <a:xfrm>
            <a:off x="3556000" y="2108200"/>
            <a:ext cx="381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1905000" y="2438400"/>
            <a:ext cx="3683000" cy="584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242385"/>
                </a:solidFill>
                <a:latin typeface="Consolas"/>
                <a:cs typeface="Consolas"/>
              </a:rPr>
              <a:t>parse_term()</a:t>
            </a:r>
          </a:p>
        </p:txBody>
      </p:sp>
      <p:sp>
        <p:nvSpPr>
          <p:cNvPr id="305" name="t"/>
          <p:cNvSpPr txBox="1"/>
          <p:nvPr/>
        </p:nvSpPr>
        <p:spPr>
          <a:xfrm>
            <a:off x="3556000" y="2997200"/>
            <a:ext cx="381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6" name="s"/>
          <p:cNvSpPr/>
          <p:nvPr/>
        </p:nvSpPr>
        <p:spPr>
          <a:xfrm>
            <a:off x="1905000" y="3327400"/>
            <a:ext cx="3683000" cy="584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242385"/>
                </a:solidFill>
                <a:latin typeface="Consolas"/>
                <a:cs typeface="Consolas"/>
              </a:rPr>
              <a:t>parse_factor()</a:t>
            </a:r>
          </a:p>
        </p:txBody>
      </p:sp>
      <p:sp>
        <p:nvSpPr>
          <p:cNvPr id="307" name="s"/>
          <p:cNvSpPr/>
          <p:nvPr/>
        </p:nvSpPr>
        <p:spPr>
          <a:xfrm>
            <a:off x="1219200" y="1625600"/>
            <a:ext cx="558800" cy="2286000"/>
          </a:xfrm>
          <a:prstGeom prst="curvedUpArrow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8" name="t"/>
          <p:cNvSpPr txBox="1"/>
          <p:nvPr/>
        </p:nvSpPr>
        <p:spPr>
          <a:xfrm>
            <a:off x="508000" y="2489200"/>
            <a:ext cx="660400" cy="508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loops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back</a:t>
            </a:r>
          </a:p>
        </p:txBody>
      </p:sp>
      <p:sp>
        <p:nvSpPr>
          <p:cNvPr id="309" name="s"/>
          <p:cNvSpPr/>
          <p:nvPr/>
        </p:nvSpPr>
        <p:spPr>
          <a:xfrm>
            <a:off x="5842000" y="1625600"/>
            <a:ext cx="2946400" cy="2311400"/>
          </a:xfrm>
          <a:prstGeom prst="roundRect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l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RECURSION AGAIN!</a:t>
            </a:r>
          </a:p>
          <a:p>
            <a:pPr algn="l">
              <a:spcBef>
                <a:spcPts val="900"/>
              </a:spcBef>
              <a:buNone/>
            </a:pPr>
            <a:r>
              <a:rPr lang="en-US" sz="1300">
                <a:solidFill>
                  <a:srgbClr val="FFFFFF"/>
                </a:solidFill>
                <a:latin typeface="Inter Tight"/>
                <a:cs typeface="Inter Tight"/>
              </a:rPr>
              <a:t>Each level calls the next, and a factor can loop right back to an expression.</a:t>
            </a:r>
          </a:p>
          <a:p>
            <a:pPr algn="l">
              <a:spcBef>
                <a:spcPts val="900"/>
              </a:spcBef>
              <a:buNone/>
            </a:pPr>
            <a:r>
              <a:rPr lang="en-US" sz="1300">
                <a:solidFill>
                  <a:srgbClr val="FFFFFF"/>
                </a:solidFill>
                <a:latin typeface="Inter Tight"/>
                <a:cs typeface="Inter Tight"/>
              </a:rPr>
              <a:t>Same recursive idea as evaluating a tree in Workshop 2.</a:t>
            </a:r>
          </a:p>
        </p:txBody>
      </p:sp>
    </p:spTree>
    <p:extLst>
      <p:ext uri="{BB962C8B-B14F-4D97-AF65-F5344CB8AC3E}">
        <p14:creationId xmlns:p14="http://schemas.microsoft.com/office/powerpoint/2010/main" val="4091184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Live Demo: Build an AST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parser's payoff — produce a real tree object.</a:t>
            </a:r>
          </a:p>
        </p:txBody>
      </p:sp>
      <p:sp>
        <p:nvSpPr>
          <p:cNvPr id="302" name="t"/>
          <p:cNvSpPr txBox="1"/>
          <p:nvPr/>
        </p:nvSpPr>
        <p:spPr>
          <a:xfrm>
            <a:off x="762000" y="1625600"/>
            <a:ext cx="20320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INPUT</a:t>
            </a:r>
          </a:p>
        </p:txBody>
      </p:sp>
      <p:sp>
        <p:nvSpPr>
          <p:cNvPr id="303" name="s"/>
          <p:cNvSpPr/>
          <p:nvPr/>
        </p:nvSpPr>
        <p:spPr>
          <a:xfrm>
            <a:off x="635000" y="1905000"/>
            <a:ext cx="1905000" cy="7112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tIns="45720" rtlCol="0" anchor="ctr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242385"/>
                </a:solidFill>
                <a:latin typeface="Consolas"/>
                <a:cs typeface="Consolas"/>
              </a:rPr>
              <a:t>1 + 2</a:t>
            </a:r>
          </a:p>
        </p:txBody>
      </p:sp>
      <p:sp>
        <p:nvSpPr>
          <p:cNvPr id="304" name="t"/>
          <p:cNvSpPr txBox="1"/>
          <p:nvPr/>
        </p:nvSpPr>
        <p:spPr>
          <a:xfrm>
            <a:off x="2692400" y="2032000"/>
            <a:ext cx="635000" cy="508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0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5" name="t"/>
          <p:cNvSpPr txBox="1"/>
          <p:nvPr/>
        </p:nvSpPr>
        <p:spPr>
          <a:xfrm>
            <a:off x="3810000" y="1625600"/>
            <a:ext cx="25400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OUTPUT</a:t>
            </a:r>
          </a:p>
        </p:txBody>
      </p:sp>
      <p:sp>
        <p:nvSpPr>
          <p:cNvPr id="306" name="s"/>
          <p:cNvSpPr/>
          <p:nvPr/>
        </p:nvSpPr>
        <p:spPr>
          <a:xfrm>
            <a:off x="3810000" y="1905000"/>
            <a:ext cx="4953000" cy="2108200"/>
          </a:xfrm>
          <a:prstGeom prst="roundRect">
            <a:avLst/>
          </a:prstGeom>
          <a:solidFill>
            <a:srgbClr val="1E1E32"/>
          </a:solidFill>
        </p:spPr>
        <p:txBody>
          <a:bodyPr wrap="square" lIns="24000" tIns="4572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A5A1F0"/>
                </a:solidFill>
                <a:latin typeface="Consolas"/>
                <a:cs typeface="Consolas"/>
              </a:rPr>
              <a:t>ExprNode(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600">
                <a:solidFill>
                  <a:srgbClr val="8A90A6"/>
                </a:solidFill>
                <a:latin typeface="Consolas"/>
                <a:cs typeface="Consolas"/>
              </a:rPr>
              <a:t>    </a:t>
            </a:r>
            <a:r>
              <a:rPr lang="en-US" sz="1600">
                <a:solidFill>
                  <a:srgbClr val="E8B873"/>
                </a:solidFill>
                <a:latin typeface="Consolas"/>
                <a:cs typeface="Consolas"/>
              </a:rPr>
              <a:t>"+"</a:t>
            </a:r>
            <a:r>
              <a:rPr lang="en-US" sz="1600">
                <a:solidFill>
                  <a:srgbClr val="8A90A6"/>
                </a:solidFill>
                <a:latin typeface="Consolas"/>
                <a:cs typeface="Consolas"/>
              </a:rPr>
              <a:t>,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600">
                <a:solidFill>
                  <a:srgbClr val="A5A1F0"/>
                </a:solidFill>
                <a:latin typeface="Consolas"/>
                <a:cs typeface="Consolas"/>
              </a:rPr>
              <a:t>    ExprNode(</a:t>
            </a: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1</a:t>
            </a:r>
            <a:r>
              <a:rPr lang="en-US" sz="1600">
                <a:solidFill>
                  <a:srgbClr val="8A90A6"/>
                </a:solidFill>
                <a:latin typeface="Consolas"/>
                <a:cs typeface="Consolas"/>
              </a:rPr>
              <a:t>),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600">
                <a:solidFill>
                  <a:srgbClr val="A5A1F0"/>
                </a:solidFill>
                <a:latin typeface="Consolas"/>
                <a:cs typeface="Consolas"/>
              </a:rPr>
              <a:t>    ExprNode(</a:t>
            </a: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2</a:t>
            </a:r>
            <a:r>
              <a:rPr lang="en-US" sz="1600">
                <a:solidFill>
                  <a:srgbClr val="8A90A6"/>
                </a:solidFill>
                <a:latin typeface="Consolas"/>
                <a:cs typeface="Consolas"/>
              </a:rPr>
              <a:t>)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600">
                <a:solidFill>
                  <a:srgbClr val="A5A1F0"/>
                </a:solidFill>
                <a:latin typeface="Consolas"/>
                <a:cs typeface="Consola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4431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04800"/>
            <a:ext cx="8229600" cy="431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600" b="1">
                <a:solidFill>
                  <a:srgbClr val="242385"/>
                </a:solidFill>
                <a:latin typeface="Inter Tight"/>
                <a:cs typeface="Inter Tight"/>
              </a:rPr>
              <a:t>End-to-End Walkthrough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12800"/>
            <a:ext cx="82296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250">
                <a:solidFill>
                  <a:srgbClr val="1A1A2E"/>
                </a:solidFill>
                <a:latin typeface="Inter Tight"/>
                <a:cs typeface="Inter Tight"/>
              </a:rPr>
              <a:t>One expression through every stage we built today.</a:t>
            </a:r>
          </a:p>
        </p:txBody>
      </p:sp>
      <p:sp>
        <p:nvSpPr>
          <p:cNvPr id="302" name="s"/>
          <p:cNvSpPr/>
          <p:nvPr/>
        </p:nvSpPr>
        <p:spPr>
          <a:xfrm>
            <a:off x="1524000" y="1219200"/>
            <a:ext cx="1676400" cy="406400"/>
          </a:xfrm>
          <a:prstGeom prst="roundRect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Inter Tight"/>
                <a:cs typeface="Inter Tight"/>
              </a:rPr>
              <a:t>SOURCE</a:t>
            </a:r>
          </a:p>
        </p:txBody>
      </p:sp>
      <p:sp>
        <p:nvSpPr>
          <p:cNvPr id="303" name="s"/>
          <p:cNvSpPr/>
          <p:nvPr/>
        </p:nvSpPr>
        <p:spPr>
          <a:xfrm>
            <a:off x="3327400" y="1219200"/>
            <a:ext cx="4546600" cy="4064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1 + 2 * 3</a:t>
            </a:r>
          </a:p>
        </p:txBody>
      </p:sp>
      <p:sp>
        <p:nvSpPr>
          <p:cNvPr id="304" name="t"/>
          <p:cNvSpPr txBox="1"/>
          <p:nvPr/>
        </p:nvSpPr>
        <p:spPr>
          <a:xfrm>
            <a:off x="5461000" y="1625600"/>
            <a:ext cx="279400" cy="2286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5" name="s"/>
          <p:cNvSpPr/>
          <p:nvPr/>
        </p:nvSpPr>
        <p:spPr>
          <a:xfrm>
            <a:off x="1524000" y="1905000"/>
            <a:ext cx="1676400" cy="406400"/>
          </a:xfrm>
          <a:prstGeom prst="roundRect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Inter Tight"/>
                <a:cs typeface="Inter Tight"/>
              </a:rPr>
              <a:t>CHARACTERS</a:t>
            </a:r>
          </a:p>
        </p:txBody>
      </p:sp>
      <p:sp>
        <p:nvSpPr>
          <p:cNvPr id="306" name="s"/>
          <p:cNvSpPr/>
          <p:nvPr/>
        </p:nvSpPr>
        <p:spPr>
          <a:xfrm>
            <a:off x="3327400" y="1905000"/>
            <a:ext cx="4546600" cy="4064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>
                <a:solidFill>
                  <a:srgbClr val="242385"/>
                </a:solidFill>
                <a:latin typeface="Consolas"/>
                <a:cs typeface="Consolas"/>
              </a:rPr>
              <a:t>'1'  '+'  '2'  '*'  '3'</a:t>
            </a:r>
          </a:p>
        </p:txBody>
      </p:sp>
      <p:sp>
        <p:nvSpPr>
          <p:cNvPr id="307" name="t"/>
          <p:cNvSpPr txBox="1"/>
          <p:nvPr/>
        </p:nvSpPr>
        <p:spPr>
          <a:xfrm>
            <a:off x="5461000" y="2311400"/>
            <a:ext cx="279400" cy="2286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8" name="s"/>
          <p:cNvSpPr/>
          <p:nvPr/>
        </p:nvSpPr>
        <p:spPr>
          <a:xfrm>
            <a:off x="1524000" y="2590800"/>
            <a:ext cx="1676400" cy="406400"/>
          </a:xfrm>
          <a:prstGeom prst="roundRect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Inter Tight"/>
                <a:cs typeface="Inter Tight"/>
              </a:rPr>
              <a:t>TOKENS</a:t>
            </a:r>
          </a:p>
        </p:txBody>
      </p:sp>
      <p:sp>
        <p:nvSpPr>
          <p:cNvPr id="309" name="s"/>
          <p:cNvSpPr/>
          <p:nvPr/>
        </p:nvSpPr>
        <p:spPr>
          <a:xfrm>
            <a:off x="3327400" y="2590800"/>
            <a:ext cx="4546600" cy="4064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NUMBER(1) PLUS NUMBER(2) MULTIPLY NUMBER(3)</a:t>
            </a:r>
          </a:p>
        </p:txBody>
      </p:sp>
      <p:sp>
        <p:nvSpPr>
          <p:cNvPr id="310" name="t"/>
          <p:cNvSpPr txBox="1"/>
          <p:nvPr/>
        </p:nvSpPr>
        <p:spPr>
          <a:xfrm>
            <a:off x="5461000" y="2997200"/>
            <a:ext cx="279400" cy="2286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11" name="s"/>
          <p:cNvSpPr/>
          <p:nvPr/>
        </p:nvSpPr>
        <p:spPr>
          <a:xfrm>
            <a:off x="1524000" y="3276600"/>
            <a:ext cx="1676400" cy="1219200"/>
          </a:xfrm>
          <a:prstGeom prst="roundRect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Inter Tight"/>
                <a:cs typeface="Inter Tight"/>
              </a:rPr>
              <a:t>AST</a:t>
            </a:r>
          </a:p>
        </p:txBody>
      </p:sp>
      <p:sp>
        <p:nvSpPr>
          <p:cNvPr id="312" name="s"/>
          <p:cNvSpPr/>
          <p:nvPr/>
        </p:nvSpPr>
        <p:spPr>
          <a:xfrm>
            <a:off x="3327400" y="3276600"/>
            <a:ext cx="4546600" cy="12192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>
              <a:buNone/>
            </a:pPr>
            <a:endParaRPr/>
          </a:p>
        </p:txBody>
      </p:sp>
      <p:cxnSp>
        <p:nvCxnSpPr>
          <p:cNvPr id="313" name="ln"/>
          <p:cNvCxnSpPr/>
          <p:nvPr/>
        </p:nvCxnSpPr>
        <p:spPr>
          <a:xfrm flipH="1">
            <a:off x="4127500" y="3530600"/>
            <a:ext cx="381000" cy="381000"/>
          </a:xfrm>
          <a:prstGeom prst="line">
            <a:avLst/>
          </a:prstGeom>
          <a:ln w="15875">
            <a:solidFill>
              <a:srgbClr val="5B5BD6"/>
            </a:solidFill>
          </a:ln>
        </p:spPr>
      </p:cxnSp>
      <p:cxnSp>
        <p:nvCxnSpPr>
          <p:cNvPr id="314" name="ln"/>
          <p:cNvCxnSpPr/>
          <p:nvPr/>
        </p:nvCxnSpPr>
        <p:spPr>
          <a:xfrm>
            <a:off x="4508500" y="3530600"/>
            <a:ext cx="419100" cy="381000"/>
          </a:xfrm>
          <a:prstGeom prst="line">
            <a:avLst/>
          </a:prstGeom>
          <a:ln w="15875">
            <a:solidFill>
              <a:srgbClr val="5B5BD6"/>
            </a:solidFill>
          </a:ln>
        </p:spPr>
      </p:cxnSp>
      <p:cxnSp>
        <p:nvCxnSpPr>
          <p:cNvPr id="315" name="ln"/>
          <p:cNvCxnSpPr/>
          <p:nvPr/>
        </p:nvCxnSpPr>
        <p:spPr>
          <a:xfrm flipH="1">
            <a:off x="4648200" y="3911600"/>
            <a:ext cx="279400" cy="330200"/>
          </a:xfrm>
          <a:prstGeom prst="line">
            <a:avLst/>
          </a:prstGeom>
          <a:ln w="15875">
            <a:solidFill>
              <a:srgbClr val="5B5BD6"/>
            </a:solidFill>
          </a:ln>
        </p:spPr>
      </p:cxnSp>
      <p:cxnSp>
        <p:nvCxnSpPr>
          <p:cNvPr id="316" name="ln"/>
          <p:cNvCxnSpPr/>
          <p:nvPr/>
        </p:nvCxnSpPr>
        <p:spPr>
          <a:xfrm>
            <a:off x="4927600" y="3911600"/>
            <a:ext cx="304800" cy="330200"/>
          </a:xfrm>
          <a:prstGeom prst="line">
            <a:avLst/>
          </a:prstGeom>
          <a:ln w="15875">
            <a:solidFill>
              <a:srgbClr val="5B5BD6"/>
            </a:solidFill>
          </a:ln>
        </p:spPr>
      </p:cxnSp>
      <p:sp>
        <p:nvSpPr>
          <p:cNvPr id="317" name="s"/>
          <p:cNvSpPr/>
          <p:nvPr/>
        </p:nvSpPr>
        <p:spPr>
          <a:xfrm>
            <a:off x="4330700" y="3352800"/>
            <a:ext cx="355600" cy="3556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18" name="s"/>
          <p:cNvSpPr/>
          <p:nvPr/>
        </p:nvSpPr>
        <p:spPr>
          <a:xfrm>
            <a:off x="3949700" y="3733800"/>
            <a:ext cx="355600" cy="3556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19" name="s"/>
          <p:cNvSpPr/>
          <p:nvPr/>
        </p:nvSpPr>
        <p:spPr>
          <a:xfrm>
            <a:off x="4749800" y="3733800"/>
            <a:ext cx="355600" cy="3556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20" name="s"/>
          <p:cNvSpPr/>
          <p:nvPr/>
        </p:nvSpPr>
        <p:spPr>
          <a:xfrm>
            <a:off x="4483100" y="40767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21" name="s"/>
          <p:cNvSpPr/>
          <p:nvPr/>
        </p:nvSpPr>
        <p:spPr>
          <a:xfrm>
            <a:off x="5067300" y="40767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22" name="t"/>
          <p:cNvSpPr txBox="1"/>
          <p:nvPr/>
        </p:nvSpPr>
        <p:spPr>
          <a:xfrm>
            <a:off x="5969000" y="3657600"/>
            <a:ext cx="1778000" cy="508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800" b="1">
                <a:solidFill>
                  <a:srgbClr val="5B5BD6"/>
                </a:solidFill>
                <a:latin typeface="Consolas"/>
                <a:cs typeface="Consolas"/>
              </a:rPr>
              <a:t>→  7</a:t>
            </a:r>
          </a:p>
        </p:txBody>
      </p:sp>
    </p:spTree>
    <p:extLst>
      <p:ext uri="{BB962C8B-B14F-4D97-AF65-F5344CB8AC3E}">
        <p14:creationId xmlns:p14="http://schemas.microsoft.com/office/powerpoint/2010/main" val="2591016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Real Languages Do This Too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Text → tokens → tree is the same pipeline everywhere.</a:t>
            </a:r>
          </a:p>
        </p:txBody>
      </p:sp>
      <p:sp>
        <p:nvSpPr>
          <p:cNvPr id="302" name="s"/>
          <p:cNvSpPr/>
          <p:nvPr/>
        </p:nvSpPr>
        <p:spPr>
          <a:xfrm>
            <a:off x="4546600" y="1422400"/>
            <a:ext cx="25400" cy="2540000"/>
          </a:xfrm>
          <a:prstGeom prst="rect">
            <a:avLst/>
          </a:prstGeom>
          <a:solidFill>
            <a:srgbClr val="D9D9F0"/>
          </a:solidFill>
        </p:spPr>
        <p:txBody>
          <a:bodyPr wrap="square" lIns="91440" tIns="36000" rtlCol="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3" name="t"/>
          <p:cNvSpPr txBox="1"/>
          <p:nvPr/>
        </p:nvSpPr>
        <p:spPr>
          <a:xfrm>
            <a:off x="508000" y="1371600"/>
            <a:ext cx="25400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50" b="1">
                <a:solidFill>
                  <a:srgbClr val="5B5BD6"/>
                </a:solidFill>
                <a:latin typeface="Inter Tight"/>
                <a:cs typeface="Inter Tight"/>
              </a:rPr>
              <a:t>PYTHON</a:t>
            </a:r>
          </a:p>
        </p:txBody>
      </p:sp>
      <p:sp>
        <p:nvSpPr>
          <p:cNvPr id="304" name="s"/>
          <p:cNvSpPr/>
          <p:nvPr/>
        </p:nvSpPr>
        <p:spPr>
          <a:xfrm>
            <a:off x="635000" y="1651000"/>
            <a:ext cx="3556000" cy="5080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tIns="3600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242385"/>
                </a:solidFill>
                <a:latin typeface="Consolas"/>
                <a:cs typeface="Consolas"/>
              </a:rPr>
              <a:t>1 + 2 * 3</a:t>
            </a:r>
          </a:p>
        </p:txBody>
      </p:sp>
      <p:sp>
        <p:nvSpPr>
          <p:cNvPr id="305" name="t"/>
          <p:cNvSpPr txBox="1"/>
          <p:nvPr/>
        </p:nvSpPr>
        <p:spPr>
          <a:xfrm>
            <a:off x="2260600" y="2209800"/>
            <a:ext cx="304800" cy="2286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cxnSp>
        <p:nvCxnSpPr>
          <p:cNvPr id="306" name="ln"/>
          <p:cNvCxnSpPr/>
          <p:nvPr/>
        </p:nvCxnSpPr>
        <p:spPr>
          <a:xfrm flipH="1">
            <a:off x="1981200" y="2616200"/>
            <a:ext cx="431800" cy="558800"/>
          </a:xfrm>
          <a:prstGeom prst="line">
            <a:avLst/>
          </a:prstGeom>
          <a:ln w="15875">
            <a:solidFill>
              <a:srgbClr val="5B5BD6"/>
            </a:solidFill>
          </a:ln>
        </p:spPr>
      </p:cxnSp>
      <p:cxnSp>
        <p:nvCxnSpPr>
          <p:cNvPr id="307" name="ln"/>
          <p:cNvCxnSpPr/>
          <p:nvPr/>
        </p:nvCxnSpPr>
        <p:spPr>
          <a:xfrm>
            <a:off x="2413000" y="2616200"/>
            <a:ext cx="482600" cy="558800"/>
          </a:xfrm>
          <a:prstGeom prst="line">
            <a:avLst/>
          </a:prstGeom>
          <a:ln w="15875">
            <a:solidFill>
              <a:srgbClr val="5B5BD6"/>
            </a:solidFill>
          </a:ln>
        </p:spPr>
      </p:cxnSp>
      <p:cxnSp>
        <p:nvCxnSpPr>
          <p:cNvPr id="308" name="ln"/>
          <p:cNvCxnSpPr/>
          <p:nvPr/>
        </p:nvCxnSpPr>
        <p:spPr>
          <a:xfrm flipH="1">
            <a:off x="2616200" y="3175000"/>
            <a:ext cx="279400" cy="533400"/>
          </a:xfrm>
          <a:prstGeom prst="line">
            <a:avLst/>
          </a:prstGeom>
          <a:ln w="15875">
            <a:solidFill>
              <a:srgbClr val="5B5BD6"/>
            </a:solidFill>
          </a:ln>
        </p:spPr>
      </p:cxnSp>
      <p:cxnSp>
        <p:nvCxnSpPr>
          <p:cNvPr id="309" name="ln"/>
          <p:cNvCxnSpPr/>
          <p:nvPr/>
        </p:nvCxnSpPr>
        <p:spPr>
          <a:xfrm>
            <a:off x="2895600" y="3175000"/>
            <a:ext cx="355600" cy="533400"/>
          </a:xfrm>
          <a:prstGeom prst="line">
            <a:avLst/>
          </a:prstGeom>
          <a:ln w="15875">
            <a:solidFill>
              <a:srgbClr val="5B5BD6"/>
            </a:solidFill>
          </a:ln>
        </p:spPr>
      </p:cxnSp>
      <p:sp>
        <p:nvSpPr>
          <p:cNvPr id="310" name="s"/>
          <p:cNvSpPr/>
          <p:nvPr/>
        </p:nvSpPr>
        <p:spPr>
          <a:xfrm>
            <a:off x="2209800" y="2413000"/>
            <a:ext cx="406400" cy="406400"/>
          </a:xfrm>
          <a:prstGeom prst="ellipse">
            <a:avLst/>
          </a:prstGeom>
          <a:solidFill>
            <a:srgbClr val="5B5BD6"/>
          </a:solidFill>
        </p:spPr>
        <p:txBody>
          <a:bodyPr wrap="square" lIns="0" tIns="36000" rtlCol="0" anchor="ctr">
            <a:no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11" name="s"/>
          <p:cNvSpPr/>
          <p:nvPr/>
        </p:nvSpPr>
        <p:spPr>
          <a:xfrm>
            <a:off x="1778000" y="2971800"/>
            <a:ext cx="406400" cy="406400"/>
          </a:xfrm>
          <a:prstGeom prst="ellipse">
            <a:avLst/>
          </a:prstGeom>
          <a:solidFill>
            <a:srgbClr val="5B5BD6"/>
          </a:solidFill>
        </p:spPr>
        <p:txBody>
          <a:bodyPr wrap="square" lIns="0" tIns="36000" rtlCol="0" anchor="ctr">
            <a:no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12" name="s"/>
          <p:cNvSpPr/>
          <p:nvPr/>
        </p:nvSpPr>
        <p:spPr>
          <a:xfrm>
            <a:off x="2692400" y="2971800"/>
            <a:ext cx="406400" cy="406400"/>
          </a:xfrm>
          <a:prstGeom prst="ellipse">
            <a:avLst/>
          </a:prstGeom>
          <a:solidFill>
            <a:srgbClr val="5B5BD6"/>
          </a:solidFill>
        </p:spPr>
        <p:txBody>
          <a:bodyPr wrap="square" lIns="0" tIns="36000" rtlCol="0" anchor="ctr">
            <a:no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13" name="s"/>
          <p:cNvSpPr/>
          <p:nvPr/>
        </p:nvSpPr>
        <p:spPr>
          <a:xfrm>
            <a:off x="2438400" y="3530600"/>
            <a:ext cx="355600" cy="355600"/>
          </a:xfrm>
          <a:prstGeom prst="ellipse">
            <a:avLst/>
          </a:prstGeom>
          <a:solidFill>
            <a:srgbClr val="5B5BD6"/>
          </a:solidFill>
        </p:spPr>
        <p:txBody>
          <a:bodyPr wrap="square" lIns="0" tIns="36000" rtlCol="0" anchor="ctr">
            <a:no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14" name="s"/>
          <p:cNvSpPr/>
          <p:nvPr/>
        </p:nvSpPr>
        <p:spPr>
          <a:xfrm>
            <a:off x="3073400" y="3530600"/>
            <a:ext cx="355600" cy="355600"/>
          </a:xfrm>
          <a:prstGeom prst="ellipse">
            <a:avLst/>
          </a:prstGeom>
          <a:solidFill>
            <a:srgbClr val="5B5BD6"/>
          </a:solidFill>
        </p:spPr>
        <p:txBody>
          <a:bodyPr wrap="square" lIns="0" tIns="36000" rtlCol="0" anchor="ctr">
            <a:no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15" name="t"/>
          <p:cNvSpPr txBox="1"/>
          <p:nvPr/>
        </p:nvSpPr>
        <p:spPr>
          <a:xfrm>
            <a:off x="4826000" y="1371600"/>
            <a:ext cx="25400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50" b="1">
                <a:solidFill>
                  <a:srgbClr val="5B5BD6"/>
                </a:solidFill>
                <a:latin typeface="Inter Tight"/>
                <a:cs typeface="Inter Tight"/>
              </a:rPr>
              <a:t>SQL</a:t>
            </a:r>
          </a:p>
        </p:txBody>
      </p:sp>
      <p:sp>
        <p:nvSpPr>
          <p:cNvPr id="316" name="s"/>
          <p:cNvSpPr/>
          <p:nvPr/>
        </p:nvSpPr>
        <p:spPr>
          <a:xfrm>
            <a:off x="4826000" y="1651000"/>
            <a:ext cx="3810000" cy="965200"/>
          </a:xfrm>
          <a:prstGeom prst="roundRect">
            <a:avLst/>
          </a:prstGeom>
          <a:solidFill>
            <a:srgbClr val="EEEEFA"/>
          </a:solidFill>
        </p:spPr>
        <p:txBody>
          <a:bodyPr wrap="square" lIns="16000" tIns="36000" rtlCol="0" anchor="t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SELECT *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FROM users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WHERE age &gt; 18</a:t>
            </a:r>
          </a:p>
        </p:txBody>
      </p:sp>
      <p:sp>
        <p:nvSpPr>
          <p:cNvPr id="317" name="t"/>
          <p:cNvSpPr txBox="1"/>
          <p:nvPr/>
        </p:nvSpPr>
        <p:spPr>
          <a:xfrm>
            <a:off x="6578600" y="2616200"/>
            <a:ext cx="304800" cy="2286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18" name="s"/>
          <p:cNvSpPr/>
          <p:nvPr/>
        </p:nvSpPr>
        <p:spPr>
          <a:xfrm>
            <a:off x="4826000" y="2870200"/>
            <a:ext cx="3810000" cy="1143000"/>
          </a:xfrm>
          <a:prstGeom prst="roundRect">
            <a:avLst/>
          </a:prstGeom>
          <a:solidFill>
            <a:srgbClr val="EEEEFA"/>
          </a:solidFill>
        </p:spPr>
        <p:txBody>
          <a:bodyPr wrap="square" lIns="16000" tIns="36000" rtlCol="0" anchor="t">
            <a:noAutofit/>
          </a:bodyPr>
          <a:lstStyle/>
          <a:p>
            <a:pPr algn="l">
              <a:buNone/>
            </a:pPr>
            <a:r>
              <a:rPr lang="en-US" sz="1350" b="1">
                <a:solidFill>
                  <a:srgbClr val="5B5BD6"/>
                </a:solidFill>
                <a:latin typeface="Consolas"/>
                <a:cs typeface="Consolas"/>
              </a:rPr>
              <a:t>Query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350">
                <a:solidFill>
                  <a:srgbClr val="242385"/>
                </a:solidFill>
                <a:latin typeface="Consolas"/>
                <a:cs typeface="Consolas"/>
              </a:rPr>
              <a:t>├─ SelectClause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350">
                <a:solidFill>
                  <a:srgbClr val="242385"/>
                </a:solidFill>
                <a:latin typeface="Consolas"/>
                <a:cs typeface="Consolas"/>
              </a:rPr>
              <a:t>├─ FromClause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350">
                <a:solidFill>
                  <a:srgbClr val="242385"/>
                </a:solidFill>
                <a:latin typeface="Consolas"/>
                <a:cs typeface="Consolas"/>
              </a:rPr>
              <a:t>└─ WhereClause</a:t>
            </a:r>
          </a:p>
        </p:txBody>
      </p:sp>
    </p:spTree>
    <p:extLst>
      <p:ext uri="{BB962C8B-B14F-4D97-AF65-F5344CB8AC3E}">
        <p14:creationId xmlns:p14="http://schemas.microsoft.com/office/powerpoint/2010/main" val="3046697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What We Built Today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From raw text all the way to a value.</a:t>
            </a:r>
          </a:p>
        </p:txBody>
      </p:sp>
      <p:sp>
        <p:nvSpPr>
          <p:cNvPr id="302" name="s"/>
          <p:cNvSpPr/>
          <p:nvPr/>
        </p:nvSpPr>
        <p:spPr>
          <a:xfrm>
            <a:off x="3683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Characters</a:t>
            </a:r>
          </a:p>
        </p:txBody>
      </p:sp>
      <p:sp>
        <p:nvSpPr>
          <p:cNvPr id="303" name="t"/>
          <p:cNvSpPr txBox="1"/>
          <p:nvPr/>
        </p:nvSpPr>
        <p:spPr>
          <a:xfrm>
            <a:off x="18669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4" name="s"/>
          <p:cNvSpPr/>
          <p:nvPr/>
        </p:nvSpPr>
        <p:spPr>
          <a:xfrm>
            <a:off x="20955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Tokens</a:t>
            </a:r>
          </a:p>
        </p:txBody>
      </p:sp>
      <p:sp>
        <p:nvSpPr>
          <p:cNvPr id="305" name="t"/>
          <p:cNvSpPr txBox="1"/>
          <p:nvPr/>
        </p:nvSpPr>
        <p:spPr>
          <a:xfrm>
            <a:off x="35941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6" name="s"/>
          <p:cNvSpPr/>
          <p:nvPr/>
        </p:nvSpPr>
        <p:spPr>
          <a:xfrm>
            <a:off x="3822700" y="1879600"/>
            <a:ext cx="1498600" cy="7366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Parser</a:t>
            </a:r>
          </a:p>
        </p:txBody>
      </p:sp>
      <p:sp>
        <p:nvSpPr>
          <p:cNvPr id="307" name="t"/>
          <p:cNvSpPr txBox="1"/>
          <p:nvPr/>
        </p:nvSpPr>
        <p:spPr>
          <a:xfrm>
            <a:off x="53213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8" name="s"/>
          <p:cNvSpPr/>
          <p:nvPr/>
        </p:nvSpPr>
        <p:spPr>
          <a:xfrm>
            <a:off x="55499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AST</a:t>
            </a:r>
          </a:p>
        </p:txBody>
      </p:sp>
      <p:sp>
        <p:nvSpPr>
          <p:cNvPr id="309" name="t"/>
          <p:cNvSpPr txBox="1"/>
          <p:nvPr/>
        </p:nvSpPr>
        <p:spPr>
          <a:xfrm>
            <a:off x="70485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10" name="s"/>
          <p:cNvSpPr/>
          <p:nvPr/>
        </p:nvSpPr>
        <p:spPr>
          <a:xfrm>
            <a:off x="7277100" y="1879600"/>
            <a:ext cx="1498600" cy="7366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Evaluator</a:t>
            </a:r>
          </a:p>
        </p:txBody>
      </p:sp>
      <p:sp>
        <p:nvSpPr>
          <p:cNvPr id="311" name="s"/>
          <p:cNvSpPr/>
          <p:nvPr/>
        </p:nvSpPr>
        <p:spPr>
          <a:xfrm>
            <a:off x="1143000" y="3098800"/>
            <a:ext cx="6858000" cy="1092200"/>
          </a:xfrm>
          <a:prstGeom prst="round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900" b="1">
                <a:solidFill>
                  <a:srgbClr val="FFFFFF"/>
                </a:solidFill>
                <a:latin typeface="Inter Tight"/>
                <a:cs typeface="Inter Tight"/>
              </a:rPr>
              <a:t>Trees don't appear magically.</a:t>
            </a:r>
          </a:p>
          <a:p>
            <a:pPr algn="ctr">
              <a:spcBef>
                <a:spcPts val="500"/>
              </a:spcBef>
              <a:buNone/>
            </a:pPr>
            <a:r>
              <a:rPr lang="en-US" sz="1600">
                <a:solidFill>
                  <a:srgbClr val="EEEEFA"/>
                </a:solidFill>
                <a:latin typeface="Inter Tight"/>
                <a:cs typeface="Inter Tight"/>
              </a:rPr>
              <a:t>Parsers build them.</a:t>
            </a:r>
          </a:p>
        </p:txBody>
      </p:sp>
    </p:spTree>
    <p:extLst>
      <p:ext uri="{BB962C8B-B14F-4D97-AF65-F5344CB8AC3E}">
        <p14:creationId xmlns:p14="http://schemas.microsoft.com/office/powerpoint/2010/main" val="1144882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Homework &amp; Next Week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Practice what we built — and a teaser for what comes next.</a:t>
            </a:r>
          </a:p>
        </p:txBody>
      </p:sp>
      <p:sp>
        <p:nvSpPr>
          <p:cNvPr id="302" name="s"/>
          <p:cNvSpPr/>
          <p:nvPr/>
        </p:nvSpPr>
        <p:spPr>
          <a:xfrm>
            <a:off x="381000" y="1371600"/>
            <a:ext cx="4064000" cy="27432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3" name="t"/>
          <p:cNvSpPr txBox="1"/>
          <p:nvPr/>
        </p:nvSpPr>
        <p:spPr>
          <a:xfrm>
            <a:off x="635000" y="1549400"/>
            <a:ext cx="35560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HOMEWORK</a:t>
            </a:r>
          </a:p>
        </p:txBody>
      </p:sp>
      <p:sp>
        <p:nvSpPr>
          <p:cNvPr id="304" name="t"/>
          <p:cNvSpPr txBox="1"/>
          <p:nvPr/>
        </p:nvSpPr>
        <p:spPr>
          <a:xfrm>
            <a:off x="635000" y="1905000"/>
            <a:ext cx="3657600" cy="2032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A1A2E"/>
                </a:solidFill>
                <a:latin typeface="Inter Tight"/>
                <a:cs typeface="Inter Tight"/>
              </a:rPr>
              <a:t>Extend the </a:t>
            </a:r>
            <a:r>
              <a:rPr lang="en-US" sz="1600" dirty="0" err="1">
                <a:solidFill>
                  <a:srgbClr val="1A1A2E"/>
                </a:solidFill>
                <a:latin typeface="Inter Tight"/>
                <a:cs typeface="Inter Tight"/>
              </a:rPr>
              <a:t>lexer</a:t>
            </a:r>
            <a:endParaRPr lang="en-US" sz="1600" dirty="0">
              <a:solidFill>
                <a:srgbClr val="1A1A2E"/>
              </a:solidFill>
              <a:latin typeface="Inter Tight"/>
              <a:cs typeface="Inter Tight"/>
            </a:endParaRP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A1A2E"/>
                </a:solidFill>
                <a:latin typeface="Inter Tight"/>
                <a:cs typeface="Inter Tight"/>
              </a:rPr>
              <a:t>Extend the parser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A1A2E"/>
                </a:solidFill>
                <a:latin typeface="Inter Tight"/>
                <a:cs typeface="Inter Tight"/>
              </a:rPr>
              <a:t>Add operators</a:t>
            </a:r>
          </a:p>
        </p:txBody>
      </p:sp>
      <p:sp>
        <p:nvSpPr>
          <p:cNvPr id="305" name="s"/>
          <p:cNvSpPr/>
          <p:nvPr/>
        </p:nvSpPr>
        <p:spPr>
          <a:xfrm>
            <a:off x="4699000" y="1371600"/>
            <a:ext cx="4064000" cy="27432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6" name="t"/>
          <p:cNvSpPr txBox="1"/>
          <p:nvPr/>
        </p:nvSpPr>
        <p:spPr>
          <a:xfrm>
            <a:off x="4927600" y="1549400"/>
            <a:ext cx="36068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NEXT WEEK</a:t>
            </a:r>
          </a:p>
        </p:txBody>
      </p:sp>
      <p:sp>
        <p:nvSpPr>
          <p:cNvPr id="307" name="s"/>
          <p:cNvSpPr/>
          <p:nvPr/>
        </p:nvSpPr>
        <p:spPr>
          <a:xfrm>
            <a:off x="4927600" y="1854200"/>
            <a:ext cx="2286000" cy="711200"/>
          </a:xfrm>
          <a:prstGeom prst="roundRect">
            <a:avLst/>
          </a:prstGeom>
          <a:solidFill>
            <a:srgbClr val="1E1E32"/>
          </a:solidFill>
        </p:spPr>
        <p:txBody>
          <a:bodyPr wrap="square" lIns="24000" rtlCol="0" anchor="ctr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cs typeface="Consolas"/>
              </a:rPr>
              <a:t>x = 5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cs typeface="Consolas"/>
              </a:rPr>
              <a:t>y = x + 1</a:t>
            </a:r>
          </a:p>
        </p:txBody>
      </p:sp>
      <p:sp>
        <p:nvSpPr>
          <p:cNvPr id="308" name="t"/>
          <p:cNvSpPr txBox="1"/>
          <p:nvPr/>
        </p:nvSpPr>
        <p:spPr>
          <a:xfrm>
            <a:off x="4927600" y="2667000"/>
            <a:ext cx="36068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500" b="1">
                <a:solidFill>
                  <a:srgbClr val="5B5BD6"/>
                </a:solidFill>
                <a:latin typeface="Inter Tight"/>
                <a:cs typeface="Inter Tight"/>
              </a:rPr>
              <a:t>Where does x live?</a:t>
            </a:r>
          </a:p>
        </p:txBody>
      </p:sp>
      <p:sp>
        <p:nvSpPr>
          <p:cNvPr id="309" name="s"/>
          <p:cNvSpPr/>
          <p:nvPr/>
        </p:nvSpPr>
        <p:spPr>
          <a:xfrm>
            <a:off x="4927600" y="3048000"/>
            <a:ext cx="1092200" cy="355600"/>
          </a:xfrm>
          <a:prstGeom prst="roundRect">
            <a:avLst/>
          </a:prstGeom>
          <a:solidFill>
            <a:srgbClr val="5B5BD6"/>
          </a:solidFill>
        </p:spPr>
        <p:txBody>
          <a:bodyPr wrap="square" lIns="45720" rtlCol="0" anchor="ctr">
            <a:no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Inter Tight"/>
                <a:cs typeface="Inter Tight"/>
              </a:rPr>
              <a:t>Variables</a:t>
            </a:r>
          </a:p>
        </p:txBody>
      </p:sp>
      <p:sp>
        <p:nvSpPr>
          <p:cNvPr id="310" name="s"/>
          <p:cNvSpPr/>
          <p:nvPr/>
        </p:nvSpPr>
        <p:spPr>
          <a:xfrm>
            <a:off x="6121400" y="3048000"/>
            <a:ext cx="1422400" cy="355600"/>
          </a:xfrm>
          <a:prstGeom prst="roundRect">
            <a:avLst/>
          </a:prstGeom>
          <a:solidFill>
            <a:srgbClr val="5B5BD6"/>
          </a:solidFill>
        </p:spPr>
        <p:txBody>
          <a:bodyPr wrap="square" lIns="45720" rtlCol="0" anchor="ctr">
            <a:no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Inter Tight"/>
                <a:cs typeface="Inter Tight"/>
              </a:rPr>
              <a:t>Environments</a:t>
            </a:r>
          </a:p>
        </p:txBody>
      </p:sp>
      <p:sp>
        <p:nvSpPr>
          <p:cNvPr id="311" name="s"/>
          <p:cNvSpPr/>
          <p:nvPr/>
        </p:nvSpPr>
        <p:spPr>
          <a:xfrm>
            <a:off x="7645400" y="3048000"/>
            <a:ext cx="787400" cy="355600"/>
          </a:xfrm>
          <a:prstGeom prst="roundRect">
            <a:avLst/>
          </a:prstGeom>
          <a:solidFill>
            <a:srgbClr val="5B5BD6"/>
          </a:solidFill>
        </p:spPr>
        <p:txBody>
          <a:bodyPr wrap="square" lIns="45720" rtlCol="0" anchor="ctr">
            <a:no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Inter Tight"/>
                <a:cs typeface="Inter Tight"/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396984845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B5C163-F951-A24C-83A2-907570B7BA75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2ae08fb-fe0a-4569-b77a-71b2ca46432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abfc5af-ba08-4223-8118-2e61d2979772" xsi:nil="true"/>
    <lcf76f155ced4ddcb4097134ff3c332f xmlns="a1200294-7566-47bd-bcc6-0c4e5d371f43">
      <Terms xmlns="http://schemas.microsoft.com/office/infopath/2007/PartnerControls"/>
    </lcf76f155ced4ddcb4097134ff3c332f>
    <SessionNo xmlns="a1200294-7566-47bd-bcc6-0c4e5d371f43">1</SessionNo>
    <PostingDate xmlns="a1200294-7566-47bd-bcc6-0c4e5d371f43" xsi:nil="true"/>
    <Employee xmlns="a1200294-7566-47bd-bcc6-0c4e5d371f43">
      <UserInfo>
        <DisplayName/>
        <AccountId xsi:nil="true"/>
        <AccountType/>
      </UserInfo>
    </Employe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3FF15707724F49A972C13B33FAAA8B" ma:contentTypeVersion="38" ma:contentTypeDescription="Create a new document." ma:contentTypeScope="" ma:versionID="851fe35329e603af911194bdcd4ec314">
  <xsd:schema xmlns:xsd="http://www.w3.org/2001/XMLSchema" xmlns:xs="http://www.w3.org/2001/XMLSchema" xmlns:p="http://schemas.microsoft.com/office/2006/metadata/properties" xmlns:ns2="a1200294-7566-47bd-bcc6-0c4e5d371f43" xmlns:ns3="babfc5af-ba08-4223-8118-2e61d2979772" targetNamespace="http://schemas.microsoft.com/office/2006/metadata/properties" ma:root="true" ma:fieldsID="0d41bec471a18ca9aab9c386c55630d7" ns2:_="" ns3:_="">
    <xsd:import namespace="a1200294-7566-47bd-bcc6-0c4e5d371f43"/>
    <xsd:import namespace="babfc5af-ba08-4223-8118-2e61d2979772"/>
    <xsd:element name="properties">
      <xsd:complexType>
        <xsd:sequence>
          <xsd:element name="documentManagement">
            <xsd:complexType>
              <xsd:all>
                <xsd:element ref="ns2:Employee" minOccurs="0"/>
                <xsd:element ref="ns2:PostingDate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SessionNo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00294-7566-47bd-bcc6-0c4e5d371f43" elementFormDefault="qualified">
    <xsd:import namespace="http://schemas.microsoft.com/office/2006/documentManagement/types"/>
    <xsd:import namespace="http://schemas.microsoft.com/office/infopath/2007/PartnerControls"/>
    <xsd:element name="Employee" ma:index="1" nillable="true" ma:displayName="Employee" ma:list="UserInfo" ma:SharePointGroup="0" ma:internalName="Employe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ostingDate" ma:index="2" nillable="true" ma:displayName="Posting Date" ma:format="DateOnly" ma:internalName="PostingDate" ma:readOnly="false">
      <xsd:simpleType>
        <xsd:restriction base="dms:DateTime"/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4" nillable="true" ma:displayName="Tags" ma:hidden="true" ma:internalName="MediaServiceAutoTags" ma:readOnly="true">
      <xsd:simpleType>
        <xsd:restriction base="dms:Text"/>
      </xsd:simple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c01bbee-216c-4cdf-bb0c-f637e50b3b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SessionNo" ma:index="27" nillable="true" ma:displayName="Order" ma:decimals="0" ma:default="1" ma:format="Dropdown" ma:internalName="SessionNo" ma:percentage="FALSE">
      <xsd:simpleType>
        <xsd:restriction base="dms:Number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fc5af-ba08-4223-8118-2e61d29797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30907219-2b16-4918-aa31-a6d15e45b1a4}" ma:internalName="TaxCatchAll" ma:readOnly="false" ma:showField="CatchAllData" ma:web="babfc5af-ba08-4223-8118-2e61d29797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C38A34-1C09-44AF-A4CC-A67B6F751BAC}">
  <ds:schemaRefs>
    <ds:schemaRef ds:uri="a1200294-7566-47bd-bcc6-0c4e5d371f43"/>
    <ds:schemaRef ds:uri="babfc5af-ba08-4223-8118-2e61d297977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C21C174-D453-4914-8411-DE970D7B27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7A362D-1894-48CE-8E97-55D3A9BA4B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00294-7566-47bd-bcc6-0c4e5d371f43"/>
    <ds:schemaRef ds:uri="babfc5af-ba08-4223-8118-2e61d29797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56408</TotalTime>
  <Words>1413</Words>
  <Application>Microsoft Macintosh PowerPoint</Application>
  <PresentationFormat>On-screen Show (16:9)</PresentationFormat>
  <Paragraphs>366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Inter Tight</vt:lpstr>
      <vt:lpstr>Helvetica Neue</vt:lpstr>
      <vt:lpstr>Consolas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Yuwei (Vivi) Ye</cp:lastModifiedBy>
  <cp:revision>35</cp:revision>
  <cp:lastPrinted>2026-06-11T01:41:40Z</cp:lastPrinted>
  <dcterms:modified xsi:type="dcterms:W3CDTF">2026-06-24T04:16:21Z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0x010100AF3FF15707724F49A972C13B33FAAA8B</vt:lpwstr>
  </property>
  <property fmtid="{D5CDD505-2E9C-101B-9397-08002B2CF9AE}" pid="3" name="MediaServiceImageTags">
    <vt:lpwstr/>
  </property>
</Properties>
</file>