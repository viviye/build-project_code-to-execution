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4"/>
  </p:sldMasterIdLst>
  <p:notesMasterIdLst>
    <p:notesMasterId r:id="rId31"/>
  </p:notesMasterIdLst>
  <p:sldIdLst>
    <p:sldId id="520" r:id="rId5"/>
    <p:sldId id="530" r:id="rId6"/>
    <p:sldId id="573" r:id="rId7"/>
    <p:sldId id="574" r:id="rId8"/>
    <p:sldId id="575" r:id="rId9"/>
    <p:sldId id="576" r:id="rId10"/>
    <p:sldId id="577" r:id="rId11"/>
    <p:sldId id="578" r:id="rId12"/>
    <p:sldId id="579" r:id="rId13"/>
    <p:sldId id="580" r:id="rId14"/>
    <p:sldId id="581" r:id="rId15"/>
    <p:sldId id="582" r:id="rId16"/>
    <p:sldId id="583" r:id="rId17"/>
    <p:sldId id="584" r:id="rId18"/>
    <p:sldId id="585" r:id="rId19"/>
    <p:sldId id="596" r:id="rId20"/>
    <p:sldId id="587" r:id="rId21"/>
    <p:sldId id="597" r:id="rId22"/>
    <p:sldId id="598" r:id="rId23"/>
    <p:sldId id="599" r:id="rId24"/>
    <p:sldId id="600" r:id="rId25"/>
    <p:sldId id="601" r:id="rId26"/>
    <p:sldId id="602" r:id="rId27"/>
    <p:sldId id="603" r:id="rId28"/>
    <p:sldId id="604" r:id="rId29"/>
    <p:sldId id="608" r:id="rId30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Inter Tight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4"/>
    <p:restoredTop sz="94694"/>
  </p:normalViewPr>
  <p:slideViewPr>
    <p:cSldViewPr snapToGrid="0">
      <p:cViewPr>
        <p:scale>
          <a:sx n="87" d="100"/>
          <a:sy n="87" d="100"/>
        </p:scale>
        <p:origin x="1216" y="13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8.fntdata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TITLE_1_3_1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white">
  <p:cSld name="TITLE_1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28" name="Google Shape;2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9600" y="4777027"/>
            <a:ext cx="1641801" cy="172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purple">
  <p:cSld name="TITLE_1_3_1_1">
    <p:bg>
      <p:bgPr>
        <a:solidFill>
          <a:srgbClr val="BE9B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ight">
  <p:cSld name="TITLE_1_3_1_1_1">
    <p:bg>
      <p:bgPr>
        <a:solidFill>
          <a:srgbClr val="FAF5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TITLE_1_3_1_1_1_1_1">
    <p:bg>
      <p:bgPr>
        <a:solidFill>
          <a:srgbClr val="242385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lue">
  <p:cSld name="TITLE_1_3_1_1_1_1_1_1">
    <p:bg>
      <p:bgPr>
        <a:solidFill>
          <a:srgbClr val="5370E7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>
  <p:cSld name="TITLE_1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7" name="Google Shape;1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38" y="411392"/>
            <a:ext cx="2845117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Yellow">
  <p:cSld name="TITLE_1_2_1">
    <p:bg>
      <p:bgPr>
        <a:solidFill>
          <a:srgbClr val="5370E7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Inter Tight"/>
              <a:buNone/>
              <a:defRPr sz="7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21" name="Google Shape;2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00" y="411400"/>
            <a:ext cx="2845189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Black">
  <p:cSld name="TITLE_1_2_1_1">
    <p:bg>
      <p:bgPr>
        <a:solidFill>
          <a:srgbClr val="BE9B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Inter Tight"/>
              <a:buNone/>
              <a:defRPr sz="7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25" name="Google Shape;2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00" y="411400"/>
            <a:ext cx="2845189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light 1">
  <p:cSld name="TITLE_1_1_7">
    <p:bg>
      <p:bgPr>
        <a:solidFill>
          <a:srgbClr val="FAF5FF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32" name="Google Shape;3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">
  <p:cSld name="TITLE_1_1_6_2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500"/>
              <a:buFont typeface="Inter Tight"/>
              <a:buNone/>
              <a:defRPr sz="1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2" name="Google Shape;42;p1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3" name="Google Shape;4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copy dark">
  <p:cSld name="TITLE_1_1_6_1_1">
    <p:bg>
      <p:bgPr>
        <a:solidFill>
          <a:srgbClr val="242385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3500"/>
              <a:buFont typeface="Inter Tight"/>
              <a:buNone/>
              <a:defRPr sz="3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1"/>
          </p:nvPr>
        </p:nvSpPr>
        <p:spPr>
          <a:xfrm>
            <a:off x="459600" y="17967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8" name="Google Shape;58;p18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59" name="Google Shape;5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dark">
  <p:cSld name="TITLE_1_1_3_1_1">
    <p:bg>
      <p:bgPr>
        <a:solidFill>
          <a:srgbClr val="242385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0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8" name="Google Shape;108;p30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10000"/>
              <a:buFont typeface="Inter Tight"/>
              <a:buNone/>
              <a:defRPr sz="10000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09" name="Google Shape;10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copy 2">
  <p:cSld name="TITLE_1_1_6_1">
    <p:bg>
      <p:bgPr>
        <a:solidFill>
          <a:srgbClr val="BE9BFF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459600" y="17967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7" name="Google Shape;47;p16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8" name="Google Shape;4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 2">
  <p:cSld name="TITLE_1_1_6_2_1">
    <p:bg>
      <p:bgPr>
        <a:solidFill>
          <a:srgbClr val="BE9B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None/>
              <a:defRPr sz="1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3" name="Google Shape;53;p1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54" name="Google Shape;5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 dark">
  <p:cSld name="TITLE_1_1_6_2_1_1">
    <p:bg>
      <p:bgPr>
        <a:solidFill>
          <a:srgbClr val="242385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500"/>
              <a:buFont typeface="Inter Tight"/>
              <a:buNone/>
              <a:defRPr sz="1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ter Tight"/>
              <a:buNone/>
              <a:defRPr sz="3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64" name="Google Shape;64;p19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65" name="Google Shape;6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purple">
  <p:cSld name="TITLE_1_1_5">
    <p:bg>
      <p:bgPr>
        <a:solidFill>
          <a:srgbClr val="BE9BF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69" name="Google Shape;6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white">
  <p:cSld name="TITLE_1_1_5_2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1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3" name="Google Shape;7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dark">
  <p:cSld name="TITLE_1_1_5_1">
    <p:bg>
      <p:bgPr>
        <a:solidFill>
          <a:srgbClr val="242385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7" name="Google Shape;7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blue">
  <p:cSld name="TITLE_1_1_5_1_1">
    <p:bg>
      <p:bgPr>
        <a:solidFill>
          <a:srgbClr val="5370E7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1" name="Google Shape;8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">
  <p:cSld name="TITLE_1_1_4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24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5" name="Google Shape;8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urple">
  <p:cSld name="TITLE_1_1_4_3">
    <p:bg>
      <p:bgPr>
        <a:solidFill>
          <a:srgbClr val="BE9B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9" name="Google Shape;8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lue">
  <p:cSld name="TITLE_1_1_4_2">
    <p:bg>
      <p:bgPr>
        <a:solidFill>
          <a:srgbClr val="5370E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6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6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93" name="Google Shape;9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dark">
  <p:cSld name="TITLE_1_1_4_1">
    <p:bg>
      <p:bgPr>
        <a:solidFill>
          <a:srgbClr val="242385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>
            <a:spLocks noGrp="1"/>
          </p:cNvSpPr>
          <p:nvPr>
            <p:ph type="pic" idx="2"/>
          </p:nvPr>
        </p:nvSpPr>
        <p:spPr>
          <a:xfrm>
            <a:off x="459600" y="536700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97" name="Google Shape;9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White">
  <p:cSld name="TITLE_1_1_3_1"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9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4" name="Google Shape;104;p29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0000"/>
              <a:buFont typeface="Inter Tight"/>
              <a:buNone/>
              <a:defRPr sz="10000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05" name="Google Shape;10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blue">
  <p:cSld name="TITLE_1_1_3_1_1_1">
    <p:bg>
      <p:bgPr>
        <a:solidFill>
          <a:srgbClr val="5370E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1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2" name="Google Shape;112;p31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0"/>
              <a:buFont typeface="Inter Tight"/>
              <a:buNone/>
              <a:defRPr sz="10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13" name="Google Shape;113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TITLE_1_1_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2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5370E7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6" name="Google Shape;116;p3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17" name="Google Shape;11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purple">
  <p:cSld name="TITLE_1_1_2_1">
    <p:bg>
      <p:bgPr>
        <a:solidFill>
          <a:srgbClr val="BE9B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3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0" name="Google Shape;120;p3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1" name="Google Shape;12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ark">
  <p:cSld name="TITLE_1_1_2_1_1">
    <p:bg>
      <p:bgPr>
        <a:solidFill>
          <a:srgbClr val="242385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4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4" name="Google Shape;124;p34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BE9B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5" name="Google Shape;12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blue">
  <p:cSld name="TITLE_1_1_2_1_1_1">
    <p:bg>
      <p:bgPr>
        <a:solidFill>
          <a:srgbClr val="5370E7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8" name="Google Shape;128;p35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9" name="Google Shape;129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purple">
  <p:cSld name="TITLE_1_1_1_1">
    <p:bg>
      <p:bgPr>
        <a:solidFill>
          <a:srgbClr val="BE9B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35" name="Google Shape;13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blue">
  <p:cSld name="TITLE_1_1_1_1_1">
    <p:bg>
      <p:bgPr>
        <a:solidFill>
          <a:srgbClr val="5370E7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8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38" name="Google Shape;138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hite">
  <p:cSld name="Blank whit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01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48" r:id="rId3"/>
    <p:sldLayoutId id="2147483650" r:id="rId4"/>
    <p:sldLayoutId id="2147483651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61" r:id="rId12"/>
    <p:sldLayoutId id="2147483664" r:id="rId13"/>
    <p:sldLayoutId id="2147483676" r:id="rId14"/>
    <p:sldLayoutId id="2147483662" r:id="rId15"/>
    <p:sldLayoutId id="2147483663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3" r:id="rId32"/>
    <p:sldLayoutId id="2147483684" r:id="rId33"/>
    <p:sldLayoutId id="2147483686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2273D5-9264-0A4E-AD8B-5953D481210A}"/>
              </a:ext>
            </a:extLst>
          </p:cNvPr>
          <p:cNvSpPr txBox="1"/>
          <p:nvPr/>
        </p:nvSpPr>
        <p:spPr>
          <a:xfrm>
            <a:off x="508000" y="508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WORKSHOP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639CD9-D8A9-9844-AFA4-5FA64385815E}"/>
              </a:ext>
            </a:extLst>
          </p:cNvPr>
          <p:cNvSpPr txBox="1"/>
          <p:nvPr/>
        </p:nvSpPr>
        <p:spPr>
          <a:xfrm>
            <a:off x="508000" y="825500"/>
            <a:ext cx="7620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60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Programs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EDB8EA-3064-084E-82C4-019D77909673}"/>
              </a:ext>
            </a:extLst>
          </p:cNvPr>
          <p:cNvSpPr txBox="1"/>
          <p:nvPr/>
        </p:nvSpPr>
        <p:spPr>
          <a:xfrm>
            <a:off x="508000" y="1714500"/>
            <a:ext cx="7620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60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Are Trees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0BE31-DA7A-5F4F-B9A0-CBE30B33BAE1}"/>
              </a:ext>
            </a:extLst>
          </p:cNvPr>
          <p:cNvSpPr txBox="1"/>
          <p:nvPr/>
        </p:nvSpPr>
        <p:spPr>
          <a:xfrm>
            <a:off x="508000" y="2730500"/>
            <a:ext cx="812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How computers represent program structure.</a:t>
            </a:r>
          </a:p>
        </p:txBody>
      </p:sp>
      <p:cxnSp>
        <p:nvCxnSpPr>
          <p:cNvPr id="240" name="ln"/>
          <p:cNvCxnSpPr/>
          <p:nvPr/>
        </p:nvCxnSpPr>
        <p:spPr>
          <a:xfrm flipH="1">
            <a:off x="6604000" y="2921000"/>
            <a:ext cx="635000" cy="698500"/>
          </a:xfrm>
          <a:prstGeom prst="line">
            <a:avLst/>
          </a:prstGeom>
          <a:ln w="19050">
            <a:solidFill>
              <a:srgbClr val="8B8BE6"/>
            </a:solidFill>
          </a:ln>
        </p:spPr>
      </p:cxnSp>
      <p:cxnSp>
        <p:nvCxnSpPr>
          <p:cNvPr id="241" name="ln"/>
          <p:cNvCxnSpPr/>
          <p:nvPr/>
        </p:nvCxnSpPr>
        <p:spPr>
          <a:xfrm>
            <a:off x="7239000" y="2921000"/>
            <a:ext cx="635000" cy="698500"/>
          </a:xfrm>
          <a:prstGeom prst="line">
            <a:avLst/>
          </a:prstGeom>
          <a:ln w="19050">
            <a:solidFill>
              <a:srgbClr val="8B8BE6"/>
            </a:solidFill>
          </a:ln>
        </p:spPr>
      </p:cxnSp>
      <p:cxnSp>
        <p:nvCxnSpPr>
          <p:cNvPr id="242" name="ln"/>
          <p:cNvCxnSpPr/>
          <p:nvPr/>
        </p:nvCxnSpPr>
        <p:spPr>
          <a:xfrm flipH="1">
            <a:off x="7429500" y="3619500"/>
            <a:ext cx="444500" cy="698500"/>
          </a:xfrm>
          <a:prstGeom prst="line">
            <a:avLst/>
          </a:prstGeom>
          <a:ln w="19050">
            <a:solidFill>
              <a:srgbClr val="8B8BE6"/>
            </a:solidFill>
          </a:ln>
        </p:spPr>
      </p:cxnSp>
      <p:cxnSp>
        <p:nvCxnSpPr>
          <p:cNvPr id="243" name="ln"/>
          <p:cNvCxnSpPr/>
          <p:nvPr/>
        </p:nvCxnSpPr>
        <p:spPr>
          <a:xfrm>
            <a:off x="7874000" y="3619500"/>
            <a:ext cx="444500" cy="698500"/>
          </a:xfrm>
          <a:prstGeom prst="line">
            <a:avLst/>
          </a:prstGeom>
          <a:ln w="19050">
            <a:solidFill>
              <a:srgbClr val="8B8BE6"/>
            </a:solidFill>
          </a:ln>
        </p:spPr>
      </p:cxnSp>
      <p:sp>
        <p:nvSpPr>
          <p:cNvPr id="244" name="node"/>
          <p:cNvSpPr/>
          <p:nvPr/>
        </p:nvSpPr>
        <p:spPr>
          <a:xfrm>
            <a:off x="7023100" y="2705100"/>
            <a:ext cx="431800" cy="431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Inter Tight"/>
              </a:rPr>
              <a:t>+</a:t>
            </a:r>
          </a:p>
        </p:txBody>
      </p:sp>
      <p:sp>
        <p:nvSpPr>
          <p:cNvPr id="245" name="node"/>
          <p:cNvSpPr/>
          <p:nvPr/>
        </p:nvSpPr>
        <p:spPr>
          <a:xfrm>
            <a:off x="6388100" y="3403600"/>
            <a:ext cx="431800" cy="431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Inter Tight"/>
              </a:rPr>
              <a:t>3</a:t>
            </a:r>
          </a:p>
        </p:txBody>
      </p:sp>
      <p:sp>
        <p:nvSpPr>
          <p:cNvPr id="246" name="node"/>
          <p:cNvSpPr/>
          <p:nvPr/>
        </p:nvSpPr>
        <p:spPr>
          <a:xfrm>
            <a:off x="7658100" y="3403600"/>
            <a:ext cx="431800" cy="431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Inter Tight"/>
              </a:rPr>
              <a:t>×</a:t>
            </a:r>
          </a:p>
        </p:txBody>
      </p:sp>
      <p:sp>
        <p:nvSpPr>
          <p:cNvPr id="247" name="node"/>
          <p:cNvSpPr/>
          <p:nvPr/>
        </p:nvSpPr>
        <p:spPr>
          <a:xfrm>
            <a:off x="7213600" y="4102100"/>
            <a:ext cx="431800" cy="431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Inter Tight"/>
              </a:rPr>
              <a:t>4</a:t>
            </a:r>
          </a:p>
        </p:txBody>
      </p:sp>
      <p:sp>
        <p:nvSpPr>
          <p:cNvPr id="248" name="node"/>
          <p:cNvSpPr/>
          <p:nvPr/>
        </p:nvSpPr>
        <p:spPr>
          <a:xfrm>
            <a:off x="8102600" y="4102100"/>
            <a:ext cx="431800" cy="431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Inter Tigh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21256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527F87-D7F1-044C-AD57-447FEC522586}"/>
              </a:ext>
            </a:extLst>
          </p:cNvPr>
          <p:cNvSpPr txBox="1"/>
          <p:nvPr/>
        </p:nvSpPr>
        <p:spPr>
          <a:xfrm>
            <a:off x="457200" y="2222500"/>
            <a:ext cx="4064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Where we left off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E5969D-88DF-7547-B0DF-2ADBEDC4A9D4}"/>
              </a:ext>
            </a:extLst>
          </p:cNvPr>
          <p:cNvSpPr txBox="1"/>
          <p:nvPr/>
        </p:nvSpPr>
        <p:spPr>
          <a:xfrm>
            <a:off x="457200" y="29210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A REPL shell — and Python quietly did the rest.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6889A-F069-924B-8832-7DA8FBA85C4D}"/>
              </a:ext>
            </a:extLst>
          </p:cNvPr>
          <p:cNvSpPr txBox="1"/>
          <p:nvPr/>
        </p:nvSpPr>
        <p:spPr>
          <a:xfrm>
            <a:off x="5080000" y="7620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You built a tiny REPL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B6BA5C-EC0D-DD47-8A6B-2A4E24AFFED7}"/>
              </a:ext>
            </a:extLst>
          </p:cNvPr>
          <p:cNvSpPr txBox="1"/>
          <p:nvPr/>
        </p:nvSpPr>
        <p:spPr>
          <a:xfrm>
            <a:off x="5080000" y="1092200"/>
            <a:ext cx="3556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Read input, call eval(), print result, loop.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FA402D-6481-3343-B7B2-AB7AED645342}"/>
              </a:ext>
            </a:extLst>
          </p:cNvPr>
          <p:cNvSpPr txBox="1"/>
          <p:nvPr/>
        </p:nvSpPr>
        <p:spPr>
          <a:xfrm>
            <a:off x="5080000" y="19050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You saw the big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4A637A-6A2D-F846-9129-ACE89D31E061}"/>
              </a:ext>
            </a:extLst>
          </p:cNvPr>
          <p:cNvSpPr txBox="1"/>
          <p:nvPr/>
        </p:nvSpPr>
        <p:spPr>
          <a:xfrm>
            <a:off x="5080000" y="2235200"/>
            <a:ext cx="3556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Source → Tokens → Parser → AST → Interpreter → Output.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1AB2A9-AF79-EB4A-AA1D-9C9A9ED38BDA}"/>
              </a:ext>
            </a:extLst>
          </p:cNvPr>
          <p:cNvSpPr txBox="1"/>
          <p:nvPr/>
        </p:nvSpPr>
        <p:spPr>
          <a:xfrm>
            <a:off x="5080000" y="30480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5B5BD6"/>
                </a:solidFill>
                <a:latin typeface="Inter Tight"/>
                <a:ea typeface="Inter Tight"/>
                <a:cs typeface="Inter Tight"/>
              </a:rPr>
              <a:t>But eval() is hiding the 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79304A-2C2F-074D-B34E-69C9991C6056}"/>
              </a:ext>
            </a:extLst>
          </p:cNvPr>
          <p:cNvSpPr txBox="1"/>
          <p:nvPr/>
        </p:nvSpPr>
        <p:spPr>
          <a:xfrm>
            <a:off x="5080000" y="3378200"/>
            <a:ext cx="3556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1A1A2E"/>
                </a:solidFill>
                <a:latin typeface="Inter Tight"/>
                <a:ea typeface="Inter Tight"/>
                <a:cs typeface="Inter Tight"/>
              </a:rPr>
              <a:t>Today we replace it — starting with the evaluator.</a:t>
            </a:r>
          </a:p>
        </p:txBody>
      </p:sp>
    </p:spTree>
    <p:extLst>
      <p:ext uri="{BB962C8B-B14F-4D97-AF65-F5344CB8AC3E}">
        <p14:creationId xmlns:p14="http://schemas.microsoft.com/office/powerpoint/2010/main" val="510634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Why programs need structure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Same symbols. Different answers. Why?</a:t>
            </a:r>
          </a:p>
        </p:txBody>
      </p:sp>
      <p:sp>
        <p:nvSpPr>
          <p:cNvPr id="12" name="s"/>
          <p:cNvSpPr/>
          <p:nvPr/>
        </p:nvSpPr>
        <p:spPr>
          <a:xfrm>
            <a:off x="457200" y="1422400"/>
            <a:ext cx="3987800" cy="2235200"/>
          </a:xfrm>
          <a:prstGeom prst="roundRect">
            <a:avLst>
              <a:gd name="adj" fmla="val 6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2400" b="1" spc="-20">
                <a:solidFill>
                  <a:srgbClr val="242385"/>
                </a:solidFill>
                <a:latin typeface="Consolas"/>
                <a:cs typeface="Consolas"/>
              </a:rPr>
              <a:t>1 + 2 × 3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2000" b="1">
                <a:solidFill>
                  <a:srgbClr val="5B5BD6"/>
                </a:solidFill>
                <a:latin typeface="Inter Tight"/>
              </a:rPr>
              <a:t>= 7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× binds tighter than +, so 2 × 3 happens first.</a:t>
            </a:r>
          </a:p>
        </p:txBody>
      </p:sp>
      <p:sp>
        <p:nvSpPr>
          <p:cNvPr id="13" name="s"/>
          <p:cNvSpPr/>
          <p:nvPr/>
        </p:nvSpPr>
        <p:spPr>
          <a:xfrm>
            <a:off x="4699000" y="1422400"/>
            <a:ext cx="3987800" cy="2235200"/>
          </a:xfrm>
          <a:prstGeom prst="roundRect">
            <a:avLst>
              <a:gd name="adj" fmla="val 6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2400" b="1" spc="-20">
                <a:solidFill>
                  <a:srgbClr val="242385"/>
                </a:solidFill>
                <a:latin typeface="Consolas"/>
                <a:cs typeface="Consolas"/>
              </a:rPr>
              <a:t>(1 + 2) × 3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2000" b="1">
                <a:solidFill>
                  <a:srgbClr val="5B5BD6"/>
                </a:solidFill>
                <a:latin typeface="Inter Tight"/>
              </a:rPr>
              <a:t>= 9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Parentheses force 1 + 2 to happen first.</a:t>
            </a:r>
          </a:p>
        </p:txBody>
      </p:sp>
      <p:sp>
        <p:nvSpPr>
          <p:cNvPr id="14" name="s"/>
          <p:cNvSpPr/>
          <p:nvPr/>
        </p:nvSpPr>
        <p:spPr>
          <a:xfrm>
            <a:off x="457200" y="3810000"/>
            <a:ext cx="8229600" cy="787400"/>
          </a:xfrm>
          <a:prstGeom prst="roundRect">
            <a:avLst>
              <a:gd name="adj" fmla="val 14000"/>
            </a:avLst>
          </a:prstGeom>
          <a:solidFill>
            <a:srgbClr val="5B5BD6"/>
          </a:solidFill>
          <a:ln>
            <a:noFill/>
          </a:ln>
        </p:spPr>
        <p:txBody>
          <a:bodyPr wrap="square" lIns="203200" tIns="177800" rIns="177800" bIns="152400" rtlCol="0" anchor="ctr">
            <a:noAutofit/>
          </a:bodyPr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Inter Tight"/>
              </a:rPr>
              <a:t>Text alone is not enough.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300">
                <a:solidFill>
                  <a:srgbClr val="FFFFFF"/>
                </a:solidFill>
                <a:latin typeface="Inter Tight"/>
              </a:rPr>
              <a:t>Structure — not the symbols — decides what a program means.</a:t>
            </a:r>
          </a:p>
        </p:txBody>
      </p:sp>
    </p:spTree>
    <p:extLst>
      <p:ext uri="{BB962C8B-B14F-4D97-AF65-F5344CB8AC3E}">
        <p14:creationId xmlns:p14="http://schemas.microsoft.com/office/powerpoint/2010/main" val="2150415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Tree fundamentals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Five words we'll use for the rest of today.</a:t>
            </a:r>
          </a:p>
        </p:txBody>
      </p:sp>
      <p:cxnSp>
        <p:nvCxnSpPr>
          <p:cNvPr id="12" name="ln"/>
          <p:cNvCxnSpPr/>
          <p:nvPr/>
        </p:nvCxnSpPr>
        <p:spPr>
          <a:xfrm flipH="1">
            <a:off x="1524000" y="1905000"/>
            <a:ext cx="698500" cy="7874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3" name="ln"/>
          <p:cNvCxnSpPr/>
          <p:nvPr/>
        </p:nvCxnSpPr>
        <p:spPr>
          <a:xfrm>
            <a:off x="2222500" y="1905000"/>
            <a:ext cx="698500" cy="7874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4" name="ln"/>
          <p:cNvCxnSpPr/>
          <p:nvPr/>
        </p:nvCxnSpPr>
        <p:spPr>
          <a:xfrm flipH="1">
            <a:off x="1143000" y="2908300"/>
            <a:ext cx="381000" cy="5461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5" name="ln"/>
          <p:cNvCxnSpPr/>
          <p:nvPr/>
        </p:nvCxnSpPr>
        <p:spPr>
          <a:xfrm>
            <a:off x="1524000" y="2908300"/>
            <a:ext cx="508000" cy="5461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sp>
        <p:nvSpPr>
          <p:cNvPr id="16" name="s"/>
          <p:cNvSpPr/>
          <p:nvPr/>
        </p:nvSpPr>
        <p:spPr>
          <a:xfrm>
            <a:off x="2006600" y="1689100"/>
            <a:ext cx="431800" cy="431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</a:rPr>
              <a:t>+</a:t>
            </a:r>
          </a:p>
        </p:txBody>
      </p:sp>
      <p:sp>
        <p:nvSpPr>
          <p:cNvPr id="17" name="s"/>
          <p:cNvSpPr/>
          <p:nvPr/>
        </p:nvSpPr>
        <p:spPr>
          <a:xfrm>
            <a:off x="1308100" y="2476500"/>
            <a:ext cx="431800" cy="431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</a:rPr>
              <a:t>a</a:t>
            </a:r>
          </a:p>
        </p:txBody>
      </p:sp>
      <p:sp>
        <p:nvSpPr>
          <p:cNvPr id="18" name="s"/>
          <p:cNvSpPr/>
          <p:nvPr/>
        </p:nvSpPr>
        <p:spPr>
          <a:xfrm>
            <a:off x="2705100" y="2476500"/>
            <a:ext cx="431800" cy="431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</a:rPr>
              <a:t>b</a:t>
            </a:r>
          </a:p>
        </p:txBody>
      </p:sp>
      <p:sp>
        <p:nvSpPr>
          <p:cNvPr id="19" name="s"/>
          <p:cNvSpPr/>
          <p:nvPr/>
        </p:nvSpPr>
        <p:spPr>
          <a:xfrm>
            <a:off x="927100" y="3238500"/>
            <a:ext cx="431800" cy="431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</a:rPr>
              <a:t>c</a:t>
            </a:r>
          </a:p>
        </p:txBody>
      </p:sp>
      <p:sp>
        <p:nvSpPr>
          <p:cNvPr id="20" name="s"/>
          <p:cNvSpPr/>
          <p:nvPr/>
        </p:nvSpPr>
        <p:spPr>
          <a:xfrm>
            <a:off x="1816100" y="3238500"/>
            <a:ext cx="431800" cy="431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</a:rPr>
              <a:t>d</a:t>
            </a:r>
          </a:p>
        </p:txBody>
      </p:sp>
      <p:sp>
        <p:nvSpPr>
          <p:cNvPr id="21" name="s"/>
          <p:cNvSpPr txBox="1"/>
          <p:nvPr/>
        </p:nvSpPr>
        <p:spPr>
          <a:xfrm>
            <a:off x="2489200" y="1778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8B8BB0"/>
                </a:solidFill>
                <a:latin typeface="Inter Tight"/>
              </a:rPr>
              <a:t>root</a:t>
            </a:r>
          </a:p>
        </p:txBody>
      </p:sp>
      <p:sp>
        <p:nvSpPr>
          <p:cNvPr id="22" name="s"/>
          <p:cNvSpPr txBox="1"/>
          <p:nvPr/>
        </p:nvSpPr>
        <p:spPr>
          <a:xfrm>
            <a:off x="457200" y="26035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8B8BB0"/>
                </a:solidFill>
                <a:latin typeface="Inter Tight"/>
              </a:rPr>
              <a:t>parent</a:t>
            </a:r>
          </a:p>
        </p:txBody>
      </p:sp>
      <p:sp>
        <p:nvSpPr>
          <p:cNvPr id="23" name="s"/>
          <p:cNvSpPr txBox="1"/>
          <p:nvPr/>
        </p:nvSpPr>
        <p:spPr>
          <a:xfrm>
            <a:off x="3149600" y="26035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8B8BB0"/>
                </a:solidFill>
                <a:latin typeface="Inter Tight"/>
              </a:rPr>
              <a:t>leaf</a:t>
            </a:r>
          </a:p>
        </p:txBody>
      </p:sp>
      <p:sp>
        <p:nvSpPr>
          <p:cNvPr id="24" name="s"/>
          <p:cNvSpPr txBox="1"/>
          <p:nvPr/>
        </p:nvSpPr>
        <p:spPr>
          <a:xfrm>
            <a:off x="457200" y="33655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8B8BB0"/>
                </a:solidFill>
                <a:latin typeface="Inter Tight"/>
              </a:rPr>
              <a:t>children</a:t>
            </a:r>
          </a:p>
        </p:txBody>
      </p:sp>
      <p:sp>
        <p:nvSpPr>
          <p:cNvPr id="25" name="s"/>
          <p:cNvSpPr/>
          <p:nvPr/>
        </p:nvSpPr>
        <p:spPr>
          <a:xfrm>
            <a:off x="5029200" y="1397000"/>
            <a:ext cx="3657600" cy="3022600"/>
          </a:xfrm>
          <a:prstGeom prst="roundRect">
            <a:avLst>
              <a:gd name="adj" fmla="val 6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THE WORDS</a:t>
            </a:r>
          </a:p>
          <a:p>
            <a:pPr marL="171450" indent="-171450" algn="l">
              <a:lnSpc>
                <a:spcPts val="1550"/>
              </a:lnSpc>
              <a:spcBef>
                <a:spcPts val="700"/>
              </a:spcBef>
              <a:buFont typeface="Arial"/>
              <a:buChar char="•"/>
            </a:pPr>
            <a:r>
              <a:rPr lang="en-US" sz="1300" b="1">
                <a:solidFill>
                  <a:srgbClr val="5B5BD6"/>
                </a:solidFill>
                <a:latin typeface="Inter Tight"/>
              </a:rPr>
              <a:t>Root — </a:t>
            </a:r>
            <a:r>
              <a:rPr lang="en-US" sz="1300">
                <a:solidFill>
                  <a:srgbClr val="1A1A2E"/>
                </a:solidFill>
                <a:latin typeface="Inter Tight"/>
              </a:rPr>
              <a:t>the top node; all else hangs from it.</a:t>
            </a:r>
          </a:p>
          <a:p>
            <a:pPr marL="171450" indent="-171450" algn="l">
              <a:lnSpc>
                <a:spcPts val="1550"/>
              </a:lnSpc>
              <a:spcBef>
                <a:spcPts val="700"/>
              </a:spcBef>
              <a:buFont typeface="Arial"/>
              <a:buChar char="•"/>
            </a:pPr>
            <a:r>
              <a:rPr lang="en-US" sz="1300" b="1">
                <a:solidFill>
                  <a:srgbClr val="5B5BD6"/>
                </a:solidFill>
                <a:latin typeface="Inter Tight"/>
              </a:rPr>
              <a:t>Parent — </a:t>
            </a:r>
            <a:r>
              <a:rPr lang="en-US" sz="1300">
                <a:solidFill>
                  <a:srgbClr val="1A1A2E"/>
                </a:solidFill>
                <a:latin typeface="Inter Tight"/>
              </a:rPr>
              <a:t>a node with children below it.</a:t>
            </a:r>
          </a:p>
          <a:p>
            <a:pPr marL="171450" indent="-171450" algn="l">
              <a:lnSpc>
                <a:spcPts val="1550"/>
              </a:lnSpc>
              <a:spcBef>
                <a:spcPts val="700"/>
              </a:spcBef>
              <a:buFont typeface="Arial"/>
              <a:buChar char="•"/>
            </a:pPr>
            <a:r>
              <a:rPr lang="en-US" sz="1300" b="1">
                <a:solidFill>
                  <a:srgbClr val="5B5BD6"/>
                </a:solidFill>
                <a:latin typeface="Inter Tight"/>
              </a:rPr>
              <a:t>Child — </a:t>
            </a:r>
            <a:r>
              <a:rPr lang="en-US" sz="1300">
                <a:solidFill>
                  <a:srgbClr val="1A1A2E"/>
                </a:solidFill>
                <a:latin typeface="Inter Tight"/>
              </a:rPr>
              <a:t>a node directly under a parent.</a:t>
            </a:r>
          </a:p>
          <a:p>
            <a:pPr marL="171450" indent="-171450" algn="l">
              <a:lnSpc>
                <a:spcPts val="1550"/>
              </a:lnSpc>
              <a:spcBef>
                <a:spcPts val="700"/>
              </a:spcBef>
              <a:buFont typeface="Arial"/>
              <a:buChar char="•"/>
            </a:pPr>
            <a:r>
              <a:rPr lang="en-US" sz="1300" b="1">
                <a:solidFill>
                  <a:srgbClr val="5B5BD6"/>
                </a:solidFill>
                <a:latin typeface="Inter Tight"/>
              </a:rPr>
              <a:t>Leaf — </a:t>
            </a:r>
            <a:r>
              <a:rPr lang="en-US" sz="1300">
                <a:solidFill>
                  <a:srgbClr val="1A1A2E"/>
                </a:solidFill>
                <a:latin typeface="Inter Tight"/>
              </a:rPr>
              <a:t>a node with no children.</a:t>
            </a:r>
          </a:p>
          <a:p>
            <a:pPr marL="171450" indent="-171450" algn="l">
              <a:lnSpc>
                <a:spcPts val="1550"/>
              </a:lnSpc>
              <a:spcBef>
                <a:spcPts val="700"/>
              </a:spcBef>
              <a:buFont typeface="Arial"/>
              <a:buChar char="•"/>
            </a:pPr>
            <a:r>
              <a:rPr lang="en-US" sz="1300" b="1">
                <a:solidFill>
                  <a:srgbClr val="5B5BD6"/>
                </a:solidFill>
                <a:latin typeface="Inter Tight"/>
              </a:rPr>
              <a:t>Subtree — </a:t>
            </a:r>
            <a:r>
              <a:rPr lang="en-US" sz="1300">
                <a:solidFill>
                  <a:srgbClr val="1A1A2E"/>
                </a:solidFill>
                <a:latin typeface="Inter Tight"/>
              </a:rPr>
              <a:t>any node plus all below it.</a:t>
            </a:r>
          </a:p>
        </p:txBody>
      </p:sp>
    </p:spTree>
    <p:extLst>
      <p:ext uri="{BB962C8B-B14F-4D97-AF65-F5344CB8AC3E}">
        <p14:creationId xmlns:p14="http://schemas.microsoft.com/office/powerpoint/2010/main" val="1320460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Tree example: a family tree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The words make sense once you can see them.</a:t>
            </a:r>
          </a:p>
        </p:txBody>
      </p:sp>
      <p:cxnSp>
        <p:nvCxnSpPr>
          <p:cNvPr id="12" name="ln"/>
          <p:cNvCxnSpPr/>
          <p:nvPr/>
        </p:nvCxnSpPr>
        <p:spPr>
          <a:xfrm flipH="1">
            <a:off x="1778000" y="2108200"/>
            <a:ext cx="762000" cy="5588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3" name="ln"/>
          <p:cNvCxnSpPr/>
          <p:nvPr/>
        </p:nvCxnSpPr>
        <p:spPr>
          <a:xfrm>
            <a:off x="2540000" y="2108200"/>
            <a:ext cx="889000" cy="5588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4" name="ln"/>
          <p:cNvCxnSpPr/>
          <p:nvPr/>
        </p:nvCxnSpPr>
        <p:spPr>
          <a:xfrm flipH="1">
            <a:off x="1270000" y="3048000"/>
            <a:ext cx="508000" cy="5842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5" name="ln"/>
          <p:cNvCxnSpPr/>
          <p:nvPr/>
        </p:nvCxnSpPr>
        <p:spPr>
          <a:xfrm>
            <a:off x="1778000" y="3048000"/>
            <a:ext cx="635000" cy="5842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sp>
        <p:nvSpPr>
          <p:cNvPr id="16" name="s"/>
          <p:cNvSpPr/>
          <p:nvPr/>
        </p:nvSpPr>
        <p:spPr>
          <a:xfrm>
            <a:off x="1778000" y="1701800"/>
            <a:ext cx="1524000" cy="406400"/>
          </a:xfrm>
          <a:prstGeom prst="roundRect">
            <a:avLst>
              <a:gd name="adj" fmla="val 22000"/>
            </a:avLst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</a:rPr>
              <a:t>Grandma</a:t>
            </a:r>
          </a:p>
        </p:txBody>
      </p:sp>
      <p:sp>
        <p:nvSpPr>
          <p:cNvPr id="17" name="s"/>
          <p:cNvSpPr/>
          <p:nvPr/>
        </p:nvSpPr>
        <p:spPr>
          <a:xfrm>
            <a:off x="1168400" y="2667000"/>
            <a:ext cx="1219200" cy="381000"/>
          </a:xfrm>
          <a:prstGeom prst="roundRect">
            <a:avLst>
              <a:gd name="adj" fmla="val 22000"/>
            </a:avLst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</a:rPr>
              <a:t>Mom</a:t>
            </a:r>
          </a:p>
        </p:txBody>
      </p:sp>
      <p:sp>
        <p:nvSpPr>
          <p:cNvPr id="18" name="s"/>
          <p:cNvSpPr/>
          <p:nvPr/>
        </p:nvSpPr>
        <p:spPr>
          <a:xfrm>
            <a:off x="2819400" y="2667000"/>
            <a:ext cx="1219200" cy="381000"/>
          </a:xfrm>
          <a:prstGeom prst="roundRect">
            <a:avLst>
              <a:gd name="adj" fmla="val 22000"/>
            </a:avLst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</a:rPr>
              <a:t>Uncle</a:t>
            </a:r>
          </a:p>
        </p:txBody>
      </p:sp>
      <p:sp>
        <p:nvSpPr>
          <p:cNvPr id="19" name="s"/>
          <p:cNvSpPr/>
          <p:nvPr/>
        </p:nvSpPr>
        <p:spPr>
          <a:xfrm>
            <a:off x="723900" y="3632200"/>
            <a:ext cx="1092200" cy="355600"/>
          </a:xfrm>
          <a:prstGeom prst="roundRect">
            <a:avLst>
              <a:gd name="adj" fmla="val 22000"/>
            </a:avLst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</a:rPr>
              <a:t>You</a:t>
            </a:r>
          </a:p>
        </p:txBody>
      </p:sp>
      <p:sp>
        <p:nvSpPr>
          <p:cNvPr id="20" name="s"/>
          <p:cNvSpPr/>
          <p:nvPr/>
        </p:nvSpPr>
        <p:spPr>
          <a:xfrm>
            <a:off x="1866900" y="3632200"/>
            <a:ext cx="1092200" cy="355600"/>
          </a:xfrm>
          <a:prstGeom prst="roundRect">
            <a:avLst>
              <a:gd name="adj" fmla="val 22000"/>
            </a:avLst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</a:rPr>
              <a:t>Sister</a:t>
            </a:r>
          </a:p>
        </p:txBody>
      </p:sp>
      <p:sp>
        <p:nvSpPr>
          <p:cNvPr id="21" name="s"/>
          <p:cNvSpPr/>
          <p:nvPr/>
        </p:nvSpPr>
        <p:spPr>
          <a:xfrm>
            <a:off x="5029200" y="1397000"/>
            <a:ext cx="3657600" cy="3022600"/>
          </a:xfrm>
          <a:prstGeom prst="roundRect">
            <a:avLst>
              <a:gd name="adj" fmla="val 6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READ THE TREE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Grandma is the root — no parent above.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Mom is a parent and a child.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You &amp; your sister are leaves.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 b="1">
                <a:solidFill>
                  <a:srgbClr val="1A1A2E"/>
                </a:solidFill>
                <a:latin typeface="Inter Tight"/>
              </a:rPr>
              <a:t>Mom + her kids = a subtree.</a:t>
            </a:r>
          </a:p>
        </p:txBody>
      </p:sp>
    </p:spTree>
    <p:extLst>
      <p:ext uri="{BB962C8B-B14F-4D97-AF65-F5344CB8AC3E}">
        <p14:creationId xmlns:p14="http://schemas.microsoft.com/office/powerpoint/2010/main" val="4150352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Tree example: a file system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Folders hold folders hold files — all the way down.</a:t>
            </a:r>
          </a:p>
        </p:txBody>
      </p:sp>
      <p:cxnSp>
        <p:nvCxnSpPr>
          <p:cNvPr id="12" name="ln"/>
          <p:cNvCxnSpPr/>
          <p:nvPr/>
        </p:nvCxnSpPr>
        <p:spPr>
          <a:xfrm flipH="1">
            <a:off x="1651000" y="1981200"/>
            <a:ext cx="762000" cy="6858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3" name="ln"/>
          <p:cNvCxnSpPr/>
          <p:nvPr/>
        </p:nvCxnSpPr>
        <p:spPr>
          <a:xfrm>
            <a:off x="2413000" y="1981200"/>
            <a:ext cx="1079500" cy="6858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4" name="ln"/>
          <p:cNvCxnSpPr/>
          <p:nvPr/>
        </p:nvCxnSpPr>
        <p:spPr>
          <a:xfrm flipH="1">
            <a:off x="1206500" y="3048000"/>
            <a:ext cx="444500" cy="6858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5" name="ln"/>
          <p:cNvCxnSpPr/>
          <p:nvPr/>
        </p:nvCxnSpPr>
        <p:spPr>
          <a:xfrm>
            <a:off x="1651000" y="3048000"/>
            <a:ext cx="698500" cy="6858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sp>
        <p:nvSpPr>
          <p:cNvPr id="16" name="s"/>
          <p:cNvSpPr/>
          <p:nvPr/>
        </p:nvSpPr>
        <p:spPr>
          <a:xfrm>
            <a:off x="1562100" y="1574800"/>
            <a:ext cx="1701800" cy="406400"/>
          </a:xfrm>
          <a:prstGeom prst="roundRect">
            <a:avLst>
              <a:gd name="adj" fmla="val 18000"/>
            </a:avLst>
          </a:prstGeom>
          <a:solidFill>
            <a:srgbClr val="5B5BD6"/>
          </a:solidFill>
          <a:ln w="9525">
            <a:solidFill>
              <a:srgbClr val="D9D9F2"/>
            </a:solidFill>
          </a:ln>
        </p:spPr>
        <p:txBody>
          <a:bodyPr wrap="square" lIns="50800" tIns="0" rIns="50800" bIns="0" rtlCol="0" anchor="ctr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Inter Tight"/>
              </a:rPr>
              <a:t>Documents</a:t>
            </a:r>
          </a:p>
        </p:txBody>
      </p:sp>
      <p:sp>
        <p:nvSpPr>
          <p:cNvPr id="17" name="s"/>
          <p:cNvSpPr/>
          <p:nvPr/>
        </p:nvSpPr>
        <p:spPr>
          <a:xfrm>
            <a:off x="965200" y="2667000"/>
            <a:ext cx="1371600" cy="381000"/>
          </a:xfrm>
          <a:prstGeom prst="roundRect">
            <a:avLst>
              <a:gd name="adj" fmla="val 18000"/>
            </a:avLst>
          </a:prstGeom>
          <a:solidFill>
            <a:srgbClr val="5B5BD6"/>
          </a:solidFill>
          <a:ln w="9525">
            <a:solidFill>
              <a:srgbClr val="D9D9F2"/>
            </a:solidFill>
          </a:ln>
        </p:spPr>
        <p:txBody>
          <a:bodyPr wrap="square" lIns="50800" tIns="0" rIns="50800" bIns="0" rtlCol="0" anchor="ctr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Inter Tight"/>
              </a:rPr>
              <a:t>Photos</a:t>
            </a:r>
          </a:p>
        </p:txBody>
      </p:sp>
      <p:sp>
        <p:nvSpPr>
          <p:cNvPr id="18" name="s"/>
          <p:cNvSpPr/>
          <p:nvPr/>
        </p:nvSpPr>
        <p:spPr>
          <a:xfrm>
            <a:off x="2768600" y="2679700"/>
            <a:ext cx="1574800" cy="355600"/>
          </a:xfrm>
          <a:prstGeom prst="roundRect">
            <a:avLst>
              <a:gd name="adj" fmla="val 18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50800" tIns="0" rIns="50800" bIns="0" rtlCol="0" anchor="ctr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1A1A2E"/>
                </a:solidFill>
                <a:latin typeface="Inter Tight"/>
              </a:rPr>
              <a:t>Resume.pdf</a:t>
            </a:r>
          </a:p>
        </p:txBody>
      </p:sp>
      <p:sp>
        <p:nvSpPr>
          <p:cNvPr id="19" name="s"/>
          <p:cNvSpPr/>
          <p:nvPr/>
        </p:nvSpPr>
        <p:spPr>
          <a:xfrm>
            <a:off x="596900" y="3581400"/>
            <a:ext cx="1244600" cy="330200"/>
          </a:xfrm>
          <a:prstGeom prst="roundRect">
            <a:avLst>
              <a:gd name="adj" fmla="val 18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50800" tIns="0" rIns="50800" bIns="0" rtlCol="0" anchor="ctr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1A1A2E"/>
                </a:solidFill>
                <a:latin typeface="Inter Tight"/>
              </a:rPr>
              <a:t>beach.jpg</a:t>
            </a:r>
          </a:p>
        </p:txBody>
      </p:sp>
      <p:sp>
        <p:nvSpPr>
          <p:cNvPr id="20" name="s"/>
          <p:cNvSpPr/>
          <p:nvPr/>
        </p:nvSpPr>
        <p:spPr>
          <a:xfrm>
            <a:off x="1739900" y="3581400"/>
            <a:ext cx="1244600" cy="330200"/>
          </a:xfrm>
          <a:prstGeom prst="roundRect">
            <a:avLst>
              <a:gd name="adj" fmla="val 18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50800" tIns="0" rIns="50800" bIns="0" rtlCol="0" anchor="ctr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1A1A2E"/>
                </a:solidFill>
                <a:latin typeface="Inter Tight"/>
              </a:rPr>
              <a:t>dog.png</a:t>
            </a:r>
          </a:p>
        </p:txBody>
      </p:sp>
      <p:sp>
        <p:nvSpPr>
          <p:cNvPr id="21" name="s"/>
          <p:cNvSpPr/>
          <p:nvPr/>
        </p:nvSpPr>
        <p:spPr>
          <a:xfrm>
            <a:off x="5029200" y="1397000"/>
            <a:ext cx="3657600" cy="3022600"/>
          </a:xfrm>
          <a:prstGeom prst="roundRect">
            <a:avLst>
              <a:gd name="adj" fmla="val 6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WHY IT'S A TREE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Each folder is a node.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Folders can hold folders — nesting.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Files are leaves — nothing inside.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 b="1">
                <a:solidFill>
                  <a:srgbClr val="1A1A2E"/>
                </a:solidFill>
                <a:latin typeface="Inter Tight"/>
              </a:rPr>
              <a:t>One root holds everything.</a:t>
            </a:r>
          </a:p>
        </p:txBody>
      </p:sp>
    </p:spTree>
    <p:extLst>
      <p:ext uri="{BB962C8B-B14F-4D97-AF65-F5344CB8AC3E}">
        <p14:creationId xmlns:p14="http://schemas.microsoft.com/office/powerpoint/2010/main" val="262228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Trees in Python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A tree is just objects that point to other objects.</a:t>
            </a:r>
          </a:p>
        </p:txBody>
      </p:sp>
      <p:sp>
        <p:nvSpPr>
          <p:cNvPr id="12" name="s"/>
          <p:cNvSpPr/>
          <p:nvPr/>
        </p:nvSpPr>
        <p:spPr>
          <a:xfrm>
            <a:off x="457200" y="1422400"/>
            <a:ext cx="4572000" cy="2540000"/>
          </a:xfrm>
          <a:prstGeom prst="roundRect">
            <a:avLst>
              <a:gd name="adj" fmla="val 6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ctr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300" b="1" spc="-20">
                <a:solidFill>
                  <a:srgbClr val="5B5BD6"/>
                </a:solidFill>
                <a:latin typeface="Consolas"/>
                <a:cs typeface="Consolas"/>
              </a:rPr>
              <a:t>class </a:t>
            </a:r>
            <a:r>
              <a:rPr lang="en-US" sz="1300" b="1" spc="-20">
                <a:solidFill>
                  <a:srgbClr val="242385"/>
                </a:solidFill>
                <a:latin typeface="Consolas"/>
                <a:cs typeface="Consolas"/>
              </a:rPr>
              <a:t>Node:</a:t>
            </a:r>
          </a:p>
          <a:p>
            <a:pPr algn="l">
              <a:lnSpc>
                <a:spcPts val="2000"/>
              </a:lnSpc>
              <a:buNone/>
            </a:pPr>
            <a:r>
              <a:rPr lang="en-US" sz="1300" b="1" spc="-20">
                <a:solidFill>
                  <a:srgbClr val="5B5BD6"/>
                </a:solidFill>
                <a:latin typeface="Consolas"/>
                <a:cs typeface="Consolas"/>
              </a:rPr>
              <a:t>    def </a:t>
            </a:r>
            <a:r>
              <a:rPr lang="en-US" sz="1300" spc="-20">
                <a:solidFill>
                  <a:srgbClr val="242385"/>
                </a:solidFill>
                <a:latin typeface="Consolas"/>
                <a:cs typeface="Consolas"/>
              </a:rPr>
              <a:t>__init__(self, value):</a:t>
            </a:r>
          </a:p>
          <a:p>
            <a:pPr algn="l">
              <a:lnSpc>
                <a:spcPts val="2000"/>
              </a:lnSpc>
              <a:buNone/>
            </a:pPr>
            <a:r>
              <a:rPr lang="en-US" sz="1300" spc="-20">
                <a:solidFill>
                  <a:srgbClr val="1A1A2E"/>
                </a:solidFill>
                <a:latin typeface="Consolas"/>
                <a:cs typeface="Consolas"/>
              </a:rPr>
              <a:t>        self.value = value</a:t>
            </a:r>
          </a:p>
          <a:p>
            <a:pPr algn="l">
              <a:lnSpc>
                <a:spcPts val="2000"/>
              </a:lnSpc>
              <a:buNone/>
            </a:pPr>
            <a:r>
              <a:rPr lang="en-US" sz="1300" spc="-20">
                <a:solidFill>
                  <a:srgbClr val="1A1A2E"/>
                </a:solidFill>
                <a:latin typeface="Consolas"/>
                <a:cs typeface="Consolas"/>
              </a:rPr>
              <a:t>        self.children = []</a:t>
            </a:r>
          </a:p>
        </p:txBody>
      </p:sp>
      <p:sp>
        <p:nvSpPr>
          <p:cNvPr id="13" name="s"/>
          <p:cNvSpPr/>
          <p:nvPr/>
        </p:nvSpPr>
        <p:spPr>
          <a:xfrm>
            <a:off x="5232400" y="1422400"/>
            <a:ext cx="3454400" cy="2540000"/>
          </a:xfrm>
          <a:prstGeom prst="roundRect">
            <a:avLst>
              <a:gd name="adj" fmla="val 6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THE BIG IDEA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Each node is just an object.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value holds the node's data.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children is a list of more Nodes.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 b="1">
                <a:solidFill>
                  <a:srgbClr val="1A1A2E"/>
                </a:solidFill>
                <a:latin typeface="Inter Tight"/>
              </a:rPr>
              <a:t>No special “tree” type needed.</a:t>
            </a:r>
          </a:p>
        </p:txBody>
      </p:sp>
    </p:spTree>
    <p:extLst>
      <p:ext uri="{BB962C8B-B14F-4D97-AF65-F5344CB8AC3E}">
        <p14:creationId xmlns:p14="http://schemas.microsoft.com/office/powerpoint/2010/main" val="1855289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Live demo: build a tree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Let's build a real folder tree together.</a:t>
            </a:r>
          </a:p>
        </p:txBody>
      </p:sp>
      <p:sp>
        <p:nvSpPr>
          <p:cNvPr id="12" name="s"/>
          <p:cNvSpPr/>
          <p:nvPr/>
        </p:nvSpPr>
        <p:spPr>
          <a:xfrm>
            <a:off x="457200" y="1422400"/>
            <a:ext cx="4572000" cy="2540000"/>
          </a:xfrm>
          <a:prstGeom prst="roundRect">
            <a:avLst>
              <a:gd name="adj" fmla="val 6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ctr">
            <a:noAutofit/>
          </a:bodyPr>
          <a:lstStyle/>
          <a:p>
            <a:pPr algn="l">
              <a:lnSpc>
                <a:spcPts val="1900"/>
              </a:lnSpc>
              <a:buNone/>
            </a:pPr>
            <a:r>
              <a:rPr lang="en-US" sz="1250" spc="-20">
                <a:solidFill>
                  <a:srgbClr val="1A1A2E"/>
                </a:solidFill>
                <a:latin typeface="Consolas"/>
                <a:cs typeface="Consolas"/>
              </a:rPr>
              <a:t>documents = Node("Documents")</a:t>
            </a:r>
          </a:p>
          <a:p>
            <a:pPr algn="l">
              <a:lnSpc>
                <a:spcPts val="1900"/>
              </a:lnSpc>
              <a:buNone/>
            </a:pPr>
            <a:r>
              <a:rPr lang="en-US" sz="1250" spc="-20">
                <a:solidFill>
                  <a:srgbClr val="1A1A2E"/>
                </a:solidFill>
                <a:latin typeface="Consolas"/>
                <a:cs typeface="Consolas"/>
              </a:rPr>
              <a:t>photos = Node("Photos")</a:t>
            </a:r>
          </a:p>
          <a:p>
            <a:pPr algn="l">
              <a:lnSpc>
                <a:spcPts val="1900"/>
              </a:lnSpc>
              <a:buNone/>
            </a:pPr>
            <a:r>
              <a:rPr lang="en-US" sz="1250" spc="-20">
                <a:solidFill>
                  <a:srgbClr val="1A1A2E"/>
                </a:solidFill>
                <a:latin typeface="Consolas"/>
                <a:cs typeface="Consolas"/>
              </a:rPr>
              <a:t>school = Node("School")</a:t>
            </a:r>
          </a:p>
          <a:p>
            <a:pPr algn="l">
              <a:lnSpc>
                <a:spcPts val="1900"/>
              </a:lnSpc>
              <a:buNone/>
            </a:pPr>
            <a:r>
              <a:rPr lang="en-US" sz="1250" spc="-20">
                <a:solidFill>
                  <a:srgbClr val="1A1A2E"/>
                </a:solidFill>
                <a:latin typeface="Consolas"/>
                <a:cs typeface="Consolas"/>
              </a:rPr>
              <a:t> </a:t>
            </a:r>
          </a:p>
          <a:p>
            <a:pPr algn="l">
              <a:lnSpc>
                <a:spcPts val="1900"/>
              </a:lnSpc>
              <a:buNone/>
            </a:pPr>
            <a:r>
              <a:rPr lang="en-US" sz="1250" b="1" spc="-20">
                <a:solidFill>
                  <a:srgbClr val="242385"/>
                </a:solidFill>
                <a:latin typeface="Consolas"/>
                <a:cs typeface="Consolas"/>
              </a:rPr>
              <a:t>documents.children = [photos, school]</a:t>
            </a:r>
          </a:p>
        </p:txBody>
      </p:sp>
      <p:sp>
        <p:nvSpPr>
          <p:cNvPr id="13" name="s"/>
          <p:cNvSpPr/>
          <p:nvPr/>
        </p:nvSpPr>
        <p:spPr>
          <a:xfrm>
            <a:off x="5232400" y="1422400"/>
            <a:ext cx="3454400" cy="2540000"/>
          </a:xfrm>
          <a:prstGeom prst="roundRect">
            <a:avLst>
              <a:gd name="adj" fmla="val 6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RESULT</a:t>
            </a:r>
          </a:p>
        </p:txBody>
      </p:sp>
      <p:cxnSp>
        <p:nvCxnSpPr>
          <p:cNvPr id="14" name="ln"/>
          <p:cNvCxnSpPr/>
          <p:nvPr/>
        </p:nvCxnSpPr>
        <p:spPr>
          <a:xfrm flipH="1">
            <a:off x="6350000" y="2260600"/>
            <a:ext cx="609600" cy="5588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5" name="ln"/>
          <p:cNvCxnSpPr/>
          <p:nvPr/>
        </p:nvCxnSpPr>
        <p:spPr>
          <a:xfrm>
            <a:off x="6959600" y="2260600"/>
            <a:ext cx="787400" cy="5588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sp>
        <p:nvSpPr>
          <p:cNvPr id="16" name="s"/>
          <p:cNvSpPr/>
          <p:nvPr/>
        </p:nvSpPr>
        <p:spPr>
          <a:xfrm>
            <a:off x="6146800" y="1866900"/>
            <a:ext cx="1625600" cy="381000"/>
          </a:xfrm>
          <a:prstGeom prst="roundRect">
            <a:avLst>
              <a:gd name="adj" fmla="val 22000"/>
            </a:avLst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250" b="1">
                <a:solidFill>
                  <a:srgbClr val="FFFFFF"/>
                </a:solidFill>
                <a:latin typeface="Inter Tight"/>
              </a:rPr>
              <a:t>Documents</a:t>
            </a:r>
          </a:p>
        </p:txBody>
      </p:sp>
      <p:sp>
        <p:nvSpPr>
          <p:cNvPr id="17" name="s"/>
          <p:cNvSpPr/>
          <p:nvPr/>
        </p:nvSpPr>
        <p:spPr>
          <a:xfrm>
            <a:off x="5740400" y="2844800"/>
            <a:ext cx="1219200" cy="355600"/>
          </a:xfrm>
          <a:prstGeom prst="roundRect">
            <a:avLst>
              <a:gd name="adj" fmla="val 22000"/>
            </a:avLst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250" b="1">
                <a:solidFill>
                  <a:srgbClr val="FFFFFF"/>
                </a:solidFill>
                <a:latin typeface="Inter Tight"/>
              </a:rPr>
              <a:t>Photos</a:t>
            </a:r>
          </a:p>
        </p:txBody>
      </p:sp>
      <p:sp>
        <p:nvSpPr>
          <p:cNvPr id="18" name="s"/>
          <p:cNvSpPr/>
          <p:nvPr/>
        </p:nvSpPr>
        <p:spPr>
          <a:xfrm>
            <a:off x="7162800" y="2844800"/>
            <a:ext cx="1219200" cy="355600"/>
          </a:xfrm>
          <a:prstGeom prst="roundRect">
            <a:avLst>
              <a:gd name="adj" fmla="val 22000"/>
            </a:avLst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250" b="1">
                <a:solidFill>
                  <a:srgbClr val="FFFFFF"/>
                </a:solidFill>
                <a:latin typeface="Inter Tight"/>
              </a:rPr>
              <a:t>School</a:t>
            </a:r>
          </a:p>
        </p:txBody>
      </p:sp>
      <p:sp>
        <p:nvSpPr>
          <p:cNvPr id="19" name="s"/>
          <p:cNvSpPr/>
          <p:nvPr/>
        </p:nvSpPr>
        <p:spPr>
          <a:xfrm>
            <a:off x="457200" y="4089400"/>
            <a:ext cx="8229600" cy="508000"/>
          </a:xfrm>
          <a:prstGeom prst="roundRect">
            <a:avLst>
              <a:gd name="adj" fmla="val 16000"/>
            </a:avLst>
          </a:prstGeom>
          <a:solidFill>
            <a:srgbClr val="EEEEFB"/>
          </a:solidFill>
          <a:ln>
            <a:noFill/>
          </a:ln>
        </p:spPr>
        <p:txBody>
          <a:bodyPr wrap="square" lIns="203200" tIns="177800" rIns="177800" bIns="152400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242385"/>
                </a:solidFill>
                <a:latin typeface="Inter Tight"/>
              </a:rPr>
              <a:t>Type it live — let students suggest the folder names.</a:t>
            </a:r>
          </a:p>
        </p:txBody>
      </p:sp>
    </p:spTree>
    <p:extLst>
      <p:ext uri="{BB962C8B-B14F-4D97-AF65-F5344CB8AC3E}">
        <p14:creationId xmlns:p14="http://schemas.microsoft.com/office/powerpoint/2010/main" val="2679012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Why expressions form trees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Precedence and parentheses are really just tree shape.</a:t>
            </a:r>
          </a:p>
        </p:txBody>
      </p:sp>
      <p:sp>
        <p:nvSpPr>
          <p:cNvPr id="12" name="s"/>
          <p:cNvSpPr txBox="1"/>
          <p:nvPr/>
        </p:nvSpPr>
        <p:spPr>
          <a:xfrm>
            <a:off x="254000" y="14478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ctr">
            <a:noAutofit/>
          </a:bodyPr>
          <a:lstStyle/>
          <a:p>
            <a:pPr algn="ctr">
              <a:buNone/>
            </a:pPr>
            <a:r>
              <a:rPr lang="en-US" sz="1500" b="1" spc="-20">
                <a:solidFill>
                  <a:srgbClr val="242385"/>
                </a:solidFill>
                <a:latin typeface="Consolas"/>
                <a:cs typeface="Consolas"/>
              </a:rPr>
              <a:t>2 + 3 * 4</a:t>
            </a:r>
          </a:p>
        </p:txBody>
      </p:sp>
      <p:cxnSp>
        <p:nvCxnSpPr>
          <p:cNvPr id="13" name="ln"/>
          <p:cNvCxnSpPr/>
          <p:nvPr/>
        </p:nvCxnSpPr>
        <p:spPr>
          <a:xfrm flipH="1">
            <a:off x="1371600" y="2095500"/>
            <a:ext cx="533400" cy="7747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4" name="ln"/>
          <p:cNvCxnSpPr/>
          <p:nvPr/>
        </p:nvCxnSpPr>
        <p:spPr>
          <a:xfrm>
            <a:off x="1905000" y="2095500"/>
            <a:ext cx="762000" cy="7747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5" name="ln"/>
          <p:cNvCxnSpPr/>
          <p:nvPr/>
        </p:nvCxnSpPr>
        <p:spPr>
          <a:xfrm flipH="1">
            <a:off x="2222500" y="3136900"/>
            <a:ext cx="444500" cy="6223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6" name="ln"/>
          <p:cNvCxnSpPr/>
          <p:nvPr/>
        </p:nvCxnSpPr>
        <p:spPr>
          <a:xfrm>
            <a:off x="2667000" y="3136900"/>
            <a:ext cx="444500" cy="6223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sp>
        <p:nvSpPr>
          <p:cNvPr id="17" name="s"/>
          <p:cNvSpPr/>
          <p:nvPr/>
        </p:nvSpPr>
        <p:spPr>
          <a:xfrm>
            <a:off x="1663700" y="18542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+</a:t>
            </a:r>
          </a:p>
        </p:txBody>
      </p:sp>
      <p:sp>
        <p:nvSpPr>
          <p:cNvPr id="18" name="s"/>
          <p:cNvSpPr/>
          <p:nvPr/>
        </p:nvSpPr>
        <p:spPr>
          <a:xfrm>
            <a:off x="1130300" y="26543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2</a:t>
            </a:r>
          </a:p>
        </p:txBody>
      </p:sp>
      <p:sp>
        <p:nvSpPr>
          <p:cNvPr id="19" name="s"/>
          <p:cNvSpPr/>
          <p:nvPr/>
        </p:nvSpPr>
        <p:spPr>
          <a:xfrm>
            <a:off x="2425700" y="26543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×</a:t>
            </a:r>
          </a:p>
        </p:txBody>
      </p:sp>
      <p:sp>
        <p:nvSpPr>
          <p:cNvPr id="20" name="s"/>
          <p:cNvSpPr/>
          <p:nvPr/>
        </p:nvSpPr>
        <p:spPr>
          <a:xfrm>
            <a:off x="1981200" y="35433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3</a:t>
            </a:r>
          </a:p>
        </p:txBody>
      </p:sp>
      <p:sp>
        <p:nvSpPr>
          <p:cNvPr id="21" name="s"/>
          <p:cNvSpPr/>
          <p:nvPr/>
        </p:nvSpPr>
        <p:spPr>
          <a:xfrm>
            <a:off x="2870200" y="35433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4</a:t>
            </a:r>
          </a:p>
        </p:txBody>
      </p:sp>
      <p:sp>
        <p:nvSpPr>
          <p:cNvPr id="22" name="s"/>
          <p:cNvSpPr txBox="1"/>
          <p:nvPr/>
        </p:nvSpPr>
        <p:spPr>
          <a:xfrm>
            <a:off x="4572000" y="14478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ctr">
            <a:noAutofit/>
          </a:bodyPr>
          <a:lstStyle/>
          <a:p>
            <a:pPr algn="ctr">
              <a:buNone/>
            </a:pPr>
            <a:r>
              <a:rPr lang="en-US" sz="1500" b="1" spc="-20">
                <a:solidFill>
                  <a:srgbClr val="242385"/>
                </a:solidFill>
                <a:latin typeface="Consolas"/>
                <a:cs typeface="Consolas"/>
              </a:rPr>
              <a:t>(2 + 3) * 4</a:t>
            </a:r>
          </a:p>
        </p:txBody>
      </p:sp>
      <p:cxnSp>
        <p:nvCxnSpPr>
          <p:cNvPr id="23" name="ln"/>
          <p:cNvCxnSpPr/>
          <p:nvPr/>
        </p:nvCxnSpPr>
        <p:spPr>
          <a:xfrm flipH="1">
            <a:off x="6070600" y="2095500"/>
            <a:ext cx="533400" cy="7747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24" name="ln"/>
          <p:cNvCxnSpPr/>
          <p:nvPr/>
        </p:nvCxnSpPr>
        <p:spPr>
          <a:xfrm>
            <a:off x="6604000" y="2095500"/>
            <a:ext cx="762000" cy="7747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25" name="ln"/>
          <p:cNvCxnSpPr/>
          <p:nvPr/>
        </p:nvCxnSpPr>
        <p:spPr>
          <a:xfrm flipH="1">
            <a:off x="5626100" y="3136900"/>
            <a:ext cx="444500" cy="6223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26" name="ln"/>
          <p:cNvCxnSpPr/>
          <p:nvPr/>
        </p:nvCxnSpPr>
        <p:spPr>
          <a:xfrm>
            <a:off x="6070600" y="3136900"/>
            <a:ext cx="444500" cy="6223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sp>
        <p:nvSpPr>
          <p:cNvPr id="27" name="s"/>
          <p:cNvSpPr/>
          <p:nvPr/>
        </p:nvSpPr>
        <p:spPr>
          <a:xfrm>
            <a:off x="6362700" y="18542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×</a:t>
            </a:r>
          </a:p>
        </p:txBody>
      </p:sp>
      <p:sp>
        <p:nvSpPr>
          <p:cNvPr id="28" name="s"/>
          <p:cNvSpPr/>
          <p:nvPr/>
        </p:nvSpPr>
        <p:spPr>
          <a:xfrm>
            <a:off x="5829300" y="26543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+</a:t>
            </a:r>
          </a:p>
        </p:txBody>
      </p:sp>
      <p:sp>
        <p:nvSpPr>
          <p:cNvPr id="29" name="s"/>
          <p:cNvSpPr/>
          <p:nvPr/>
        </p:nvSpPr>
        <p:spPr>
          <a:xfrm>
            <a:off x="7124700" y="26543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4</a:t>
            </a:r>
          </a:p>
        </p:txBody>
      </p:sp>
      <p:sp>
        <p:nvSpPr>
          <p:cNvPr id="30" name="s"/>
          <p:cNvSpPr/>
          <p:nvPr/>
        </p:nvSpPr>
        <p:spPr>
          <a:xfrm>
            <a:off x="5384800" y="35433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2</a:t>
            </a:r>
          </a:p>
        </p:txBody>
      </p:sp>
      <p:sp>
        <p:nvSpPr>
          <p:cNvPr id="31" name="s"/>
          <p:cNvSpPr/>
          <p:nvPr/>
        </p:nvSpPr>
        <p:spPr>
          <a:xfrm>
            <a:off x="6273800" y="35433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3</a:t>
            </a:r>
          </a:p>
        </p:txBody>
      </p:sp>
      <p:sp>
        <p:nvSpPr>
          <p:cNvPr id="32" name="s"/>
          <p:cNvSpPr/>
          <p:nvPr/>
        </p:nvSpPr>
        <p:spPr>
          <a:xfrm>
            <a:off x="457200" y="4089400"/>
            <a:ext cx="8229600" cy="558800"/>
          </a:xfrm>
          <a:prstGeom prst="roundRect">
            <a:avLst>
              <a:gd name="adj" fmla="val 16000"/>
            </a:avLst>
          </a:prstGeom>
          <a:solidFill>
            <a:srgbClr val="EEEEFB"/>
          </a:solidFill>
          <a:ln>
            <a:noFill/>
          </a:ln>
        </p:spPr>
        <p:txBody>
          <a:bodyPr wrap="square" lIns="203200" tIns="177800" rIns="177800" bIns="15240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Inter Tight"/>
              </a:rPr>
              <a:t>The tree shape is the rule for what happens first.</a:t>
            </a:r>
          </a:p>
        </p:txBody>
      </p:sp>
    </p:spTree>
    <p:extLst>
      <p:ext uri="{BB962C8B-B14F-4D97-AF65-F5344CB8AC3E}">
        <p14:creationId xmlns:p14="http://schemas.microsoft.com/office/powerpoint/2010/main" val="1538544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Expression trees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The shape decides which operation happens last.</a:t>
            </a:r>
          </a:p>
        </p:txBody>
      </p:sp>
      <p:sp>
        <p:nvSpPr>
          <p:cNvPr id="12" name="s"/>
          <p:cNvSpPr txBox="1"/>
          <p:nvPr/>
        </p:nvSpPr>
        <p:spPr>
          <a:xfrm>
            <a:off x="254000" y="14478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ctr">
              <a:buNone/>
            </a:pPr>
            <a:r>
              <a:rPr lang="en-US" sz="1500" b="1" spc="-20">
                <a:solidFill>
                  <a:srgbClr val="242385"/>
                </a:solidFill>
                <a:latin typeface="Consolas"/>
                <a:cs typeface="Consolas"/>
              </a:rPr>
              <a:t>3 + 4 * 2</a:t>
            </a:r>
          </a:p>
        </p:txBody>
      </p:sp>
      <p:cxnSp>
        <p:nvCxnSpPr>
          <p:cNvPr id="13" name="ln"/>
          <p:cNvCxnSpPr/>
          <p:nvPr/>
        </p:nvCxnSpPr>
        <p:spPr>
          <a:xfrm flipH="1">
            <a:off x="1371600" y="2095500"/>
            <a:ext cx="533400" cy="7747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4" name="ln"/>
          <p:cNvCxnSpPr/>
          <p:nvPr/>
        </p:nvCxnSpPr>
        <p:spPr>
          <a:xfrm>
            <a:off x="1905000" y="2095500"/>
            <a:ext cx="762000" cy="7747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5" name="ln"/>
          <p:cNvCxnSpPr/>
          <p:nvPr/>
        </p:nvCxnSpPr>
        <p:spPr>
          <a:xfrm flipH="1">
            <a:off x="2222500" y="3136900"/>
            <a:ext cx="444500" cy="6223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6" name="ln"/>
          <p:cNvCxnSpPr/>
          <p:nvPr/>
        </p:nvCxnSpPr>
        <p:spPr>
          <a:xfrm>
            <a:off x="2667000" y="3136900"/>
            <a:ext cx="444500" cy="6223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sp>
        <p:nvSpPr>
          <p:cNvPr id="17" name="s"/>
          <p:cNvSpPr/>
          <p:nvPr/>
        </p:nvSpPr>
        <p:spPr>
          <a:xfrm>
            <a:off x="1663700" y="18542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+</a:t>
            </a:r>
          </a:p>
        </p:txBody>
      </p:sp>
      <p:sp>
        <p:nvSpPr>
          <p:cNvPr id="18" name="s"/>
          <p:cNvSpPr/>
          <p:nvPr/>
        </p:nvSpPr>
        <p:spPr>
          <a:xfrm>
            <a:off x="1130300" y="26543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3</a:t>
            </a:r>
          </a:p>
        </p:txBody>
      </p:sp>
      <p:sp>
        <p:nvSpPr>
          <p:cNvPr id="19" name="s"/>
          <p:cNvSpPr/>
          <p:nvPr/>
        </p:nvSpPr>
        <p:spPr>
          <a:xfrm>
            <a:off x="2425700" y="26543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×</a:t>
            </a:r>
          </a:p>
        </p:txBody>
      </p:sp>
      <p:sp>
        <p:nvSpPr>
          <p:cNvPr id="20" name="s"/>
          <p:cNvSpPr/>
          <p:nvPr/>
        </p:nvSpPr>
        <p:spPr>
          <a:xfrm>
            <a:off x="1981200" y="35433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4</a:t>
            </a:r>
          </a:p>
        </p:txBody>
      </p:sp>
      <p:sp>
        <p:nvSpPr>
          <p:cNvPr id="21" name="s"/>
          <p:cNvSpPr/>
          <p:nvPr/>
        </p:nvSpPr>
        <p:spPr>
          <a:xfrm>
            <a:off x="2870200" y="35433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2</a:t>
            </a:r>
          </a:p>
        </p:txBody>
      </p:sp>
      <p:sp>
        <p:nvSpPr>
          <p:cNvPr id="22" name="s"/>
          <p:cNvSpPr txBox="1"/>
          <p:nvPr/>
        </p:nvSpPr>
        <p:spPr>
          <a:xfrm>
            <a:off x="4572000" y="14478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ctr">
              <a:buNone/>
            </a:pPr>
            <a:r>
              <a:rPr lang="en-US" sz="1500" b="1" spc="-20">
                <a:solidFill>
                  <a:srgbClr val="242385"/>
                </a:solidFill>
                <a:latin typeface="Consolas"/>
                <a:cs typeface="Consolas"/>
              </a:rPr>
              <a:t>(3 + 4) * 2</a:t>
            </a:r>
          </a:p>
        </p:txBody>
      </p:sp>
      <p:cxnSp>
        <p:nvCxnSpPr>
          <p:cNvPr id="23" name="ln"/>
          <p:cNvCxnSpPr/>
          <p:nvPr/>
        </p:nvCxnSpPr>
        <p:spPr>
          <a:xfrm flipH="1">
            <a:off x="6070600" y="2095500"/>
            <a:ext cx="533400" cy="7747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24" name="ln"/>
          <p:cNvCxnSpPr/>
          <p:nvPr/>
        </p:nvCxnSpPr>
        <p:spPr>
          <a:xfrm>
            <a:off x="6604000" y="2095500"/>
            <a:ext cx="762000" cy="7747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25" name="ln"/>
          <p:cNvCxnSpPr/>
          <p:nvPr/>
        </p:nvCxnSpPr>
        <p:spPr>
          <a:xfrm flipH="1">
            <a:off x="5626100" y="3136900"/>
            <a:ext cx="444500" cy="6223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26" name="ln"/>
          <p:cNvCxnSpPr/>
          <p:nvPr/>
        </p:nvCxnSpPr>
        <p:spPr>
          <a:xfrm>
            <a:off x="6070600" y="3136900"/>
            <a:ext cx="444500" cy="6223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sp>
        <p:nvSpPr>
          <p:cNvPr id="27" name="s"/>
          <p:cNvSpPr/>
          <p:nvPr/>
        </p:nvSpPr>
        <p:spPr>
          <a:xfrm>
            <a:off x="6362700" y="18542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×</a:t>
            </a:r>
          </a:p>
        </p:txBody>
      </p:sp>
      <p:sp>
        <p:nvSpPr>
          <p:cNvPr id="28" name="s"/>
          <p:cNvSpPr/>
          <p:nvPr/>
        </p:nvSpPr>
        <p:spPr>
          <a:xfrm>
            <a:off x="5829300" y="26543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+</a:t>
            </a:r>
          </a:p>
        </p:txBody>
      </p:sp>
      <p:sp>
        <p:nvSpPr>
          <p:cNvPr id="29" name="s"/>
          <p:cNvSpPr/>
          <p:nvPr/>
        </p:nvSpPr>
        <p:spPr>
          <a:xfrm>
            <a:off x="7124700" y="26543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2</a:t>
            </a:r>
          </a:p>
        </p:txBody>
      </p:sp>
      <p:sp>
        <p:nvSpPr>
          <p:cNvPr id="30" name="s"/>
          <p:cNvSpPr/>
          <p:nvPr/>
        </p:nvSpPr>
        <p:spPr>
          <a:xfrm>
            <a:off x="5384800" y="35433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3</a:t>
            </a:r>
          </a:p>
        </p:txBody>
      </p:sp>
      <p:sp>
        <p:nvSpPr>
          <p:cNvPr id="31" name="s"/>
          <p:cNvSpPr/>
          <p:nvPr/>
        </p:nvSpPr>
        <p:spPr>
          <a:xfrm>
            <a:off x="6273800" y="3543300"/>
            <a:ext cx="482600" cy="4826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4</a:t>
            </a:r>
          </a:p>
        </p:txBody>
      </p:sp>
      <p:sp>
        <p:nvSpPr>
          <p:cNvPr id="32" name="s"/>
          <p:cNvSpPr/>
          <p:nvPr/>
        </p:nvSpPr>
        <p:spPr>
          <a:xfrm>
            <a:off x="457200" y="4089400"/>
            <a:ext cx="8229600" cy="558800"/>
          </a:xfrm>
          <a:prstGeom prst="roundRect">
            <a:avLst>
              <a:gd name="adj" fmla="val 16000"/>
            </a:avLst>
          </a:prstGeom>
          <a:solidFill>
            <a:srgbClr val="EEEEFB"/>
          </a:solidFill>
          <a:ln>
            <a:noFill/>
          </a:ln>
        </p:spPr>
        <p:txBody>
          <a:bodyPr wrap="square" lIns="203200" tIns="177800" rIns="177800" bIns="15240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Inter Tight"/>
              </a:rPr>
              <a:t>Whatever sits at the root happens last.</a:t>
            </a:r>
          </a:p>
        </p:txBody>
      </p:sp>
    </p:spTree>
    <p:extLst>
      <p:ext uri="{BB962C8B-B14F-4D97-AF65-F5344CB8AC3E}">
        <p14:creationId xmlns:p14="http://schemas.microsoft.com/office/powerpoint/2010/main" val="2972145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A preview: the AST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The parser turns flat code into a tree we can walk.</a:t>
            </a:r>
          </a:p>
        </p:txBody>
      </p:sp>
      <p:sp>
        <p:nvSpPr>
          <p:cNvPr id="12" name="s"/>
          <p:cNvSpPr txBox="1"/>
          <p:nvPr/>
        </p:nvSpPr>
        <p:spPr>
          <a:xfrm>
            <a:off x="762000" y="1422400"/>
            <a:ext cx="355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ctr">
            <a:noAutofit/>
          </a:bodyPr>
          <a:lstStyle/>
          <a:p>
            <a:pPr algn="ctr">
              <a:buNone/>
            </a:pPr>
            <a:r>
              <a:rPr lang="en-US" sz="1600" b="1" spc="-20">
                <a:solidFill>
                  <a:srgbClr val="242385"/>
                </a:solidFill>
                <a:latin typeface="Consolas"/>
                <a:cs typeface="Consolas"/>
              </a:rPr>
              <a:t>1 + 2 * 3</a:t>
            </a:r>
          </a:p>
        </p:txBody>
      </p:sp>
      <p:cxnSp>
        <p:nvCxnSpPr>
          <p:cNvPr id="13" name="ln"/>
          <p:cNvCxnSpPr/>
          <p:nvPr/>
        </p:nvCxnSpPr>
        <p:spPr>
          <a:xfrm flipH="1">
            <a:off x="1905000" y="2133600"/>
            <a:ext cx="635000" cy="8128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4" name="ln"/>
          <p:cNvCxnSpPr/>
          <p:nvPr/>
        </p:nvCxnSpPr>
        <p:spPr>
          <a:xfrm>
            <a:off x="2540000" y="2133600"/>
            <a:ext cx="762000" cy="8128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5" name="ln"/>
          <p:cNvCxnSpPr/>
          <p:nvPr/>
        </p:nvCxnSpPr>
        <p:spPr>
          <a:xfrm flipH="1">
            <a:off x="2768600" y="3225800"/>
            <a:ext cx="533400" cy="6858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6" name="ln"/>
          <p:cNvCxnSpPr/>
          <p:nvPr/>
        </p:nvCxnSpPr>
        <p:spPr>
          <a:xfrm>
            <a:off x="3302000" y="3225800"/>
            <a:ext cx="533400" cy="6858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sp>
        <p:nvSpPr>
          <p:cNvPr id="17" name="s"/>
          <p:cNvSpPr/>
          <p:nvPr/>
        </p:nvSpPr>
        <p:spPr>
          <a:xfrm>
            <a:off x="2273300" y="1638300"/>
            <a:ext cx="533400" cy="5334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</a:rPr>
              <a:t>+</a:t>
            </a:r>
          </a:p>
        </p:txBody>
      </p:sp>
      <p:sp>
        <p:nvSpPr>
          <p:cNvPr id="18" name="s"/>
          <p:cNvSpPr/>
          <p:nvPr/>
        </p:nvSpPr>
        <p:spPr>
          <a:xfrm>
            <a:off x="1638300" y="2451100"/>
            <a:ext cx="533400" cy="5334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</a:rPr>
              <a:t>1</a:t>
            </a:r>
          </a:p>
        </p:txBody>
      </p:sp>
      <p:sp>
        <p:nvSpPr>
          <p:cNvPr id="19" name="s"/>
          <p:cNvSpPr/>
          <p:nvPr/>
        </p:nvSpPr>
        <p:spPr>
          <a:xfrm>
            <a:off x="3035300" y="2451100"/>
            <a:ext cx="533400" cy="5334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</a:rPr>
              <a:t>×</a:t>
            </a:r>
          </a:p>
        </p:txBody>
      </p:sp>
      <p:sp>
        <p:nvSpPr>
          <p:cNvPr id="20" name="s"/>
          <p:cNvSpPr/>
          <p:nvPr/>
        </p:nvSpPr>
        <p:spPr>
          <a:xfrm>
            <a:off x="2501900" y="3416300"/>
            <a:ext cx="533400" cy="5334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</a:rPr>
              <a:t>2</a:t>
            </a:r>
          </a:p>
        </p:txBody>
      </p:sp>
      <p:sp>
        <p:nvSpPr>
          <p:cNvPr id="21" name="s"/>
          <p:cNvSpPr/>
          <p:nvPr/>
        </p:nvSpPr>
        <p:spPr>
          <a:xfrm>
            <a:off x="3568700" y="3416300"/>
            <a:ext cx="533400" cy="5334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</a:rPr>
              <a:t>3</a:t>
            </a:r>
          </a:p>
        </p:txBody>
      </p:sp>
      <p:sp>
        <p:nvSpPr>
          <p:cNvPr id="22" name="s"/>
          <p:cNvSpPr/>
          <p:nvPr/>
        </p:nvSpPr>
        <p:spPr>
          <a:xfrm>
            <a:off x="5029200" y="1397000"/>
            <a:ext cx="3657600" cy="3022600"/>
          </a:xfrm>
          <a:prstGeom prst="roundRect">
            <a:avLst>
              <a:gd name="adj" fmla="val 6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WHAT'S AN AST?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AST = Abstract Syntax Tree.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The program, drawn as a tree of operations.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× sits below + — structure encodes precedence.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 b="1">
                <a:solidFill>
                  <a:srgbClr val="1A1A2E"/>
                </a:solidFill>
                <a:latin typeface="Inter Tight"/>
              </a:rPr>
              <a:t>The parser builds it for us — for now.</a:t>
            </a:r>
          </a:p>
        </p:txBody>
      </p:sp>
    </p:spTree>
    <p:extLst>
      <p:ext uri="{BB962C8B-B14F-4D97-AF65-F5344CB8AC3E}">
        <p14:creationId xmlns:p14="http://schemas.microsoft.com/office/powerpoint/2010/main" val="1521425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Evaluating a tree by hand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Work bottom-up: children first, then combine.</a:t>
            </a:r>
          </a:p>
        </p:txBody>
      </p:sp>
      <p:cxnSp>
        <p:nvCxnSpPr>
          <p:cNvPr id="12" name="ln"/>
          <p:cNvCxnSpPr/>
          <p:nvPr/>
        </p:nvCxnSpPr>
        <p:spPr>
          <a:xfrm flipH="1">
            <a:off x="1905000" y="2133600"/>
            <a:ext cx="635000" cy="8128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3" name="ln"/>
          <p:cNvCxnSpPr/>
          <p:nvPr/>
        </p:nvCxnSpPr>
        <p:spPr>
          <a:xfrm>
            <a:off x="2540000" y="2133600"/>
            <a:ext cx="762000" cy="8128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4" name="ln"/>
          <p:cNvCxnSpPr/>
          <p:nvPr/>
        </p:nvCxnSpPr>
        <p:spPr>
          <a:xfrm flipH="1">
            <a:off x="2768600" y="3225800"/>
            <a:ext cx="533400" cy="6858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5" name="ln"/>
          <p:cNvCxnSpPr/>
          <p:nvPr/>
        </p:nvCxnSpPr>
        <p:spPr>
          <a:xfrm>
            <a:off x="3302000" y="3225800"/>
            <a:ext cx="533400" cy="6858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sp>
        <p:nvSpPr>
          <p:cNvPr id="16" name="s"/>
          <p:cNvSpPr/>
          <p:nvPr/>
        </p:nvSpPr>
        <p:spPr>
          <a:xfrm>
            <a:off x="2273300" y="1638300"/>
            <a:ext cx="533400" cy="5334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</a:rPr>
              <a:t>+</a:t>
            </a:r>
          </a:p>
        </p:txBody>
      </p:sp>
      <p:sp>
        <p:nvSpPr>
          <p:cNvPr id="17" name="s"/>
          <p:cNvSpPr/>
          <p:nvPr/>
        </p:nvSpPr>
        <p:spPr>
          <a:xfrm>
            <a:off x="1638300" y="2451100"/>
            <a:ext cx="533400" cy="5334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</a:rPr>
              <a:t>3</a:t>
            </a:r>
          </a:p>
        </p:txBody>
      </p:sp>
      <p:sp>
        <p:nvSpPr>
          <p:cNvPr id="18" name="s"/>
          <p:cNvSpPr/>
          <p:nvPr/>
        </p:nvSpPr>
        <p:spPr>
          <a:xfrm>
            <a:off x="3035300" y="2451100"/>
            <a:ext cx="533400" cy="5334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</a:rPr>
              <a:t>×</a:t>
            </a:r>
          </a:p>
        </p:txBody>
      </p:sp>
      <p:sp>
        <p:nvSpPr>
          <p:cNvPr id="19" name="s"/>
          <p:cNvSpPr/>
          <p:nvPr/>
        </p:nvSpPr>
        <p:spPr>
          <a:xfrm>
            <a:off x="2501900" y="3416300"/>
            <a:ext cx="533400" cy="5334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</a:rPr>
              <a:t>4</a:t>
            </a:r>
          </a:p>
        </p:txBody>
      </p:sp>
      <p:sp>
        <p:nvSpPr>
          <p:cNvPr id="20" name="s"/>
          <p:cNvSpPr/>
          <p:nvPr/>
        </p:nvSpPr>
        <p:spPr>
          <a:xfrm>
            <a:off x="3568700" y="3416300"/>
            <a:ext cx="533400" cy="5334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</a:rPr>
              <a:t>2</a:t>
            </a:r>
          </a:p>
        </p:txBody>
      </p:sp>
      <p:sp>
        <p:nvSpPr>
          <p:cNvPr id="21" name="s"/>
          <p:cNvSpPr txBox="1"/>
          <p:nvPr/>
        </p:nvSpPr>
        <p:spPr>
          <a:xfrm>
            <a:off x="3657600" y="2489200"/>
            <a:ext cx="889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2DA36A"/>
                </a:solidFill>
                <a:latin typeface="Inter Tight"/>
              </a:rPr>
              <a:t>= 8</a:t>
            </a:r>
          </a:p>
        </p:txBody>
      </p:sp>
      <p:sp>
        <p:nvSpPr>
          <p:cNvPr id="22" name="s"/>
          <p:cNvSpPr txBox="1"/>
          <p:nvPr/>
        </p:nvSpPr>
        <p:spPr>
          <a:xfrm>
            <a:off x="2895600" y="1676400"/>
            <a:ext cx="889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2DA36A"/>
                </a:solidFill>
                <a:latin typeface="Inter Tight"/>
              </a:rPr>
              <a:t>= 11</a:t>
            </a:r>
          </a:p>
        </p:txBody>
      </p:sp>
      <p:sp>
        <p:nvSpPr>
          <p:cNvPr id="23" name="s"/>
          <p:cNvSpPr/>
          <p:nvPr/>
        </p:nvSpPr>
        <p:spPr>
          <a:xfrm>
            <a:off x="5232400" y="1397000"/>
            <a:ext cx="3454400" cy="3022600"/>
          </a:xfrm>
          <a:prstGeom prst="roundRect">
            <a:avLst>
              <a:gd name="adj" fmla="val 6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THE ORDER</a:t>
            </a:r>
          </a:p>
          <a:p>
            <a:pPr algn="l">
              <a:lnSpc>
                <a:spcPts val="1700"/>
              </a:lnSpc>
              <a:spcBef>
                <a:spcPts val="8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1.  × needs its children: 4 and 2.</a:t>
            </a:r>
          </a:p>
          <a:p>
            <a:pPr algn="l">
              <a:lnSpc>
                <a:spcPts val="1700"/>
              </a:lnSpc>
              <a:spcBef>
                <a:spcPts val="8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2.  4 × 2 = 8.</a:t>
            </a:r>
          </a:p>
          <a:p>
            <a:pPr algn="l">
              <a:lnSpc>
                <a:spcPts val="1700"/>
              </a:lnSpc>
              <a:spcBef>
                <a:spcPts val="8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3.  + needs its children: 3 and 8.</a:t>
            </a:r>
          </a:p>
          <a:p>
            <a:pPr algn="l">
              <a:lnSpc>
                <a:spcPts val="1700"/>
              </a:lnSpc>
              <a:spcBef>
                <a:spcPts val="8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4.  3 + 8 = 11.</a:t>
            </a:r>
          </a:p>
          <a:p>
            <a:pPr algn="l">
              <a:lnSpc>
                <a:spcPts val="1700"/>
              </a:lnSpc>
              <a:spcBef>
                <a:spcPts val="800"/>
              </a:spcBef>
              <a:buNone/>
            </a:pPr>
            <a:r>
              <a:rPr lang="en-US" sz="1300" b="1">
                <a:solidFill>
                  <a:srgbClr val="242385"/>
                </a:solidFill>
                <a:latin typeface="Inter Tight"/>
              </a:rPr>
              <a:t>Answer: 11.</a:t>
            </a:r>
          </a:p>
        </p:txBody>
      </p:sp>
    </p:spTree>
    <p:extLst>
      <p:ext uri="{BB962C8B-B14F-4D97-AF65-F5344CB8AC3E}">
        <p14:creationId xmlns:p14="http://schemas.microsoft.com/office/powerpoint/2010/main" val="2278359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Interpreter thought experiment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Act out  (+ 2 (* 3 4))  as a team.</a:t>
            </a:r>
          </a:p>
        </p:txBody>
      </p:sp>
      <p:sp>
        <p:nvSpPr>
          <p:cNvPr id="12" name="s"/>
          <p:cNvSpPr/>
          <p:nvPr/>
        </p:nvSpPr>
        <p:spPr>
          <a:xfrm>
            <a:off x="457200" y="1422400"/>
            <a:ext cx="3987800" cy="2540000"/>
          </a:xfrm>
          <a:prstGeom prst="roundRect">
            <a:avLst>
              <a:gd name="adj" fmla="val 6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YOUR ROLES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2200" b="1" spc="-20">
                <a:solidFill>
                  <a:srgbClr val="242385"/>
                </a:solidFill>
                <a:latin typeface="Consolas"/>
                <a:cs typeface="Consolas"/>
              </a:rPr>
              <a:t>(+ 2 (* 3 4))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One student per symbol:  +  ×  2  3  4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Numbers say their value. Operators wait for their children.</a:t>
            </a:r>
          </a:p>
        </p:txBody>
      </p:sp>
      <p:sp>
        <p:nvSpPr>
          <p:cNvPr id="13" name="s"/>
          <p:cNvSpPr/>
          <p:nvPr/>
        </p:nvSpPr>
        <p:spPr>
          <a:xfrm>
            <a:off x="4699000" y="1422400"/>
            <a:ext cx="3987800" cy="2540000"/>
          </a:xfrm>
          <a:prstGeom prst="roundRect">
            <a:avLst>
              <a:gd name="adj" fmla="val 6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HOW IT RUNS</a:t>
            </a:r>
          </a:p>
          <a:p>
            <a:pPr algn="l">
              <a:lnSpc>
                <a:spcPts val="1650"/>
              </a:lnSpc>
              <a:spcBef>
                <a:spcPts val="7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1.  × asks 3 and 4 → gets 3, 4</a:t>
            </a:r>
          </a:p>
          <a:p>
            <a:pPr algn="l">
              <a:lnSpc>
                <a:spcPts val="1650"/>
              </a:lnSpc>
              <a:spcBef>
                <a:spcPts val="7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2.  × computes 3 × 4 = 12</a:t>
            </a:r>
          </a:p>
          <a:p>
            <a:pPr algn="l">
              <a:lnSpc>
                <a:spcPts val="1650"/>
              </a:lnSpc>
              <a:spcBef>
                <a:spcPts val="7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3.  + asks 2 and × → gets 2, 12</a:t>
            </a:r>
          </a:p>
          <a:p>
            <a:pPr algn="l">
              <a:lnSpc>
                <a:spcPts val="1650"/>
              </a:lnSpc>
              <a:spcBef>
                <a:spcPts val="7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4.  + computes 2 + 12 = 14</a:t>
            </a:r>
          </a:p>
        </p:txBody>
      </p:sp>
      <p:sp>
        <p:nvSpPr>
          <p:cNvPr id="14" name="s"/>
          <p:cNvSpPr/>
          <p:nvPr/>
        </p:nvSpPr>
        <p:spPr>
          <a:xfrm>
            <a:off x="457200" y="4114800"/>
            <a:ext cx="8229600" cy="508000"/>
          </a:xfrm>
          <a:prstGeom prst="roundRect">
            <a:avLst>
              <a:gd name="adj" fmla="val 16000"/>
            </a:avLst>
          </a:prstGeom>
          <a:solidFill>
            <a:srgbClr val="5B5BD6"/>
          </a:solidFill>
          <a:ln>
            <a:noFill/>
          </a:ln>
        </p:spPr>
        <p:txBody>
          <a:bodyPr wrap="square" lIns="203200" tIns="177800" rIns="177800" bIns="152400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</a:rPr>
              <a:t>No one can answer until their children do — that's recursion, acted out.</a:t>
            </a:r>
          </a:p>
        </p:txBody>
      </p:sp>
    </p:spTree>
    <p:extLst>
      <p:ext uri="{BB962C8B-B14F-4D97-AF65-F5344CB8AC3E}">
        <p14:creationId xmlns:p14="http://schemas.microsoft.com/office/powerpoint/2010/main" val="1082279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Why recursion exists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A big problem, solved by a smaller version of itself.</a:t>
            </a:r>
          </a:p>
        </p:txBody>
      </p:sp>
      <p:sp>
        <p:nvSpPr>
          <p:cNvPr id="12" name="s"/>
          <p:cNvSpPr/>
          <p:nvPr/>
        </p:nvSpPr>
        <p:spPr>
          <a:xfrm>
            <a:off x="457200" y="1422400"/>
            <a:ext cx="4724400" cy="2540000"/>
          </a:xfrm>
          <a:prstGeom prst="roundRect">
            <a:avLst>
              <a:gd name="adj" fmla="val 6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ctr">
            <a:no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en-US" sz="1300" b="1" spc="-20">
                <a:solidFill>
                  <a:srgbClr val="242385"/>
                </a:solidFill>
                <a:latin typeface="Consolas"/>
                <a:cs typeface="Consolas"/>
              </a:rPr>
              <a:t>factorial(5)</a:t>
            </a:r>
          </a:p>
          <a:p>
            <a:pPr algn="l">
              <a:lnSpc>
                <a:spcPts val="1950"/>
              </a:lnSpc>
              <a:buNone/>
            </a:pPr>
            <a:r>
              <a:rPr lang="en-US" sz="1300" spc="-20">
                <a:solidFill>
                  <a:srgbClr val="1A1A2E"/>
                </a:solidFill>
                <a:latin typeface="Consolas"/>
                <a:cs typeface="Consolas"/>
              </a:rPr>
              <a:t>= 5 × factorial(4)</a:t>
            </a:r>
          </a:p>
          <a:p>
            <a:pPr algn="l">
              <a:lnSpc>
                <a:spcPts val="1950"/>
              </a:lnSpc>
              <a:buNone/>
            </a:pPr>
            <a:r>
              <a:rPr lang="en-US" sz="1300" spc="-20">
                <a:solidFill>
                  <a:srgbClr val="1A1A2E"/>
                </a:solidFill>
                <a:latin typeface="Consolas"/>
                <a:cs typeface="Consolas"/>
              </a:rPr>
              <a:t>= 5 × 4 × factorial(3)</a:t>
            </a:r>
          </a:p>
          <a:p>
            <a:pPr algn="l">
              <a:lnSpc>
                <a:spcPts val="1950"/>
              </a:lnSpc>
              <a:buNone/>
            </a:pPr>
            <a:r>
              <a:rPr lang="en-US" sz="1300" spc="-20">
                <a:solidFill>
                  <a:srgbClr val="1A1A2E"/>
                </a:solidFill>
                <a:latin typeface="Consolas"/>
                <a:cs typeface="Consolas"/>
              </a:rPr>
              <a:t>= 5 × 4 × 3 × factorial(2)</a:t>
            </a:r>
          </a:p>
          <a:p>
            <a:pPr algn="l">
              <a:lnSpc>
                <a:spcPts val="1950"/>
              </a:lnSpc>
              <a:buNone/>
            </a:pPr>
            <a:r>
              <a:rPr lang="en-US" sz="1300" spc="-20">
                <a:solidFill>
                  <a:srgbClr val="1A1A2E"/>
                </a:solidFill>
                <a:latin typeface="Consolas"/>
                <a:cs typeface="Consolas"/>
              </a:rPr>
              <a:t>        ⋮</a:t>
            </a:r>
          </a:p>
          <a:p>
            <a:pPr algn="l">
              <a:lnSpc>
                <a:spcPts val="1950"/>
              </a:lnSpc>
              <a:buNone/>
            </a:pPr>
            <a:r>
              <a:rPr lang="en-US" sz="1300" b="1" spc="-20">
                <a:solidFill>
                  <a:srgbClr val="5B5BD6"/>
                </a:solidFill>
                <a:latin typeface="Consolas"/>
                <a:cs typeface="Consolas"/>
              </a:rPr>
              <a:t>factorial(0) = 1   ← stop</a:t>
            </a:r>
          </a:p>
        </p:txBody>
      </p:sp>
      <p:sp>
        <p:nvSpPr>
          <p:cNvPr id="13" name="s"/>
          <p:cNvSpPr/>
          <p:nvPr/>
        </p:nvSpPr>
        <p:spPr>
          <a:xfrm>
            <a:off x="5384800" y="1422400"/>
            <a:ext cx="3302000" cy="2540000"/>
          </a:xfrm>
          <a:prstGeom prst="roundRect">
            <a:avLst>
              <a:gd name="adj" fmla="val 6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THE PATTERN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Big problem → a smaller version of the same problem.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Do one piece now; ask yourself for the rest.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 b="1">
                <a:solidFill>
                  <a:srgbClr val="1A1A2E"/>
                </a:solidFill>
                <a:latin typeface="Inter Tight"/>
              </a:rPr>
              <a:t>A base case ends it: factorial(0) = 1.</a:t>
            </a:r>
          </a:p>
        </p:txBody>
      </p:sp>
      <p:sp>
        <p:nvSpPr>
          <p:cNvPr id="14" name="s"/>
          <p:cNvSpPr/>
          <p:nvPr/>
        </p:nvSpPr>
        <p:spPr>
          <a:xfrm>
            <a:off x="457200" y="4114800"/>
            <a:ext cx="8229600" cy="508000"/>
          </a:xfrm>
          <a:prstGeom prst="roundRect">
            <a:avLst>
              <a:gd name="adj" fmla="val 16000"/>
            </a:avLst>
          </a:prstGeom>
          <a:solidFill>
            <a:srgbClr val="5B5BD6"/>
          </a:solidFill>
          <a:ln>
            <a:noFill/>
          </a:ln>
        </p:spPr>
        <p:txBody>
          <a:bodyPr wrap="square" lIns="203200" tIns="177800" rIns="177800" bIns="15240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Solve the small piece. Trust the recursion for the rest.</a:t>
            </a:r>
          </a:p>
        </p:txBody>
      </p:sp>
    </p:spTree>
    <p:extLst>
      <p:ext uri="{BB962C8B-B14F-4D97-AF65-F5344CB8AC3E}">
        <p14:creationId xmlns:p14="http://schemas.microsoft.com/office/powerpoint/2010/main" val="3342375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Tracing recursion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Run it by hand — the order is the whole point.</a:t>
            </a:r>
          </a:p>
        </p:txBody>
      </p:sp>
      <p:sp>
        <p:nvSpPr>
          <p:cNvPr id="12" name="s"/>
          <p:cNvSpPr/>
          <p:nvPr/>
        </p:nvSpPr>
        <p:spPr>
          <a:xfrm>
            <a:off x="457200" y="1422400"/>
            <a:ext cx="3987800" cy="2895600"/>
          </a:xfrm>
          <a:prstGeom prst="roundRect">
            <a:avLst>
              <a:gd name="adj" fmla="val 6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PRINT BEFORE THE CALL</a:t>
            </a:r>
          </a:p>
          <a:p>
            <a:pPr algn="l">
              <a:lnSpc>
                <a:spcPts val="1850"/>
              </a:lnSpc>
              <a:buNone/>
            </a:pPr>
            <a:r>
              <a:rPr lang="en-US" sz="1250" spc="-20">
                <a:solidFill>
                  <a:srgbClr val="1A1A2E"/>
                </a:solidFill>
                <a:latin typeface="Consolas"/>
                <a:cs typeface="Consolas"/>
              </a:rPr>
              <a:t>def countdown(n):</a:t>
            </a:r>
          </a:p>
          <a:p>
            <a:pPr algn="l">
              <a:lnSpc>
                <a:spcPts val="1850"/>
              </a:lnSpc>
              <a:buNone/>
            </a:pPr>
            <a:r>
              <a:rPr lang="en-US" sz="1250" spc="-20">
                <a:solidFill>
                  <a:srgbClr val="1A1A2E"/>
                </a:solidFill>
                <a:latin typeface="Consolas"/>
                <a:cs typeface="Consolas"/>
              </a:rPr>
              <a:t>    if n == 0: return</a:t>
            </a:r>
          </a:p>
          <a:p>
            <a:pPr algn="l">
              <a:lnSpc>
                <a:spcPts val="1850"/>
              </a:lnSpc>
              <a:buNone/>
            </a:pPr>
            <a:r>
              <a:rPr lang="en-US" sz="1250" b="1" spc="-20">
                <a:solidFill>
                  <a:srgbClr val="242385"/>
                </a:solidFill>
                <a:latin typeface="Consolas"/>
                <a:cs typeface="Consolas"/>
              </a:rPr>
              <a:t>    print(n)</a:t>
            </a:r>
          </a:p>
          <a:p>
            <a:pPr algn="l">
              <a:lnSpc>
                <a:spcPts val="1850"/>
              </a:lnSpc>
              <a:buNone/>
            </a:pPr>
            <a:r>
              <a:rPr lang="en-US" sz="1250" spc="-20">
                <a:solidFill>
                  <a:srgbClr val="1A1A2E"/>
                </a:solidFill>
                <a:latin typeface="Consolas"/>
                <a:cs typeface="Consolas"/>
              </a:rPr>
              <a:t>    countdown(n - 1)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300" b="1">
                <a:solidFill>
                  <a:srgbClr val="2DA36A"/>
                </a:solidFill>
                <a:latin typeface="Inter Tight"/>
              </a:rPr>
              <a:t>countdown(3)  →  3  2  1</a:t>
            </a:r>
          </a:p>
        </p:txBody>
      </p:sp>
      <p:sp>
        <p:nvSpPr>
          <p:cNvPr id="13" name="s"/>
          <p:cNvSpPr/>
          <p:nvPr/>
        </p:nvSpPr>
        <p:spPr>
          <a:xfrm>
            <a:off x="4699000" y="1422400"/>
            <a:ext cx="3987800" cy="2895600"/>
          </a:xfrm>
          <a:prstGeom prst="roundRect">
            <a:avLst>
              <a:gd name="adj" fmla="val 6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PRINT AFTER THE CALL</a:t>
            </a:r>
          </a:p>
          <a:p>
            <a:pPr algn="l">
              <a:lnSpc>
                <a:spcPts val="1850"/>
              </a:lnSpc>
              <a:buNone/>
            </a:pPr>
            <a:r>
              <a:rPr lang="en-US" sz="1250" spc="-20">
                <a:solidFill>
                  <a:srgbClr val="1A1A2E"/>
                </a:solidFill>
                <a:latin typeface="Consolas"/>
                <a:cs typeface="Consolas"/>
              </a:rPr>
              <a:t>def mystery(n):</a:t>
            </a:r>
          </a:p>
          <a:p>
            <a:pPr algn="l">
              <a:lnSpc>
                <a:spcPts val="1850"/>
              </a:lnSpc>
              <a:buNone/>
            </a:pPr>
            <a:r>
              <a:rPr lang="en-US" sz="1250" spc="-20">
                <a:solidFill>
                  <a:srgbClr val="1A1A2E"/>
                </a:solidFill>
                <a:latin typeface="Consolas"/>
                <a:cs typeface="Consolas"/>
              </a:rPr>
              <a:t>    if n == 0: return</a:t>
            </a:r>
          </a:p>
          <a:p>
            <a:pPr algn="l">
              <a:lnSpc>
                <a:spcPts val="1850"/>
              </a:lnSpc>
              <a:buNone/>
            </a:pPr>
            <a:r>
              <a:rPr lang="en-US" sz="1250" spc="-20">
                <a:solidFill>
                  <a:srgbClr val="1A1A2E"/>
                </a:solidFill>
                <a:latin typeface="Consolas"/>
                <a:cs typeface="Consolas"/>
              </a:rPr>
              <a:t>    mystery(n - 1)</a:t>
            </a:r>
          </a:p>
          <a:p>
            <a:pPr algn="l">
              <a:lnSpc>
                <a:spcPts val="1850"/>
              </a:lnSpc>
              <a:buNone/>
            </a:pPr>
            <a:r>
              <a:rPr lang="en-US" sz="1250" b="1" spc="-20">
                <a:solidFill>
                  <a:srgbClr val="242385"/>
                </a:solidFill>
                <a:latin typeface="Consolas"/>
                <a:cs typeface="Consolas"/>
              </a:rPr>
              <a:t>    print(n)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300" b="1">
                <a:solidFill>
                  <a:srgbClr val="2DA36A"/>
                </a:solidFill>
                <a:latin typeface="Inter Tight"/>
              </a:rPr>
              <a:t>mystery(3)  →  1  2  3</a:t>
            </a:r>
          </a:p>
        </p:txBody>
      </p:sp>
      <p:sp>
        <p:nvSpPr>
          <p:cNvPr id="14" name="s"/>
          <p:cNvSpPr txBox="1"/>
          <p:nvPr/>
        </p:nvSpPr>
        <p:spPr>
          <a:xfrm>
            <a:off x="457200" y="4419600"/>
            <a:ext cx="8229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242385"/>
                </a:solidFill>
                <a:latin typeface="Inter Tight"/>
              </a:rPr>
              <a:t>Same numbers, opposite order — where print() sits decides everything.</a:t>
            </a:r>
          </a:p>
        </p:txBody>
      </p:sp>
    </p:spTree>
    <p:extLst>
      <p:ext uri="{BB962C8B-B14F-4D97-AF65-F5344CB8AC3E}">
        <p14:creationId xmlns:p14="http://schemas.microsoft.com/office/powerpoint/2010/main" val="1455073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Recursive tree evaluation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To evaluate a node, you must evaluate its children first.</a:t>
            </a:r>
          </a:p>
        </p:txBody>
      </p:sp>
      <p:cxnSp>
        <p:nvCxnSpPr>
          <p:cNvPr id="12" name="ln"/>
          <p:cNvCxnSpPr/>
          <p:nvPr/>
        </p:nvCxnSpPr>
        <p:spPr>
          <a:xfrm flipH="1">
            <a:off x="1714500" y="2133600"/>
            <a:ext cx="571500" cy="7620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3" name="ln"/>
          <p:cNvCxnSpPr/>
          <p:nvPr/>
        </p:nvCxnSpPr>
        <p:spPr>
          <a:xfrm>
            <a:off x="2286000" y="2133600"/>
            <a:ext cx="952500" cy="7620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4" name="ln"/>
          <p:cNvCxnSpPr/>
          <p:nvPr/>
        </p:nvCxnSpPr>
        <p:spPr>
          <a:xfrm flipH="1">
            <a:off x="2730500" y="3149600"/>
            <a:ext cx="508000" cy="7620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5" name="ln"/>
          <p:cNvCxnSpPr/>
          <p:nvPr/>
        </p:nvCxnSpPr>
        <p:spPr>
          <a:xfrm>
            <a:off x="3238500" y="3149600"/>
            <a:ext cx="571500" cy="7620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sp>
        <p:nvSpPr>
          <p:cNvPr id="16" name="s"/>
          <p:cNvSpPr/>
          <p:nvPr/>
        </p:nvSpPr>
        <p:spPr>
          <a:xfrm>
            <a:off x="2032000" y="1651000"/>
            <a:ext cx="508000" cy="5080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+</a:t>
            </a:r>
          </a:p>
        </p:txBody>
      </p:sp>
      <p:sp>
        <p:nvSpPr>
          <p:cNvPr id="17" name="s"/>
          <p:cNvSpPr/>
          <p:nvPr/>
        </p:nvSpPr>
        <p:spPr>
          <a:xfrm>
            <a:off x="1460500" y="2641600"/>
            <a:ext cx="508000" cy="5080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1</a:t>
            </a:r>
          </a:p>
        </p:txBody>
      </p:sp>
      <p:sp>
        <p:nvSpPr>
          <p:cNvPr id="18" name="s"/>
          <p:cNvSpPr/>
          <p:nvPr/>
        </p:nvSpPr>
        <p:spPr>
          <a:xfrm>
            <a:off x="2984500" y="2641600"/>
            <a:ext cx="508000" cy="5080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×</a:t>
            </a:r>
          </a:p>
        </p:txBody>
      </p:sp>
      <p:sp>
        <p:nvSpPr>
          <p:cNvPr id="19" name="s"/>
          <p:cNvSpPr/>
          <p:nvPr/>
        </p:nvSpPr>
        <p:spPr>
          <a:xfrm>
            <a:off x="2476500" y="3657600"/>
            <a:ext cx="508000" cy="5080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2</a:t>
            </a:r>
          </a:p>
        </p:txBody>
      </p:sp>
      <p:sp>
        <p:nvSpPr>
          <p:cNvPr id="20" name="s"/>
          <p:cNvSpPr/>
          <p:nvPr/>
        </p:nvSpPr>
        <p:spPr>
          <a:xfrm>
            <a:off x="3556000" y="3657600"/>
            <a:ext cx="508000" cy="5080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3</a:t>
            </a:r>
          </a:p>
        </p:txBody>
      </p:sp>
      <p:sp>
        <p:nvSpPr>
          <p:cNvPr id="21" name="s"/>
          <p:cNvSpPr/>
          <p:nvPr/>
        </p:nvSpPr>
        <p:spPr>
          <a:xfrm>
            <a:off x="5232400" y="1397000"/>
            <a:ext cx="3454400" cy="3022600"/>
          </a:xfrm>
          <a:prstGeom prst="roundRect">
            <a:avLst>
              <a:gd name="adj" fmla="val 6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THE RECURSION UNFOLDS</a:t>
            </a:r>
          </a:p>
          <a:p>
            <a:pPr algn="l">
              <a:lnSpc>
                <a:spcPts val="1850"/>
              </a:lnSpc>
              <a:buNone/>
            </a:pPr>
            <a:r>
              <a:rPr lang="en-US" sz="1300" spc="-20">
                <a:solidFill>
                  <a:srgbClr val="1A1A2E"/>
                </a:solidFill>
                <a:latin typeface="Consolas"/>
                <a:cs typeface="Consolas"/>
              </a:rPr>
              <a:t>evaluate(+)</a:t>
            </a:r>
          </a:p>
          <a:p>
            <a:pPr algn="l">
              <a:lnSpc>
                <a:spcPts val="1850"/>
              </a:lnSpc>
              <a:buNone/>
            </a:pPr>
            <a:r>
              <a:rPr lang="en-US" sz="1300" spc="-20">
                <a:solidFill>
                  <a:srgbClr val="1A1A2E"/>
                </a:solidFill>
                <a:latin typeface="Consolas"/>
                <a:cs typeface="Consolas"/>
              </a:rPr>
              <a:t>  ├ evaluate(1) = 1</a:t>
            </a:r>
          </a:p>
          <a:p>
            <a:pPr algn="l">
              <a:lnSpc>
                <a:spcPts val="1850"/>
              </a:lnSpc>
              <a:buNone/>
            </a:pPr>
            <a:r>
              <a:rPr lang="en-US" sz="1300" spc="-20">
                <a:solidFill>
                  <a:srgbClr val="1A1A2E"/>
                </a:solidFill>
                <a:latin typeface="Consolas"/>
                <a:cs typeface="Consolas"/>
              </a:rPr>
              <a:t>  └ evaluate(×)</a:t>
            </a:r>
          </a:p>
          <a:p>
            <a:pPr algn="l">
              <a:lnSpc>
                <a:spcPts val="1850"/>
              </a:lnSpc>
              <a:buNone/>
            </a:pPr>
            <a:r>
              <a:rPr lang="en-US" sz="1300" spc="-20">
                <a:solidFill>
                  <a:srgbClr val="1A1A2E"/>
                </a:solidFill>
                <a:latin typeface="Consolas"/>
                <a:cs typeface="Consolas"/>
              </a:rPr>
              <a:t>      ├ evaluate(2) = 2</a:t>
            </a:r>
          </a:p>
          <a:p>
            <a:pPr algn="l">
              <a:lnSpc>
                <a:spcPts val="1850"/>
              </a:lnSpc>
              <a:buNone/>
            </a:pPr>
            <a:r>
              <a:rPr lang="en-US" sz="1300" spc="-20">
                <a:solidFill>
                  <a:srgbClr val="1A1A2E"/>
                </a:solidFill>
                <a:latin typeface="Consolas"/>
                <a:cs typeface="Consolas"/>
              </a:rPr>
              <a:t>      └ evaluate(3) = 3</a:t>
            </a:r>
          </a:p>
          <a:p>
            <a:pPr algn="l">
              <a:lnSpc>
                <a:spcPts val="1850"/>
              </a:lnSpc>
              <a:buNone/>
            </a:pPr>
            <a:r>
              <a:rPr lang="en-US" sz="1300" spc="-20">
                <a:solidFill>
                  <a:srgbClr val="1A1A2E"/>
                </a:solidFill>
                <a:latin typeface="Consolas"/>
                <a:cs typeface="Consolas"/>
              </a:rPr>
              <a:t>      └ 2 × 3 = 6</a:t>
            </a:r>
          </a:p>
          <a:p>
            <a:pPr algn="l">
              <a:lnSpc>
                <a:spcPts val="1850"/>
              </a:lnSpc>
              <a:buNone/>
            </a:pPr>
            <a:r>
              <a:rPr lang="en-US" sz="1300" b="1" spc="-20">
                <a:solidFill>
                  <a:srgbClr val="2DA36A"/>
                </a:solidFill>
                <a:latin typeface="Consolas"/>
                <a:cs typeface="Consolas"/>
              </a:rPr>
              <a:t>  → 1 + 6 = 7</a:t>
            </a:r>
          </a:p>
        </p:txBody>
      </p:sp>
    </p:spTree>
    <p:extLst>
      <p:ext uri="{BB962C8B-B14F-4D97-AF65-F5344CB8AC3E}">
        <p14:creationId xmlns:p14="http://schemas.microsoft.com/office/powerpoint/2010/main" val="4062514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Live coding: evaluate()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Let's write the evaluator together — don't type it all yourself.</a:t>
            </a:r>
          </a:p>
        </p:txBody>
      </p:sp>
      <p:sp>
        <p:nvSpPr>
          <p:cNvPr id="13" name="s"/>
          <p:cNvSpPr/>
          <p:nvPr/>
        </p:nvSpPr>
        <p:spPr>
          <a:xfrm>
            <a:off x="457200" y="1422400"/>
            <a:ext cx="4953000" cy="2895600"/>
          </a:xfrm>
          <a:prstGeom prst="roundRect">
            <a:avLst>
              <a:gd name="adj" fmla="val 6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ctr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200" b="1" spc="-20">
                <a:solidFill>
                  <a:srgbClr val="5B5BD6"/>
                </a:solidFill>
                <a:latin typeface="Consolas"/>
                <a:cs typeface="Consolas"/>
              </a:rPr>
              <a:t>def </a:t>
            </a:r>
            <a:r>
              <a:rPr lang="en-US" sz="1200" b="1" spc="-20">
                <a:solidFill>
                  <a:srgbClr val="242385"/>
                </a:solidFill>
                <a:latin typeface="Consolas"/>
                <a:cs typeface="Consolas"/>
              </a:rPr>
              <a:t>evaluate(node):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200" spc="-20">
                <a:solidFill>
                  <a:srgbClr val="1A1A2E"/>
                </a:solidFill>
                <a:latin typeface="Consolas"/>
                <a:cs typeface="Consolas"/>
              </a:rPr>
              <a:t>    if node.is_number: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200" spc="-20">
                <a:solidFill>
                  <a:srgbClr val="1A1A2E"/>
                </a:solidFill>
                <a:latin typeface="Consolas"/>
                <a:cs typeface="Consolas"/>
              </a:rPr>
              <a:t>        return node.value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200" spc="-20">
                <a:solidFill>
                  <a:srgbClr val="1A1A2E"/>
                </a:solidFill>
                <a:latin typeface="Consolas"/>
                <a:cs typeface="Consolas"/>
              </a:rPr>
              <a:t>    L = evaluate(node.left)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200" spc="-20">
                <a:solidFill>
                  <a:srgbClr val="1A1A2E"/>
                </a:solidFill>
                <a:latin typeface="Consolas"/>
                <a:cs typeface="Consolas"/>
              </a:rPr>
              <a:t>    R = evaluate(node.right)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200" spc="-20">
                <a:solidFill>
                  <a:srgbClr val="1A1A2E"/>
                </a:solidFill>
                <a:latin typeface="Consolas"/>
                <a:cs typeface="Consolas"/>
              </a:rPr>
              <a:t>    if node.op == "+": return L + R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200" spc="-20">
                <a:solidFill>
                  <a:srgbClr val="1A1A2E"/>
                </a:solidFill>
                <a:latin typeface="Consolas"/>
                <a:cs typeface="Consolas"/>
              </a:rPr>
              <a:t>    if node.op == "*": return L * R</a:t>
            </a:r>
          </a:p>
        </p:txBody>
      </p:sp>
      <p:sp>
        <p:nvSpPr>
          <p:cNvPr id="14" name="s"/>
          <p:cNvSpPr/>
          <p:nvPr/>
        </p:nvSpPr>
        <p:spPr>
          <a:xfrm>
            <a:off x="5613400" y="1422400"/>
            <a:ext cx="3073400" cy="2895600"/>
          </a:xfrm>
          <a:prstGeom prst="roundRect">
            <a:avLst>
              <a:gd name="adj" fmla="val 6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ASK AS YOU GO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What happens for a number?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What about for + ?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What about for * ?</a:t>
            </a:r>
          </a:p>
          <a:p>
            <a:pPr marL="171450" indent="-171450" algn="l">
              <a:lnSpc>
                <a:spcPts val="165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 b="1">
                <a:solidFill>
                  <a:srgbClr val="1A1A2E"/>
                </a:solidFill>
                <a:latin typeface="Inter Tight"/>
              </a:rPr>
              <a:t>Where is the recursion?</a:t>
            </a:r>
          </a:p>
        </p:txBody>
      </p:sp>
    </p:spTree>
    <p:extLst>
      <p:ext uri="{BB962C8B-B14F-4D97-AF65-F5344CB8AC3E}">
        <p14:creationId xmlns:p14="http://schemas.microsoft.com/office/powerpoint/2010/main" val="2788292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The traversal problem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How do you visit every node — in the right order?</a:t>
            </a:r>
          </a:p>
        </p:txBody>
      </p:sp>
      <p:cxnSp>
        <p:nvCxnSpPr>
          <p:cNvPr id="12" name="ln"/>
          <p:cNvCxnSpPr/>
          <p:nvPr/>
        </p:nvCxnSpPr>
        <p:spPr>
          <a:xfrm flipH="1">
            <a:off x="1524000" y="2133600"/>
            <a:ext cx="762000" cy="7620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3" name="ln"/>
          <p:cNvCxnSpPr/>
          <p:nvPr/>
        </p:nvCxnSpPr>
        <p:spPr>
          <a:xfrm>
            <a:off x="2286000" y="2133600"/>
            <a:ext cx="889000" cy="7620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4" name="ln"/>
          <p:cNvCxnSpPr/>
          <p:nvPr/>
        </p:nvCxnSpPr>
        <p:spPr>
          <a:xfrm flipH="1">
            <a:off x="1079500" y="3149600"/>
            <a:ext cx="444500" cy="7112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cxnSp>
        <p:nvCxnSpPr>
          <p:cNvPr id="15" name="ln"/>
          <p:cNvCxnSpPr/>
          <p:nvPr/>
        </p:nvCxnSpPr>
        <p:spPr>
          <a:xfrm>
            <a:off x="1524000" y="3149600"/>
            <a:ext cx="508000" cy="711200"/>
          </a:xfrm>
          <a:prstGeom prst="line">
            <a:avLst/>
          </a:prstGeom>
          <a:ln w="15875">
            <a:solidFill>
              <a:srgbClr val="8B8BE6"/>
            </a:solidFill>
          </a:ln>
        </p:spPr>
      </p:cxnSp>
      <p:sp>
        <p:nvSpPr>
          <p:cNvPr id="16" name="s"/>
          <p:cNvSpPr/>
          <p:nvPr/>
        </p:nvSpPr>
        <p:spPr>
          <a:xfrm>
            <a:off x="2032000" y="1651000"/>
            <a:ext cx="508000" cy="5080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A</a:t>
            </a:r>
          </a:p>
        </p:txBody>
      </p:sp>
      <p:sp>
        <p:nvSpPr>
          <p:cNvPr id="17" name="s"/>
          <p:cNvSpPr/>
          <p:nvPr/>
        </p:nvSpPr>
        <p:spPr>
          <a:xfrm>
            <a:off x="1270000" y="2641600"/>
            <a:ext cx="508000" cy="5080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B</a:t>
            </a:r>
          </a:p>
        </p:txBody>
      </p:sp>
      <p:sp>
        <p:nvSpPr>
          <p:cNvPr id="18" name="s"/>
          <p:cNvSpPr/>
          <p:nvPr/>
        </p:nvSpPr>
        <p:spPr>
          <a:xfrm>
            <a:off x="2921000" y="2641600"/>
            <a:ext cx="508000" cy="5080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C</a:t>
            </a:r>
          </a:p>
        </p:txBody>
      </p:sp>
      <p:sp>
        <p:nvSpPr>
          <p:cNvPr id="19" name="s"/>
          <p:cNvSpPr/>
          <p:nvPr/>
        </p:nvSpPr>
        <p:spPr>
          <a:xfrm>
            <a:off x="825500" y="3556000"/>
            <a:ext cx="508000" cy="5080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D</a:t>
            </a:r>
          </a:p>
        </p:txBody>
      </p:sp>
      <p:sp>
        <p:nvSpPr>
          <p:cNvPr id="20" name="s"/>
          <p:cNvSpPr/>
          <p:nvPr/>
        </p:nvSpPr>
        <p:spPr>
          <a:xfrm>
            <a:off x="1778000" y="3556000"/>
            <a:ext cx="508000" cy="5080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E</a:t>
            </a:r>
          </a:p>
        </p:txBody>
      </p:sp>
      <p:sp>
        <p:nvSpPr>
          <p:cNvPr id="21" name="s"/>
          <p:cNvSpPr/>
          <p:nvPr/>
        </p:nvSpPr>
        <p:spPr>
          <a:xfrm>
            <a:off x="5029200" y="1397000"/>
            <a:ext cx="3657600" cy="3022600"/>
          </a:xfrm>
          <a:prstGeom prst="roundRect">
            <a:avLst>
              <a:gd name="adj" fmla="val 6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THE CHALLENGE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You can't loop 0…n — a tree isn't a line.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A node can have any number of children.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Visit a node, then each of its children…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 b="1">
                <a:solidFill>
                  <a:srgbClr val="1A1A2E"/>
                </a:solidFill>
                <a:latin typeface="Inter Tight"/>
              </a:rPr>
              <a:t>…which sounds like recursion.</a:t>
            </a:r>
          </a:p>
        </p:txBody>
      </p:sp>
    </p:spTree>
    <p:extLst>
      <p:ext uri="{BB962C8B-B14F-4D97-AF65-F5344CB8AC3E}">
        <p14:creationId xmlns:p14="http://schemas.microsoft.com/office/powerpoint/2010/main" val="1820629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Preorder, inorder, postorder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Same tree, three orders — it's about when you visit the parent.</a:t>
            </a:r>
          </a:p>
        </p:txBody>
      </p:sp>
      <p:sp>
        <p:nvSpPr>
          <p:cNvPr id="12" name="s"/>
          <p:cNvSpPr/>
          <p:nvPr/>
        </p:nvSpPr>
        <p:spPr>
          <a:xfrm>
            <a:off x="457200" y="1397000"/>
            <a:ext cx="2590800" cy="2413000"/>
          </a:xfrm>
          <a:prstGeom prst="roundRect">
            <a:avLst>
              <a:gd name="adj" fmla="val 7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203200" rIns="177800" bIns="152400" rtlCol="0" anchor="t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5B5BD6"/>
                </a:solidFill>
                <a:latin typeface="Inter Tight"/>
              </a:rPr>
              <a:t>PREORDER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Node first, then its children.</a:t>
            </a:r>
          </a:p>
          <a:p>
            <a:pPr algn="l">
              <a:spcBef>
                <a:spcPts val="1200"/>
              </a:spcBef>
              <a:buNone/>
            </a:pPr>
            <a:r>
              <a:rPr lang="en-US" sz="1100" b="1">
                <a:solidFill>
                  <a:srgbClr val="8B8BB0"/>
                </a:solidFill>
                <a:latin typeface="Inter Tight"/>
              </a:rPr>
              <a:t>RESULT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600" b="1" spc="-20">
                <a:solidFill>
                  <a:srgbClr val="242385"/>
                </a:solidFill>
                <a:latin typeface="Consolas"/>
                <a:cs typeface="Consolas"/>
              </a:rPr>
              <a:t>+ 1 × 2 3</a:t>
            </a:r>
          </a:p>
        </p:txBody>
      </p:sp>
      <p:sp>
        <p:nvSpPr>
          <p:cNvPr id="13" name="s"/>
          <p:cNvSpPr/>
          <p:nvPr/>
        </p:nvSpPr>
        <p:spPr>
          <a:xfrm>
            <a:off x="3276600" y="1397000"/>
            <a:ext cx="2590800" cy="2413000"/>
          </a:xfrm>
          <a:prstGeom prst="roundRect">
            <a:avLst>
              <a:gd name="adj" fmla="val 7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203200" rIns="177800" bIns="152400" rtlCol="0" anchor="t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5B5BD6"/>
                </a:solidFill>
                <a:latin typeface="Inter Tight"/>
              </a:rPr>
              <a:t>INORDER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Left, node, then right.</a:t>
            </a:r>
          </a:p>
          <a:p>
            <a:pPr algn="l">
              <a:spcBef>
                <a:spcPts val="1200"/>
              </a:spcBef>
              <a:buNone/>
            </a:pPr>
            <a:r>
              <a:rPr lang="en-US" sz="1100" b="1">
                <a:solidFill>
                  <a:srgbClr val="8B8BB0"/>
                </a:solidFill>
                <a:latin typeface="Inter Tight"/>
              </a:rPr>
              <a:t>RESULT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600" b="1" spc="-20">
                <a:solidFill>
                  <a:srgbClr val="242385"/>
                </a:solidFill>
                <a:latin typeface="Consolas"/>
                <a:cs typeface="Consolas"/>
              </a:rPr>
              <a:t>1 + 2 × 3</a:t>
            </a:r>
          </a:p>
        </p:txBody>
      </p:sp>
      <p:sp>
        <p:nvSpPr>
          <p:cNvPr id="14" name="s"/>
          <p:cNvSpPr/>
          <p:nvPr/>
        </p:nvSpPr>
        <p:spPr>
          <a:xfrm>
            <a:off x="6096000" y="1397000"/>
            <a:ext cx="2590800" cy="2413000"/>
          </a:xfrm>
          <a:prstGeom prst="roundRect">
            <a:avLst>
              <a:gd name="adj" fmla="val 7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203200" rIns="177800" bIns="152400" rtlCol="0" anchor="t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5B5BD6"/>
                </a:solidFill>
                <a:latin typeface="Inter Tight"/>
              </a:rPr>
              <a:t>POSTORDER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Children first, then the node.</a:t>
            </a:r>
          </a:p>
          <a:p>
            <a:pPr algn="l">
              <a:spcBef>
                <a:spcPts val="1200"/>
              </a:spcBef>
              <a:buNone/>
            </a:pPr>
            <a:r>
              <a:rPr lang="en-US" sz="1100" b="1">
                <a:solidFill>
                  <a:srgbClr val="8B8BB0"/>
                </a:solidFill>
                <a:latin typeface="Inter Tight"/>
              </a:rPr>
              <a:t>RESULT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600" b="1" spc="-20">
                <a:solidFill>
                  <a:srgbClr val="242385"/>
                </a:solidFill>
                <a:latin typeface="Consolas"/>
                <a:cs typeface="Consolas"/>
              </a:rPr>
              <a:t>1 2 3 × +</a:t>
            </a:r>
          </a:p>
        </p:txBody>
      </p:sp>
      <p:sp>
        <p:nvSpPr>
          <p:cNvPr id="15" name="s"/>
          <p:cNvSpPr/>
          <p:nvPr/>
        </p:nvSpPr>
        <p:spPr>
          <a:xfrm>
            <a:off x="457200" y="4064000"/>
            <a:ext cx="8229600" cy="584200"/>
          </a:xfrm>
          <a:prstGeom prst="roundRect">
            <a:avLst>
              <a:gd name="adj" fmla="val 16000"/>
            </a:avLst>
          </a:prstGeom>
          <a:solidFill>
            <a:srgbClr val="5B5BD6"/>
          </a:solidFill>
          <a:ln>
            <a:noFill/>
          </a:ln>
        </p:spPr>
        <p:txBody>
          <a:bodyPr wrap="square" lIns="203200" tIns="177800" rIns="177800" bIns="152400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Inter Tight"/>
              </a:rPr>
              <a:t>Postorder visits children before the parent — exactly how we evaluate.</a:t>
            </a:r>
          </a:p>
        </p:txBody>
      </p:sp>
    </p:spTree>
    <p:extLst>
      <p:ext uri="{BB962C8B-B14F-4D97-AF65-F5344CB8AC3E}">
        <p14:creationId xmlns:p14="http://schemas.microsoft.com/office/powerpoint/2010/main" val="844064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The evaluator is a postorder walk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Evaluate the children first, then apply the operator.</a:t>
            </a:r>
          </a:p>
        </p:txBody>
      </p:sp>
      <p:sp>
        <p:nvSpPr>
          <p:cNvPr id="12" name="s"/>
          <p:cNvSpPr/>
          <p:nvPr/>
        </p:nvSpPr>
        <p:spPr>
          <a:xfrm>
            <a:off x="457200" y="1397000"/>
            <a:ext cx="4876800" cy="3022600"/>
          </a:xfrm>
          <a:prstGeom prst="roundRect">
            <a:avLst>
              <a:gd name="adj" fmla="val 6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ctr">
            <a:noAutofit/>
          </a:bodyPr>
          <a:lstStyle/>
          <a:p>
            <a:pPr algn="l">
              <a:lnSpc>
                <a:spcPts val="1900"/>
              </a:lnSpc>
              <a:buNone/>
            </a:pPr>
            <a:r>
              <a:rPr lang="en-US" sz="1250" b="1" spc="-20">
                <a:solidFill>
                  <a:srgbClr val="5B5BD6"/>
                </a:solidFill>
                <a:latin typeface="Consolas"/>
                <a:cs typeface="Consolas"/>
              </a:rPr>
              <a:t>def </a:t>
            </a:r>
            <a:r>
              <a:rPr lang="en-US" sz="1250" b="1" spc="-20">
                <a:solidFill>
                  <a:srgbClr val="242385"/>
                </a:solidFill>
                <a:latin typeface="Consolas"/>
                <a:cs typeface="Consolas"/>
              </a:rPr>
              <a:t>evaluate(node):</a:t>
            </a:r>
          </a:p>
          <a:p>
            <a:pPr algn="l">
              <a:lnSpc>
                <a:spcPts val="1900"/>
              </a:lnSpc>
              <a:buNone/>
            </a:pPr>
            <a:r>
              <a:rPr lang="en-US" sz="1250" spc="-20">
                <a:solidFill>
                  <a:srgbClr val="1A1A2E"/>
                </a:solidFill>
                <a:latin typeface="Consolas"/>
                <a:cs typeface="Consolas"/>
              </a:rPr>
              <a:t>    if node.is_number:</a:t>
            </a:r>
          </a:p>
          <a:p>
            <a:pPr algn="l">
              <a:lnSpc>
                <a:spcPts val="1900"/>
              </a:lnSpc>
              <a:buNone/>
            </a:pPr>
            <a:r>
              <a:rPr lang="en-US" sz="1250" spc="-20">
                <a:solidFill>
                  <a:srgbClr val="1A1A2E"/>
                </a:solidFill>
                <a:latin typeface="Consolas"/>
                <a:cs typeface="Consolas"/>
              </a:rPr>
              <a:t>        return node.value</a:t>
            </a:r>
          </a:p>
          <a:p>
            <a:pPr algn="l">
              <a:lnSpc>
                <a:spcPts val="1900"/>
              </a:lnSpc>
              <a:buNone/>
            </a:pPr>
            <a:r>
              <a:rPr lang="en-US" sz="1250" spc="-20">
                <a:solidFill>
                  <a:srgbClr val="1A1A2E"/>
                </a:solidFill>
                <a:latin typeface="Consolas"/>
                <a:cs typeface="Consolas"/>
              </a:rPr>
              <a:t>    L = evaluate(node.left)</a:t>
            </a:r>
          </a:p>
          <a:p>
            <a:pPr algn="l">
              <a:lnSpc>
                <a:spcPts val="1900"/>
              </a:lnSpc>
              <a:buNone/>
            </a:pPr>
            <a:r>
              <a:rPr lang="en-US" sz="1250" spc="-20">
                <a:solidFill>
                  <a:srgbClr val="1A1A2E"/>
                </a:solidFill>
                <a:latin typeface="Consolas"/>
                <a:cs typeface="Consolas"/>
              </a:rPr>
              <a:t>    R = evaluate(node.right)</a:t>
            </a:r>
          </a:p>
          <a:p>
            <a:pPr algn="l">
              <a:lnSpc>
                <a:spcPts val="1900"/>
              </a:lnSpc>
              <a:buNone/>
            </a:pPr>
            <a:r>
              <a:rPr lang="en-US" sz="1250" spc="-20">
                <a:solidFill>
                  <a:srgbClr val="1A1A2E"/>
                </a:solidFill>
                <a:latin typeface="Consolas"/>
                <a:cs typeface="Consolas"/>
              </a:rPr>
              <a:t>    return apply(node.op, L, R)</a:t>
            </a:r>
          </a:p>
        </p:txBody>
      </p:sp>
      <p:sp>
        <p:nvSpPr>
          <p:cNvPr id="13" name="s"/>
          <p:cNvSpPr/>
          <p:nvPr/>
        </p:nvSpPr>
        <p:spPr>
          <a:xfrm>
            <a:off x="5537200" y="1397000"/>
            <a:ext cx="3149600" cy="3022600"/>
          </a:xfrm>
          <a:prstGeom prst="roundRect">
            <a:avLst>
              <a:gd name="adj" fmla="val 6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THAT'S POSTORDER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Go to the left child — evaluate it.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Go to the right child — evaluate it.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Then combine at this node.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 b="1">
                <a:solidFill>
                  <a:srgbClr val="1A1A2E"/>
                </a:solidFill>
                <a:latin typeface="Inter Tight"/>
              </a:rPr>
              <a:t>Children before parent.</a:t>
            </a:r>
          </a:p>
        </p:txBody>
      </p:sp>
    </p:spTree>
    <p:extLst>
      <p:ext uri="{BB962C8B-B14F-4D97-AF65-F5344CB8AC3E}">
        <p14:creationId xmlns:p14="http://schemas.microsoft.com/office/powerpoint/2010/main" val="17078290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Two ways to walk: DFS vs BFS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Go deep first, or go wide first?</a:t>
            </a:r>
          </a:p>
        </p:txBody>
      </p:sp>
      <p:sp>
        <p:nvSpPr>
          <p:cNvPr id="12" name="s"/>
          <p:cNvSpPr/>
          <p:nvPr/>
        </p:nvSpPr>
        <p:spPr>
          <a:xfrm>
            <a:off x="457200" y="1397000"/>
            <a:ext cx="3987800" cy="3022600"/>
          </a:xfrm>
          <a:prstGeom prst="roundRect">
            <a:avLst>
              <a:gd name="adj" fmla="val 6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5B5BD6"/>
                </a:solidFill>
                <a:latin typeface="Inter Tight"/>
              </a:rPr>
              <a:t>DEPTH-FIRST (DFS)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Follow one branch to the bottom, then back up.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Powered by recursion (a stack).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 b="1">
                <a:solidFill>
                  <a:srgbClr val="1A1A2E"/>
                </a:solidFill>
                <a:latin typeface="Inter Tight"/>
              </a:rPr>
              <a:t>This is how we evaluate.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</a:rPr>
              <a:t>Visit order:  A B D E C</a:t>
            </a:r>
          </a:p>
        </p:txBody>
      </p:sp>
      <p:sp>
        <p:nvSpPr>
          <p:cNvPr id="13" name="s"/>
          <p:cNvSpPr/>
          <p:nvPr/>
        </p:nvSpPr>
        <p:spPr>
          <a:xfrm>
            <a:off x="4699000" y="1397000"/>
            <a:ext cx="3987800" cy="3022600"/>
          </a:xfrm>
          <a:prstGeom prst="roundRect">
            <a:avLst>
              <a:gd name="adj" fmla="val 6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5B5BD6"/>
                </a:solidFill>
                <a:latin typeface="Inter Tight"/>
              </a:rPr>
              <a:t>BREADTH-FIRST (BFS)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Visit the tree level by level.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Powered by a queue.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 b="1">
                <a:solidFill>
                  <a:srgbClr val="1A1A2E"/>
                </a:solidFill>
                <a:latin typeface="Inter Tight"/>
              </a:rPr>
              <a:t>Good for “nearest first” problems.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</a:rPr>
              <a:t>Visit order:  A B C D E</a:t>
            </a:r>
          </a:p>
        </p:txBody>
      </p:sp>
    </p:spTree>
    <p:extLst>
      <p:ext uri="{BB962C8B-B14F-4D97-AF65-F5344CB8AC3E}">
        <p14:creationId xmlns:p14="http://schemas.microsoft.com/office/powerpoint/2010/main" val="3123801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Checkpoint challenge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Draw the tree, predict the order, compute the result.</a:t>
            </a:r>
          </a:p>
        </p:txBody>
      </p:sp>
      <p:sp>
        <p:nvSpPr>
          <p:cNvPr id="14" name="s"/>
          <p:cNvSpPr/>
          <p:nvPr/>
        </p:nvSpPr>
        <p:spPr>
          <a:xfrm>
            <a:off x="2762865" y="1346200"/>
            <a:ext cx="2590800" cy="2286000"/>
          </a:xfrm>
          <a:prstGeom prst="roundRect">
            <a:avLst>
              <a:gd name="adj" fmla="val 7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2286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CHALLENGE 3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</a:rPr>
              <a:t>(+ 2 (* 3 (+ 1 1)))</a:t>
            </a:r>
          </a:p>
          <a:p>
            <a:pPr algn="l">
              <a:spcBef>
                <a:spcPts val="1400"/>
              </a:spcBef>
              <a:buNone/>
            </a:pPr>
            <a:r>
              <a:rPr lang="en-US" sz="2000" b="1">
                <a:solidFill>
                  <a:srgbClr val="2DA36A"/>
                </a:solidFill>
                <a:latin typeface="Inter Tight"/>
              </a:rPr>
              <a:t>= 8</a:t>
            </a:r>
          </a:p>
        </p:txBody>
      </p:sp>
      <p:sp>
        <p:nvSpPr>
          <p:cNvPr id="15" name="s"/>
          <p:cNvSpPr/>
          <p:nvPr/>
        </p:nvSpPr>
        <p:spPr>
          <a:xfrm>
            <a:off x="457200" y="3937000"/>
            <a:ext cx="8229600" cy="584200"/>
          </a:xfrm>
          <a:prstGeom prst="roundRect">
            <a:avLst>
              <a:gd name="adj" fmla="val 16000"/>
            </a:avLst>
          </a:prstGeom>
          <a:solidFill>
            <a:srgbClr val="EEEEFB"/>
          </a:solidFill>
          <a:ln>
            <a:noFill/>
          </a:ln>
        </p:spPr>
        <p:txBody>
          <a:bodyPr wrap="square" lIns="203200" tIns="177800" rIns="177800" bIns="152400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242385"/>
                </a:solidFill>
                <a:latin typeface="Inter Tight"/>
              </a:rPr>
              <a:t>For each: draw the tree → predict the order → compute the result.</a:t>
            </a:r>
          </a:p>
        </p:txBody>
      </p:sp>
    </p:spTree>
    <p:extLst>
      <p:ext uri="{BB962C8B-B14F-4D97-AF65-F5344CB8AC3E}">
        <p14:creationId xmlns:p14="http://schemas.microsoft.com/office/powerpoint/2010/main" val="3450762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What we built today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From flat text to a working evaluator.</a:t>
            </a:r>
          </a:p>
        </p:txBody>
      </p:sp>
      <p:sp>
        <p:nvSpPr>
          <p:cNvPr id="12" name="s"/>
          <p:cNvSpPr/>
          <p:nvPr/>
        </p:nvSpPr>
        <p:spPr>
          <a:xfrm>
            <a:off x="457200" y="1397000"/>
            <a:ext cx="3987800" cy="3022600"/>
          </a:xfrm>
          <a:prstGeom prst="roundRect">
            <a:avLst>
              <a:gd name="adj" fmla="val 6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ctr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TODAY'S CHAIN</a:t>
            </a:r>
          </a:p>
          <a:p>
            <a:pPr algn="ctr">
              <a:spcBef>
                <a:spcPts val="600"/>
              </a:spcBef>
              <a:buNone/>
            </a:pPr>
            <a:r>
              <a:rPr lang="en-US" sz="1400" b="1">
                <a:solidFill>
                  <a:srgbClr val="242385"/>
                </a:solidFill>
                <a:latin typeface="Inter Tight"/>
              </a:rPr>
              <a:t>Programs have structure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400" b="1">
                <a:solidFill>
                  <a:srgbClr val="242385"/>
                </a:solidFill>
                <a:latin typeface="Inter Tight"/>
              </a:rPr>
              <a:t>Trees represent it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</a:rPr>
              <a:t>↓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400" b="1">
                <a:solidFill>
                  <a:srgbClr val="242385"/>
                </a:solidFill>
                <a:latin typeface="Inter Tight"/>
              </a:rPr>
              <a:t>Recursion walks the tree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</a:rPr>
              <a:t>↓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400" b="1">
                <a:solidFill>
                  <a:srgbClr val="242385"/>
                </a:solidFill>
                <a:latin typeface="Inter Tight"/>
              </a:rPr>
              <a:t>The evaluator computes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</a:rPr>
              <a:t>↓</a:t>
            </a:r>
          </a:p>
        </p:txBody>
      </p:sp>
      <p:sp>
        <p:nvSpPr>
          <p:cNvPr id="13" name="s"/>
          <p:cNvSpPr/>
          <p:nvPr/>
        </p:nvSpPr>
        <p:spPr>
          <a:xfrm>
            <a:off x="4699000" y="1397000"/>
            <a:ext cx="3987800" cy="3022600"/>
          </a:xfrm>
          <a:prstGeom prst="roundRect">
            <a:avLst>
              <a:gd name="adj" fmla="val 6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YOU CAN NOW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Read code that walks any tree.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Trace a recursive call by hand.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Explain why programs are trees.</a:t>
            </a:r>
          </a:p>
          <a:p>
            <a:pPr marL="171450" indent="-171450" algn="l">
              <a:lnSpc>
                <a:spcPts val="1700"/>
              </a:lnSpc>
              <a:spcBef>
                <a:spcPts val="800"/>
              </a:spcBef>
              <a:buFont typeface="Arial"/>
              <a:buChar char="•"/>
            </a:pPr>
            <a:r>
              <a:rPr lang="en-US" sz="1300" b="1">
                <a:solidFill>
                  <a:srgbClr val="1A1A2E"/>
                </a:solidFill>
                <a:latin typeface="Inter Tight"/>
              </a:rPr>
              <a:t>Evaluate an expression tree.</a:t>
            </a:r>
          </a:p>
        </p:txBody>
      </p:sp>
    </p:spTree>
    <p:extLst>
      <p:ext uri="{BB962C8B-B14F-4D97-AF65-F5344CB8AC3E}">
        <p14:creationId xmlns:p14="http://schemas.microsoft.com/office/powerpoint/2010/main" val="34116835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Homework &amp; next week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Cement today — and a peek at where we go next.</a:t>
            </a:r>
          </a:p>
        </p:txBody>
      </p:sp>
      <p:sp>
        <p:nvSpPr>
          <p:cNvPr id="12" name="s"/>
          <p:cNvSpPr/>
          <p:nvPr/>
        </p:nvSpPr>
        <p:spPr>
          <a:xfrm>
            <a:off x="457200" y="1397000"/>
            <a:ext cx="3987800" cy="3022600"/>
          </a:xfrm>
          <a:prstGeom prst="roundRect">
            <a:avLst>
              <a:gd name="adj" fmla="val 6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5B5BD6"/>
                </a:solidFill>
                <a:latin typeface="Inter Tight"/>
              </a:rPr>
              <a:t>HOMEWORK</a:t>
            </a:r>
          </a:p>
          <a:p>
            <a:pPr marL="171450" indent="-171450" algn="l">
              <a:lnSpc>
                <a:spcPts val="1700"/>
              </a:lnSpc>
              <a:spcBef>
                <a:spcPts val="9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Add −, /, and ** (power) to evaluate().</a:t>
            </a:r>
          </a:p>
          <a:p>
            <a:pPr marL="171450" indent="-171450" algn="l">
              <a:lnSpc>
                <a:spcPts val="1700"/>
              </a:lnSpc>
              <a:spcBef>
                <a:spcPts val="9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Build a Node tree by hand, then evaluate it.</a:t>
            </a:r>
          </a:p>
          <a:p>
            <a:pPr marL="171450" indent="-171450" algn="l">
              <a:lnSpc>
                <a:spcPts val="1700"/>
              </a:lnSpc>
              <a:spcBef>
                <a:spcPts val="900"/>
              </a:spcBef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Finish the workshop notebook.</a:t>
            </a:r>
          </a:p>
        </p:txBody>
      </p:sp>
      <p:sp>
        <p:nvSpPr>
          <p:cNvPr id="13" name="s"/>
          <p:cNvSpPr/>
          <p:nvPr/>
        </p:nvSpPr>
        <p:spPr>
          <a:xfrm>
            <a:off x="4699000" y="1397000"/>
            <a:ext cx="3987800" cy="30226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</a:rPr>
              <a:t>NEXT WEEK</a:t>
            </a:r>
          </a:p>
          <a:p>
            <a:pPr marL="171450" indent="-171450" algn="l">
              <a:lnSpc>
                <a:spcPts val="1700"/>
              </a:lnSpc>
              <a:spcBef>
                <a:spcPts val="900"/>
              </a:spcBef>
              <a:buFont typeface="Arial"/>
              <a:buChar char="•"/>
            </a:pPr>
            <a:r>
              <a:rPr lang="en-US" sz="1300">
                <a:solidFill>
                  <a:srgbClr val="FFFFFF"/>
                </a:solidFill>
                <a:latin typeface="Inter Tight"/>
              </a:rPr>
              <a:t>We build the parser: text → tree, automatically.</a:t>
            </a:r>
          </a:p>
          <a:p>
            <a:pPr marL="171450" indent="-171450" algn="l">
              <a:lnSpc>
                <a:spcPts val="1700"/>
              </a:lnSpc>
              <a:spcBef>
                <a:spcPts val="900"/>
              </a:spcBef>
              <a:buFont typeface="Arial"/>
              <a:buChar char="•"/>
            </a:pPr>
            <a:r>
              <a:rPr lang="en-US" sz="1300">
                <a:solidFill>
                  <a:srgbClr val="FFFFFF"/>
                </a:solidFill>
                <a:latin typeface="Inter Tight"/>
              </a:rPr>
              <a:t>No more hand-built Node objects.</a:t>
            </a:r>
          </a:p>
          <a:p>
            <a:pPr marL="171450" indent="-171450" algn="l">
              <a:lnSpc>
                <a:spcPts val="1700"/>
              </a:lnSpc>
              <a:spcBef>
                <a:spcPts val="900"/>
              </a:spcBef>
              <a:buFont typeface="Arial"/>
              <a:buChar char="•"/>
            </a:pPr>
            <a:r>
              <a:rPr lang="en-US" sz="1300">
                <a:solidFill>
                  <a:srgbClr val="FFFFFF"/>
                </a:solidFill>
                <a:latin typeface="Inter Tight"/>
              </a:rPr>
              <a:t>Your evaluator finally meets real code.</a:t>
            </a:r>
          </a:p>
        </p:txBody>
      </p:sp>
    </p:spTree>
    <p:extLst>
      <p:ext uri="{BB962C8B-B14F-4D97-AF65-F5344CB8AC3E}">
        <p14:creationId xmlns:p14="http://schemas.microsoft.com/office/powerpoint/2010/main" val="1220083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Real languages do this too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Every language turns text into a tree before running it.</a:t>
            </a:r>
          </a:p>
        </p:txBody>
      </p:sp>
      <p:sp>
        <p:nvSpPr>
          <p:cNvPr id="12" name="s"/>
          <p:cNvSpPr/>
          <p:nvPr/>
        </p:nvSpPr>
        <p:spPr>
          <a:xfrm>
            <a:off x="457200" y="1397000"/>
            <a:ext cx="3987800" cy="2286000"/>
          </a:xfrm>
          <a:prstGeom prst="roundRect">
            <a:avLst>
              <a:gd name="adj" fmla="val 6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ARITHMETIC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2000" b="1">
                <a:solidFill>
                  <a:srgbClr val="242385"/>
                </a:solidFill>
                <a:latin typeface="Consolas"/>
              </a:rPr>
              <a:t>1 + 2 * 3</a:t>
            </a:r>
          </a:p>
          <a:p>
            <a:pPr algn="l">
              <a:spcBef>
                <a:spcPts val="1200"/>
              </a:spcBef>
              <a:buNone/>
            </a:pPr>
            <a:r>
              <a:rPr lang="en-US" sz="1300" b="1">
                <a:solidFill>
                  <a:srgbClr val="5B5BD6"/>
                </a:solidFill>
                <a:latin typeface="Inter Tight"/>
              </a:rPr>
              <a:t>→ an expression tree</a:t>
            </a:r>
          </a:p>
        </p:txBody>
      </p:sp>
      <p:sp>
        <p:nvSpPr>
          <p:cNvPr id="13" name="s"/>
          <p:cNvSpPr/>
          <p:nvPr/>
        </p:nvSpPr>
        <p:spPr>
          <a:xfrm>
            <a:off x="4699000" y="1397000"/>
            <a:ext cx="3987800" cy="2286000"/>
          </a:xfrm>
          <a:prstGeom prst="roundRect">
            <a:avLst>
              <a:gd name="adj" fmla="val 6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5BD6"/>
                </a:solidFill>
                <a:latin typeface="Inter Tight"/>
              </a:rPr>
              <a:t>SQL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1500" b="1" dirty="0">
                <a:solidFill>
                  <a:srgbClr val="242385"/>
                </a:solidFill>
                <a:latin typeface="Consolas"/>
              </a:rPr>
              <a:t>SELECT * FROM users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500" b="1" dirty="0">
                <a:solidFill>
                  <a:srgbClr val="242385"/>
                </a:solidFill>
                <a:latin typeface="Consolas"/>
              </a:rPr>
              <a:t>WHERE age &gt; 18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5B5BD6"/>
                </a:solidFill>
                <a:latin typeface="Inter Tight"/>
              </a:rPr>
              <a:t>→ a query tree</a:t>
            </a:r>
          </a:p>
        </p:txBody>
      </p:sp>
      <p:sp>
        <p:nvSpPr>
          <p:cNvPr id="14" name="s"/>
          <p:cNvSpPr/>
          <p:nvPr/>
        </p:nvSpPr>
        <p:spPr>
          <a:xfrm>
            <a:off x="457200" y="3835400"/>
            <a:ext cx="8229600" cy="762000"/>
          </a:xfrm>
          <a:prstGeom prst="roundRect">
            <a:avLst>
              <a:gd name="adj" fmla="val 14000"/>
            </a:avLst>
          </a:prstGeom>
          <a:solidFill>
            <a:srgbClr val="5B5BD6"/>
          </a:solidFill>
          <a:ln>
            <a:noFill/>
          </a:ln>
        </p:spPr>
        <p:txBody>
          <a:bodyPr wrap="square" lIns="203200" tIns="177800" rIns="177800" bIns="152400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</a:rPr>
              <a:t>Python, JavaScript, SQL — all parse to a tree, then walk it.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300">
                <a:solidFill>
                  <a:srgbClr val="FFFFFF"/>
                </a:solidFill>
                <a:latin typeface="Inter Tight"/>
              </a:rPr>
              <a:t>You just built a tiny version of the real thing.</a:t>
            </a:r>
          </a:p>
        </p:txBody>
      </p:sp>
    </p:spTree>
    <p:extLst>
      <p:ext uri="{BB962C8B-B14F-4D97-AF65-F5344CB8AC3E}">
        <p14:creationId xmlns:p14="http://schemas.microsoft.com/office/powerpoint/2010/main" val="1854328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1A6C9E6-1EEA-D147-B842-3A2839827936}"/>
              </a:ext>
            </a:extLst>
          </p:cNvPr>
          <p:cNvSpPr txBox="1"/>
          <p:nvPr/>
        </p:nvSpPr>
        <p:spPr>
          <a:xfrm>
            <a:off x="457200" y="381000"/>
            <a:ext cx="8890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AST of a SQL query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08CBEB-8A66-E748-B511-FE7E9C61E475}"/>
              </a:ext>
            </a:extLst>
          </p:cNvPr>
          <p:cNvSpPr txBox="1"/>
          <p:nvPr/>
        </p:nvSpPr>
        <p:spPr>
          <a:xfrm>
            <a:off x="457200" y="9906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1A1A2E"/>
                </a:solidFill>
                <a:latin typeface="Consolas"/>
                <a:cs typeface="Consolas"/>
              </a:rPr>
              <a:t>SELECT * FROM users WHERE age &gt; 18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9E5E8E-1C2A-D04A-B927-73C96268A852}"/>
              </a:ext>
            </a:extLst>
          </p:cNvPr>
          <p:cNvSpPr/>
          <p:nvPr/>
        </p:nvSpPr>
        <p:spPr>
          <a:xfrm>
            <a:off x="6083300" y="2413000"/>
            <a:ext cx="25400" cy="2286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F70BE9-5892-5247-987A-A1A822DEAA63}"/>
              </a:ext>
            </a:extLst>
          </p:cNvPr>
          <p:cNvSpPr/>
          <p:nvPr/>
        </p:nvSpPr>
        <p:spPr>
          <a:xfrm>
            <a:off x="2540000" y="2628900"/>
            <a:ext cx="7112000" cy="254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9D75F3-4D1D-E644-8F72-938785345D20}"/>
              </a:ext>
            </a:extLst>
          </p:cNvPr>
          <p:cNvSpPr/>
          <p:nvPr/>
        </p:nvSpPr>
        <p:spPr>
          <a:xfrm>
            <a:off x="2527300" y="2641600"/>
            <a:ext cx="25400" cy="4699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5A450F-1292-B147-8D5D-B0AE49D926F8}"/>
              </a:ext>
            </a:extLst>
          </p:cNvPr>
          <p:cNvSpPr/>
          <p:nvPr/>
        </p:nvSpPr>
        <p:spPr>
          <a:xfrm>
            <a:off x="6083300" y="2641600"/>
            <a:ext cx="25400" cy="4699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597130-846B-114E-858B-541B157024EC}"/>
              </a:ext>
            </a:extLst>
          </p:cNvPr>
          <p:cNvSpPr/>
          <p:nvPr/>
        </p:nvSpPr>
        <p:spPr>
          <a:xfrm>
            <a:off x="9639300" y="2641600"/>
            <a:ext cx="25400" cy="4699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2D312B-64B0-B540-A8BB-A403B82E23CE}"/>
              </a:ext>
            </a:extLst>
          </p:cNvPr>
          <p:cNvSpPr/>
          <p:nvPr/>
        </p:nvSpPr>
        <p:spPr>
          <a:xfrm>
            <a:off x="2527300" y="3670300"/>
            <a:ext cx="25400" cy="7112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DFEF52-95E8-DE4B-9A3A-191A6E12437F}"/>
              </a:ext>
            </a:extLst>
          </p:cNvPr>
          <p:cNvSpPr/>
          <p:nvPr/>
        </p:nvSpPr>
        <p:spPr>
          <a:xfrm>
            <a:off x="6083300" y="3670300"/>
            <a:ext cx="25400" cy="7112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F1D6D8-342D-C04B-ACC8-42F976F017EF}"/>
              </a:ext>
            </a:extLst>
          </p:cNvPr>
          <p:cNvSpPr/>
          <p:nvPr/>
        </p:nvSpPr>
        <p:spPr>
          <a:xfrm>
            <a:off x="9639300" y="3670300"/>
            <a:ext cx="25400" cy="7112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64392C-E5AC-C344-A06A-AE5D1820B7DB}"/>
              </a:ext>
            </a:extLst>
          </p:cNvPr>
          <p:cNvSpPr/>
          <p:nvPr/>
        </p:nvSpPr>
        <p:spPr>
          <a:xfrm>
            <a:off x="9639300" y="4914900"/>
            <a:ext cx="25400" cy="2286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26EC47-093A-5C4B-BF19-1D7B722B3A12}"/>
              </a:ext>
            </a:extLst>
          </p:cNvPr>
          <p:cNvSpPr/>
          <p:nvPr/>
        </p:nvSpPr>
        <p:spPr>
          <a:xfrm>
            <a:off x="8763000" y="5130800"/>
            <a:ext cx="1778000" cy="254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E57545-7C37-3440-956D-82076CC1E13D}"/>
              </a:ext>
            </a:extLst>
          </p:cNvPr>
          <p:cNvSpPr/>
          <p:nvPr/>
        </p:nvSpPr>
        <p:spPr>
          <a:xfrm>
            <a:off x="8750300" y="5143500"/>
            <a:ext cx="25400" cy="4445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841CDC-191F-D440-B797-28956980700F}"/>
              </a:ext>
            </a:extLst>
          </p:cNvPr>
          <p:cNvSpPr/>
          <p:nvPr/>
        </p:nvSpPr>
        <p:spPr>
          <a:xfrm>
            <a:off x="10528300" y="5143500"/>
            <a:ext cx="25400" cy="4445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5D1FA60-E28E-BD4F-9790-6575058119CA}"/>
              </a:ext>
            </a:extLst>
          </p:cNvPr>
          <p:cNvSpPr/>
          <p:nvPr/>
        </p:nvSpPr>
        <p:spPr>
          <a:xfrm>
            <a:off x="5207000" y="1778000"/>
            <a:ext cx="1778000" cy="6350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8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Select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E901903-59F8-C240-8C77-B9EFC1C80191}"/>
              </a:ext>
            </a:extLst>
          </p:cNvPr>
          <p:cNvSpPr/>
          <p:nvPr/>
        </p:nvSpPr>
        <p:spPr>
          <a:xfrm>
            <a:off x="1714500" y="3111500"/>
            <a:ext cx="1651000" cy="558800"/>
          </a:xfrm>
          <a:prstGeom prst="roundRect">
            <a:avLst/>
          </a:prstGeom>
          <a:solidFill>
            <a:srgbClr val="E8E8F8"/>
          </a:solidFill>
          <a:ln w="15875" cap="flat" cmpd="sng" algn="ctr">
            <a:solidFill>
              <a:srgbClr val="5B5B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columns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18A6C05-08B7-4A4A-B0F3-F2D04579246F}"/>
              </a:ext>
            </a:extLst>
          </p:cNvPr>
          <p:cNvSpPr/>
          <p:nvPr/>
        </p:nvSpPr>
        <p:spPr>
          <a:xfrm>
            <a:off x="5270500" y="3111500"/>
            <a:ext cx="1651000" cy="558800"/>
          </a:xfrm>
          <a:prstGeom prst="roundRect">
            <a:avLst/>
          </a:prstGeom>
          <a:solidFill>
            <a:srgbClr val="E8E8F8"/>
          </a:solidFill>
          <a:ln w="15875" cap="flat" cmpd="sng" algn="ctr">
            <a:solidFill>
              <a:srgbClr val="5B5B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from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23C0C9F-F20C-5D41-A799-292F82670CC9}"/>
              </a:ext>
            </a:extLst>
          </p:cNvPr>
          <p:cNvSpPr/>
          <p:nvPr/>
        </p:nvSpPr>
        <p:spPr>
          <a:xfrm>
            <a:off x="8826500" y="3111500"/>
            <a:ext cx="1651000" cy="558800"/>
          </a:xfrm>
          <a:prstGeom prst="roundRect">
            <a:avLst/>
          </a:prstGeom>
          <a:solidFill>
            <a:srgbClr val="E8E8F8"/>
          </a:solidFill>
          <a:ln w="15875" cap="flat" cmpd="sng" algn="ctr">
            <a:solidFill>
              <a:srgbClr val="5B5B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where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7F15B52-E09C-9F40-91C6-FC456EB0B0C7}"/>
              </a:ext>
            </a:extLst>
          </p:cNvPr>
          <p:cNvSpPr/>
          <p:nvPr/>
        </p:nvSpPr>
        <p:spPr>
          <a:xfrm>
            <a:off x="1841500" y="4381500"/>
            <a:ext cx="1397000" cy="533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5B5B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242385"/>
                </a:solidFill>
                <a:latin typeface="Consolas"/>
                <a:cs typeface="Consolas"/>
              </a:rPr>
              <a:t>*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DBB4BD1-644D-3144-AC44-C92D95CA9FF7}"/>
              </a:ext>
            </a:extLst>
          </p:cNvPr>
          <p:cNvSpPr/>
          <p:nvPr/>
        </p:nvSpPr>
        <p:spPr>
          <a:xfrm>
            <a:off x="5397500" y="4381500"/>
            <a:ext cx="1397000" cy="533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5B5B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242385"/>
                </a:solidFill>
                <a:latin typeface="Consolas"/>
                <a:cs typeface="Consolas"/>
              </a:rPr>
              <a:t>users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77A88F6-A081-6E41-B612-56DCF9245415}"/>
              </a:ext>
            </a:extLst>
          </p:cNvPr>
          <p:cNvSpPr/>
          <p:nvPr/>
        </p:nvSpPr>
        <p:spPr>
          <a:xfrm>
            <a:off x="8953500" y="4381500"/>
            <a:ext cx="1397000" cy="533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5B5B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242385"/>
                </a:solidFill>
                <a:latin typeface="Consolas"/>
                <a:cs typeface="Consolas"/>
              </a:rPr>
              <a:t>&gt;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DF782CB-AA4C-2E4B-B1EF-82CEE0EE887B}"/>
              </a:ext>
            </a:extLst>
          </p:cNvPr>
          <p:cNvSpPr/>
          <p:nvPr/>
        </p:nvSpPr>
        <p:spPr>
          <a:xfrm>
            <a:off x="8255000" y="5588000"/>
            <a:ext cx="1016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5B5B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242385"/>
                </a:solidFill>
                <a:latin typeface="Consolas"/>
                <a:cs typeface="Consolas"/>
              </a:rPr>
              <a:t>age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BDE6AD2-439A-1442-B787-186D50FAF9FD}"/>
              </a:ext>
            </a:extLst>
          </p:cNvPr>
          <p:cNvSpPr/>
          <p:nvPr/>
        </p:nvSpPr>
        <p:spPr>
          <a:xfrm>
            <a:off x="10033000" y="5588000"/>
            <a:ext cx="1016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5B5B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242385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482F3CE-160E-8047-9A04-ABE1543F1106}"/>
              </a:ext>
            </a:extLst>
          </p:cNvPr>
          <p:cNvSpPr/>
          <p:nvPr/>
        </p:nvSpPr>
        <p:spPr>
          <a:xfrm>
            <a:off x="457200" y="6350000"/>
            <a:ext cx="11277600" cy="4064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Same shape, different language — the tree is what the engine actually runs.</a:t>
            </a:r>
          </a:p>
        </p:txBody>
      </p:sp>
    </p:spTree>
    <p:extLst>
      <p:ext uri="{BB962C8B-B14F-4D97-AF65-F5344CB8AC3E}">
        <p14:creationId xmlns:p14="http://schemas.microsoft.com/office/powerpoint/2010/main" val="158210186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B5C163-F951-A24C-83A2-907570B7BA75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52ae08fb-fe0a-4569-b77a-71b2ca46432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3FF15707724F49A972C13B33FAAA8B" ma:contentTypeVersion="38" ma:contentTypeDescription="Create a new document." ma:contentTypeScope="" ma:versionID="851fe35329e603af911194bdcd4ec314">
  <xsd:schema xmlns:xsd="http://www.w3.org/2001/XMLSchema" xmlns:xs="http://www.w3.org/2001/XMLSchema" xmlns:p="http://schemas.microsoft.com/office/2006/metadata/properties" xmlns:ns2="a1200294-7566-47bd-bcc6-0c4e5d371f43" xmlns:ns3="babfc5af-ba08-4223-8118-2e61d2979772" targetNamespace="http://schemas.microsoft.com/office/2006/metadata/properties" ma:root="true" ma:fieldsID="0d41bec471a18ca9aab9c386c55630d7" ns2:_="" ns3:_="">
    <xsd:import namespace="a1200294-7566-47bd-bcc6-0c4e5d371f43"/>
    <xsd:import namespace="babfc5af-ba08-4223-8118-2e61d2979772"/>
    <xsd:element name="properties">
      <xsd:complexType>
        <xsd:sequence>
          <xsd:element name="documentManagement">
            <xsd:complexType>
              <xsd:all>
                <xsd:element ref="ns2:Employee" minOccurs="0"/>
                <xsd:element ref="ns2:PostingDate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SessionNo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00294-7566-47bd-bcc6-0c4e5d371f43" elementFormDefault="qualified">
    <xsd:import namespace="http://schemas.microsoft.com/office/2006/documentManagement/types"/>
    <xsd:import namespace="http://schemas.microsoft.com/office/infopath/2007/PartnerControls"/>
    <xsd:element name="Employee" ma:index="1" nillable="true" ma:displayName="Employee" ma:list="UserInfo" ma:SharePointGroup="0" ma:internalName="Employe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ostingDate" ma:index="2" nillable="true" ma:displayName="Posting Date" ma:format="DateOnly" ma:internalName="PostingDate" ma:readOnly="false">
      <xsd:simpleType>
        <xsd:restriction base="dms:DateTime"/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hidden="true" ma:internalName="MediaServiceKeyPoints" ma:readOnly="true">
      <xsd:simpleType>
        <xsd:restriction base="dms:Note"/>
      </xsd:simpleType>
    </xsd:element>
    <xsd:element name="MediaServiceAutoTags" ma:index="14" nillable="true" ma:displayName="Tags" ma:hidden="true" ma:internalName="MediaServiceAutoTags" ma:readOnly="true">
      <xsd:simpleType>
        <xsd:restriction base="dms:Text"/>
      </xsd:simple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c01bbee-216c-4cdf-bb0c-f637e50b3b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SessionNo" ma:index="27" nillable="true" ma:displayName="Order" ma:decimals="0" ma:default="1" ma:format="Dropdown" ma:internalName="SessionNo" ma:percentage="FALSE">
      <xsd:simpleType>
        <xsd:restriction base="dms:Number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fc5af-ba08-4223-8118-2e61d29797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2" nillable="true" ma:displayName="Taxonomy Catch All Column" ma:hidden="true" ma:list="{30907219-2b16-4918-aa31-a6d15e45b1a4}" ma:internalName="TaxCatchAll" ma:readOnly="false" ma:showField="CatchAllData" ma:web="babfc5af-ba08-4223-8118-2e61d29797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abfc5af-ba08-4223-8118-2e61d2979772" xsi:nil="true"/>
    <lcf76f155ced4ddcb4097134ff3c332f xmlns="a1200294-7566-47bd-bcc6-0c4e5d371f43">
      <Terms xmlns="http://schemas.microsoft.com/office/infopath/2007/PartnerControls"/>
    </lcf76f155ced4ddcb4097134ff3c332f>
    <SessionNo xmlns="a1200294-7566-47bd-bcc6-0c4e5d371f43">1</SessionNo>
    <PostingDate xmlns="a1200294-7566-47bd-bcc6-0c4e5d371f43" xsi:nil="true"/>
    <Employee xmlns="a1200294-7566-47bd-bcc6-0c4e5d371f43">
      <UserInfo>
        <DisplayName/>
        <AccountId xsi:nil="true"/>
        <AccountType/>
      </UserInfo>
    </Employee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7A362D-1894-48CE-8E97-55D3A9BA4B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00294-7566-47bd-bcc6-0c4e5d371f43"/>
    <ds:schemaRef ds:uri="babfc5af-ba08-4223-8118-2e61d29797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6C38A34-1C09-44AF-A4CC-A67B6F751BAC}">
  <ds:schemaRefs>
    <ds:schemaRef ds:uri="a1200294-7566-47bd-bcc6-0c4e5d371f43"/>
    <ds:schemaRef ds:uri="babfc5af-ba08-4223-8118-2e61d2979772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C21C174-D453-4914-8411-DE970D7B27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47496</TotalTime>
  <Words>1737</Words>
  <Application>Microsoft Macintosh PowerPoint</Application>
  <PresentationFormat>On-screen Show (16:9)</PresentationFormat>
  <Paragraphs>324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Inter Tight</vt:lpstr>
      <vt:lpstr>Helvetica Neue</vt:lpstr>
      <vt:lpstr>Consolas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Yuwei (Vivi) Ye</cp:lastModifiedBy>
  <cp:revision>31</cp:revision>
  <cp:lastPrinted>2026-06-11T01:41:40Z</cp:lastPrinted>
  <dcterms:modified xsi:type="dcterms:W3CDTF">2026-06-17T23:43:32Z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0x010100AF3FF15707724F49A972C13B33FAAA8B</vt:lpwstr>
  </property>
  <property fmtid="{D5CDD505-2E9C-101B-9397-08002B2CF9AE}" pid="3" name="MediaServiceImageTags">
    <vt:lpwstr/>
  </property>
</Properties>
</file>